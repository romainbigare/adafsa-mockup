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 — Overview
The first page. It shows how many farms there are, how much land they cover, and where they are. Open a module on the left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Crops and area
Shows what is planted on every farm and how much land each crop takes. The map gives each farm the colour of its main crop. (Module 1: crop location, crop type, cultivated area.)
The screenshot shows 48%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Seasonal change
Shows what changed since the last season. Four tabs: farms that started a crop, stopped a crop, planted more, or planted less. (Module 1: seasonal change report.)
The screenshot shows 57%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C3 — Fallow land
Shows land that can be farmed but has nothing growing on it now. The last number is the one to act on — farms that plant less than before. (Module 1: fallow land detection.)
The screenshot shows 56%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 — Trees and species
Counts the trees on every farm: date palms, fruit trees and forest trees. It also gives the species and the varieties. (Module 2: tree location, tree count, species and variety.)
The screenshot shows 40%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 — Tree health
Gives every farm a health score for its trees, read from the satellite. The score is for the whole farm, not for one tree. Palms and fruit trees are scored apart. (Module 2: canopy health index.)
The screenshot shows 49%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 — Annual change
Shows how many trees were planted and how many were removed since last year. Numbers, not a map — the table names the farms. (Module 2: annual change detection.)
The screenshot shows 59%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L1 — Land use
Shows how the land is used on every farm: fields, palms, other trees, greenhouses, buildings and empty land. Zoom in and the map draws the real shape of each piece of land.
The screenshot shows 45%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L2 — Structures
Shows what is built on the farms: houses, labour housing, sheds, water tanks, animal pens, roads and pump rooms. It gives the type of each one. (Module 3: structure detection.)
The screenshot shows 38%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L3 — Change tracking
Shows buildings that are new and buildings that are gone. It needs two quarters of data before it can show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 Scores
Gives every farm a score from 0 to 100 for how well it waters its crops. Each score gets a band: Excellent, Good, Acceptable, Poor or Critical. (Module 4: IER score and band.)
The screenshot shows 55%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I2 — Trend by quarter
Shows whether the scores are getting better or worse over time. A line and hard numbers, and no map on purpose. (Module 4: quarter-on-quarter trend.)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Monthly demand
Shows how much water each farm should use this month and how much it really used. Farms using far more than they need are flagged. (Module 6: monthly water demand and over-allocation flag.)
The screenshot shows 54%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Season budget
Shows how much water a crop needs for a whole season, and how much food it gives back for that water. Useful when deciding what to grow. (Module 6: seasonal water budget.)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Y1 — Yield forecast
Shows how much each crop should produce, the average for each dunum, and how many farms are below that average. (Module 5: seasonal yield estimate.)
The screenshot shows 36%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Y2 — Crop calendar
Shows when each crop is in the ground, month by month. Every farm plants at its own time, so the curve rises and falls.
The screenshot shows 50%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Farm register
The list of every farm. Search by farm number or owner, sort on any column, and open one farm. Every result in the contract is given per farm.
The screenshot shows 58%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Farm profile
One farm on one page: where it is, what it grows, its trees, its water score, its water use and its buildings. All six modules meet here.
The screenshot shows 47% of this screen; the rest is in the smaller shot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Corrective actions
Says what is wrong on this farm and what to do about it. Each problem is written as an action, not as a number to work out. Print the page and take it to the farm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 — Support
Where to ask for help, and a note on what is real data and what is made up in this mockup. One page — in the old platform, more than half the menu was support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adafsa-mockup/.deck-work/brand.png">    </p:cNvPr>
          <p:cNvPicPr>
            <a:picLocks noChangeAspect="1"/>
          </p:cNvPicPr>
          <p:nvPr/>
        </p:nvPicPr>
        <p:blipFill>
          <a:blip r:embed="rId1"/>
          <a:stretch>
            <a:fillRect/>
          </a:stretch>
        </p:blipFill>
        <p:spPr>
          <a:xfrm>
            <a:off x="566928" y="960120"/>
            <a:ext cx="2337924" cy="841248"/>
          </a:xfrm>
          <a:prstGeom prst="rect">
            <a:avLst/>
          </a:prstGeom>
        </p:spPr>
      </p:pic>
      <p:sp>
        <p:nvSpPr>
          <p:cNvPr id="3" name="Text 0"/>
          <p:cNvSpPr/>
          <p:nvPr/>
        </p:nvSpPr>
        <p:spPr>
          <a:xfrm>
            <a:off x="566928" y="2487168"/>
            <a:ext cx="9555480" cy="868680"/>
          </a:xfrm>
          <a:prstGeom prst="rect">
            <a:avLst/>
          </a:prstGeom>
          <a:noFill/>
          <a:ln/>
        </p:spPr>
        <p:txBody>
          <a:bodyPr wrap="square" lIns="0" tIns="0" rIns="0" bIns="0" rtlCol="0" anchor="t"/>
          <a:lstStyle/>
          <a:p>
            <a:pPr indent="0" marL="0">
              <a:buNone/>
            </a:pPr>
            <a:r>
              <a:rPr lang="en-US" sz="4000" b="1" dirty="0">
                <a:solidFill>
                  <a:srgbClr val="111827"/>
                </a:solidFill>
                <a:latin typeface="Calibri" pitchFamily="34" charset="0"/>
                <a:ea typeface="Calibri" pitchFamily="34" charset="-122"/>
                <a:cs typeface="Calibri" pitchFamily="34" charset="-120"/>
              </a:rPr>
              <a:t>The platform, screen by screen</a:t>
            </a:r>
            <a:endParaRPr lang="en-US" sz="4000" dirty="0"/>
          </a:p>
        </p:txBody>
      </p:sp>
      <p:sp>
        <p:nvSpPr>
          <p:cNvPr id="4" name="Text 1"/>
          <p:cNvSpPr/>
          <p:nvPr/>
        </p:nvSpPr>
        <p:spPr>
          <a:xfrm>
            <a:off x="5669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20</a:t>
            </a:r>
            <a:endParaRPr lang="en-US" sz="5000" dirty="0"/>
          </a:p>
        </p:txBody>
      </p:sp>
      <p:sp>
        <p:nvSpPr>
          <p:cNvPr id="5" name="Text 2"/>
          <p:cNvSpPr/>
          <p:nvPr/>
        </p:nvSpPr>
        <p:spPr>
          <a:xfrm>
            <a:off x="5669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SCREENS</a:t>
            </a:r>
            <a:endParaRPr lang="en-US" sz="1100" dirty="0"/>
          </a:p>
        </p:txBody>
      </p:sp>
      <p:sp>
        <p:nvSpPr>
          <p:cNvPr id="6" name="Text 3"/>
          <p:cNvSpPr/>
          <p:nvPr/>
        </p:nvSpPr>
        <p:spPr>
          <a:xfrm>
            <a:off x="30815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9</a:t>
            </a:r>
            <a:endParaRPr lang="en-US" sz="5000" dirty="0"/>
          </a:p>
        </p:txBody>
      </p:sp>
      <p:sp>
        <p:nvSpPr>
          <p:cNvPr id="7" name="Text 4"/>
          <p:cNvSpPr/>
          <p:nvPr/>
        </p:nvSpPr>
        <p:spPr>
          <a:xfrm>
            <a:off x="30815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SECTIONS</a:t>
            </a:r>
            <a:endParaRPr lang="en-US" sz="1100" dirty="0"/>
          </a:p>
        </p:txBody>
      </p:sp>
      <p:sp>
        <p:nvSpPr>
          <p:cNvPr id="8" name="Text 5"/>
          <p:cNvSpPr/>
          <p:nvPr/>
        </p:nvSpPr>
        <p:spPr>
          <a:xfrm>
            <a:off x="5596128" y="4041648"/>
            <a:ext cx="2377440" cy="822960"/>
          </a:xfrm>
          <a:prstGeom prst="rect">
            <a:avLst/>
          </a:prstGeom>
          <a:noFill/>
          <a:ln/>
        </p:spPr>
        <p:txBody>
          <a:bodyPr wrap="square" lIns="0" tIns="0" rIns="0" bIns="0" rtlCol="0" anchor="ctr"/>
          <a:lstStyle/>
          <a:p>
            <a:pPr indent="0" marL="0">
              <a:buNone/>
            </a:pPr>
            <a:r>
              <a:rPr lang="en-US" sz="5000" b="1" dirty="0">
                <a:solidFill>
                  <a:srgbClr val="111827"/>
                </a:solidFill>
                <a:latin typeface="Calibri" pitchFamily="34" charset="0"/>
                <a:ea typeface="Calibri" pitchFamily="34" charset="-122"/>
                <a:cs typeface="Calibri" pitchFamily="34" charset="-120"/>
              </a:rPr>
              <a:t>31</a:t>
            </a:r>
            <a:endParaRPr lang="en-US" sz="5000" dirty="0"/>
          </a:p>
        </p:txBody>
      </p:sp>
      <p:sp>
        <p:nvSpPr>
          <p:cNvPr id="9" name="Text 6"/>
          <p:cNvSpPr/>
          <p:nvPr/>
        </p:nvSpPr>
        <p:spPr>
          <a:xfrm>
            <a:off x="5596128" y="4837176"/>
            <a:ext cx="2377440" cy="292608"/>
          </a:xfrm>
          <a:prstGeom prst="rect">
            <a:avLst/>
          </a:prstGeom>
          <a:noFill/>
          <a:ln/>
        </p:spPr>
        <p:txBody>
          <a:bodyPr wrap="square" lIns="0" tIns="0" rIns="0" bIns="0" rtlCol="0" anchor="ctr"/>
          <a:lstStyle/>
          <a:p>
            <a:pPr indent="0" marL="0">
              <a:buNone/>
            </a:pPr>
            <a:r>
              <a:rPr lang="en-US" sz="1100" b="1" spc="160" kern="0" dirty="0">
                <a:solidFill>
                  <a:srgbClr val="15803D"/>
                </a:solidFill>
                <a:latin typeface="Calibri" pitchFamily="34" charset="0"/>
                <a:ea typeface="Calibri" pitchFamily="34" charset="-122"/>
                <a:cs typeface="Calibri" pitchFamily="34" charset="-120"/>
              </a:rPr>
              <a:t>PAGES</a:t>
            </a:r>
            <a:endParaRPr lang="en-US" sz="1100" dirty="0"/>
          </a:p>
        </p:txBody>
      </p:sp>
      <p:pic>
        <p:nvPicPr>
          <p:cNvPr id="10" name="Image 1" descr="/home/user/adafsa-mockup/assets/brand/wafra-logo.png">    </p:cNvPr>
          <p:cNvPicPr>
            <a:picLocks noChangeAspect="1"/>
          </p:cNvPicPr>
          <p:nvPr/>
        </p:nvPicPr>
        <p:blipFill>
          <a:blip r:embed="rId2"/>
          <a:stretch>
            <a:fillRect/>
          </a:stretch>
        </p:blipFill>
        <p:spPr>
          <a:xfrm>
            <a:off x="8522208" y="6144768"/>
            <a:ext cx="1600200" cy="511602"/>
          </a:xfrm>
          <a:prstGeom prst="rect">
            <a:avLst/>
          </a:prstGeom>
        </p:spPr>
      </p:pic>
      <p:sp>
        <p:nvSpPr>
          <p:cNvPr id="11" name="Text 7"/>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2" name="Text 8"/>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566928"/>
            <a:ext cx="54864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Contents</a:t>
            </a:r>
            <a:endParaRPr lang="en-US" sz="2400" dirty="0"/>
          </a:p>
        </p:txBody>
      </p:sp>
      <p:sp>
        <p:nvSpPr>
          <p:cNvPr id="3" name="Text 1"/>
          <p:cNvSpPr/>
          <p:nvPr/>
        </p:nvSpPr>
        <p:spPr>
          <a:xfrm>
            <a:off x="56692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OVERVIEW</a:t>
            </a:r>
            <a:endParaRPr lang="en-US" sz="800" dirty="0"/>
          </a:p>
        </p:txBody>
      </p:sp>
      <p:sp>
        <p:nvSpPr>
          <p:cNvPr id="4" name="Text 2"/>
          <p:cNvSpPr/>
          <p:nvPr/>
        </p:nvSpPr>
        <p:spPr>
          <a:xfrm>
            <a:off x="56692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OV</a:t>
            </a:r>
            <a:endParaRPr lang="en-US" sz="850" dirty="0"/>
          </a:p>
        </p:txBody>
      </p:sp>
      <p:sp>
        <p:nvSpPr>
          <p:cNvPr id="5" name="Text 3"/>
          <p:cNvSpPr/>
          <p:nvPr/>
        </p:nvSpPr>
        <p:spPr>
          <a:xfrm>
            <a:off x="96926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Overview</a:t>
            </a:r>
            <a:endParaRPr lang="en-US" sz="850" dirty="0"/>
          </a:p>
        </p:txBody>
      </p:sp>
      <p:sp>
        <p:nvSpPr>
          <p:cNvPr id="6" name="Text 4"/>
          <p:cNvSpPr/>
          <p:nvPr/>
        </p:nvSpPr>
        <p:spPr>
          <a:xfrm>
            <a:off x="311200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4</a:t>
            </a:r>
            <a:endParaRPr lang="en-US" sz="850" dirty="0"/>
          </a:p>
        </p:txBody>
      </p:sp>
      <p:sp>
        <p:nvSpPr>
          <p:cNvPr id="7" name="Text 5"/>
          <p:cNvSpPr/>
          <p:nvPr/>
        </p:nvSpPr>
        <p:spPr>
          <a:xfrm>
            <a:off x="566928" y="174650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MONITORING</a:t>
            </a:r>
            <a:endParaRPr lang="en-US" sz="800" dirty="0"/>
          </a:p>
        </p:txBody>
      </p:sp>
      <p:sp>
        <p:nvSpPr>
          <p:cNvPr id="8" name="Text 6"/>
          <p:cNvSpPr/>
          <p:nvPr/>
        </p:nvSpPr>
        <p:spPr>
          <a:xfrm>
            <a:off x="56692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C1</a:t>
            </a:r>
            <a:endParaRPr lang="en-US" sz="850" dirty="0"/>
          </a:p>
        </p:txBody>
      </p:sp>
      <p:sp>
        <p:nvSpPr>
          <p:cNvPr id="9" name="Text 7"/>
          <p:cNvSpPr/>
          <p:nvPr/>
        </p:nvSpPr>
        <p:spPr>
          <a:xfrm>
            <a:off x="96926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Crops and area</a:t>
            </a:r>
            <a:endParaRPr lang="en-US" sz="850" dirty="0"/>
          </a:p>
        </p:txBody>
      </p:sp>
      <p:sp>
        <p:nvSpPr>
          <p:cNvPr id="10" name="Text 8"/>
          <p:cNvSpPr/>
          <p:nvPr/>
        </p:nvSpPr>
        <p:spPr>
          <a:xfrm>
            <a:off x="311200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6</a:t>
            </a:r>
            <a:endParaRPr lang="en-US" sz="850" dirty="0"/>
          </a:p>
        </p:txBody>
      </p:sp>
      <p:sp>
        <p:nvSpPr>
          <p:cNvPr id="11" name="Text 9"/>
          <p:cNvSpPr/>
          <p:nvPr/>
        </p:nvSpPr>
        <p:spPr>
          <a:xfrm>
            <a:off x="56692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C2</a:t>
            </a:r>
            <a:endParaRPr lang="en-US" sz="850" dirty="0"/>
          </a:p>
        </p:txBody>
      </p:sp>
      <p:sp>
        <p:nvSpPr>
          <p:cNvPr id="12" name="Text 10"/>
          <p:cNvSpPr/>
          <p:nvPr/>
        </p:nvSpPr>
        <p:spPr>
          <a:xfrm>
            <a:off x="96926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Seasonal change</a:t>
            </a:r>
            <a:endParaRPr lang="en-US" sz="850" dirty="0"/>
          </a:p>
        </p:txBody>
      </p:sp>
      <p:sp>
        <p:nvSpPr>
          <p:cNvPr id="13" name="Text 11"/>
          <p:cNvSpPr/>
          <p:nvPr/>
        </p:nvSpPr>
        <p:spPr>
          <a:xfrm>
            <a:off x="311200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7</a:t>
            </a:r>
            <a:endParaRPr lang="en-US" sz="850" dirty="0"/>
          </a:p>
        </p:txBody>
      </p:sp>
      <p:sp>
        <p:nvSpPr>
          <p:cNvPr id="14" name="Text 12"/>
          <p:cNvSpPr/>
          <p:nvPr/>
        </p:nvSpPr>
        <p:spPr>
          <a:xfrm>
            <a:off x="56692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C3</a:t>
            </a:r>
            <a:endParaRPr lang="en-US" sz="850" dirty="0"/>
          </a:p>
        </p:txBody>
      </p:sp>
      <p:sp>
        <p:nvSpPr>
          <p:cNvPr id="15" name="Text 13"/>
          <p:cNvSpPr/>
          <p:nvPr/>
        </p:nvSpPr>
        <p:spPr>
          <a:xfrm>
            <a:off x="96926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Fallow land</a:t>
            </a:r>
            <a:endParaRPr lang="en-US" sz="850" dirty="0"/>
          </a:p>
        </p:txBody>
      </p:sp>
      <p:sp>
        <p:nvSpPr>
          <p:cNvPr id="16" name="Text 14"/>
          <p:cNvSpPr/>
          <p:nvPr/>
        </p:nvSpPr>
        <p:spPr>
          <a:xfrm>
            <a:off x="311200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8</a:t>
            </a:r>
            <a:endParaRPr lang="en-US" sz="850" dirty="0"/>
          </a:p>
        </p:txBody>
      </p:sp>
      <p:sp>
        <p:nvSpPr>
          <p:cNvPr id="17" name="Text 15"/>
          <p:cNvSpPr/>
          <p:nvPr/>
        </p:nvSpPr>
        <p:spPr>
          <a:xfrm>
            <a:off x="566928" y="2606040"/>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TREE MONITORING</a:t>
            </a:r>
            <a:endParaRPr lang="en-US" sz="800" dirty="0"/>
          </a:p>
        </p:txBody>
      </p:sp>
      <p:sp>
        <p:nvSpPr>
          <p:cNvPr id="18" name="Text 16"/>
          <p:cNvSpPr/>
          <p:nvPr/>
        </p:nvSpPr>
        <p:spPr>
          <a:xfrm>
            <a:off x="566928" y="278434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T1</a:t>
            </a:r>
            <a:endParaRPr lang="en-US" sz="850" dirty="0"/>
          </a:p>
        </p:txBody>
      </p:sp>
      <p:sp>
        <p:nvSpPr>
          <p:cNvPr id="19" name="Text 17"/>
          <p:cNvSpPr/>
          <p:nvPr/>
        </p:nvSpPr>
        <p:spPr>
          <a:xfrm>
            <a:off x="969264" y="278434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Trees and species</a:t>
            </a:r>
            <a:endParaRPr lang="en-US" sz="850" dirty="0"/>
          </a:p>
        </p:txBody>
      </p:sp>
      <p:sp>
        <p:nvSpPr>
          <p:cNvPr id="20" name="Text 18"/>
          <p:cNvSpPr/>
          <p:nvPr/>
        </p:nvSpPr>
        <p:spPr>
          <a:xfrm>
            <a:off x="3112008" y="278434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10</a:t>
            </a:r>
            <a:endParaRPr lang="en-US" sz="850" dirty="0"/>
          </a:p>
        </p:txBody>
      </p:sp>
      <p:sp>
        <p:nvSpPr>
          <p:cNvPr id="21" name="Text 19"/>
          <p:cNvSpPr/>
          <p:nvPr/>
        </p:nvSpPr>
        <p:spPr>
          <a:xfrm>
            <a:off x="56692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T2</a:t>
            </a:r>
            <a:endParaRPr lang="en-US" sz="850" dirty="0"/>
          </a:p>
        </p:txBody>
      </p:sp>
      <p:sp>
        <p:nvSpPr>
          <p:cNvPr id="22" name="Text 20"/>
          <p:cNvSpPr/>
          <p:nvPr/>
        </p:nvSpPr>
        <p:spPr>
          <a:xfrm>
            <a:off x="96926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Tree health</a:t>
            </a:r>
            <a:endParaRPr lang="en-US" sz="850" dirty="0"/>
          </a:p>
        </p:txBody>
      </p:sp>
      <p:sp>
        <p:nvSpPr>
          <p:cNvPr id="23" name="Text 21"/>
          <p:cNvSpPr/>
          <p:nvPr/>
        </p:nvSpPr>
        <p:spPr>
          <a:xfrm>
            <a:off x="311200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11</a:t>
            </a:r>
            <a:endParaRPr lang="en-US" sz="850" dirty="0"/>
          </a:p>
        </p:txBody>
      </p:sp>
      <p:sp>
        <p:nvSpPr>
          <p:cNvPr id="24" name="Text 22"/>
          <p:cNvSpPr/>
          <p:nvPr/>
        </p:nvSpPr>
        <p:spPr>
          <a:xfrm>
            <a:off x="56692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T3</a:t>
            </a:r>
            <a:endParaRPr lang="en-US" sz="850" dirty="0"/>
          </a:p>
        </p:txBody>
      </p:sp>
      <p:sp>
        <p:nvSpPr>
          <p:cNvPr id="25" name="Text 23"/>
          <p:cNvSpPr/>
          <p:nvPr/>
        </p:nvSpPr>
        <p:spPr>
          <a:xfrm>
            <a:off x="96926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Annual change</a:t>
            </a:r>
            <a:endParaRPr lang="en-US" sz="850" dirty="0"/>
          </a:p>
        </p:txBody>
      </p:sp>
      <p:sp>
        <p:nvSpPr>
          <p:cNvPr id="26" name="Text 24"/>
          <p:cNvSpPr/>
          <p:nvPr/>
        </p:nvSpPr>
        <p:spPr>
          <a:xfrm>
            <a:off x="311200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12</a:t>
            </a:r>
            <a:endParaRPr lang="en-US" sz="850" dirty="0"/>
          </a:p>
        </p:txBody>
      </p:sp>
      <p:sp>
        <p:nvSpPr>
          <p:cNvPr id="27" name="Text 25"/>
          <p:cNvSpPr/>
          <p:nvPr/>
        </p:nvSpPr>
        <p:spPr>
          <a:xfrm>
            <a:off x="388924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LAND USE &amp; STRUCTURES</a:t>
            </a:r>
            <a:endParaRPr lang="en-US" sz="800" dirty="0"/>
          </a:p>
        </p:txBody>
      </p:sp>
      <p:sp>
        <p:nvSpPr>
          <p:cNvPr id="28" name="Text 26"/>
          <p:cNvSpPr/>
          <p:nvPr/>
        </p:nvSpPr>
        <p:spPr>
          <a:xfrm>
            <a:off x="388924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L1</a:t>
            </a:r>
            <a:endParaRPr lang="en-US" sz="850" dirty="0"/>
          </a:p>
        </p:txBody>
      </p:sp>
      <p:sp>
        <p:nvSpPr>
          <p:cNvPr id="29" name="Text 27"/>
          <p:cNvSpPr/>
          <p:nvPr/>
        </p:nvSpPr>
        <p:spPr>
          <a:xfrm>
            <a:off x="429158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Land use</a:t>
            </a:r>
            <a:endParaRPr lang="en-US" sz="850" dirty="0"/>
          </a:p>
        </p:txBody>
      </p:sp>
      <p:sp>
        <p:nvSpPr>
          <p:cNvPr id="30" name="Text 28"/>
          <p:cNvSpPr/>
          <p:nvPr/>
        </p:nvSpPr>
        <p:spPr>
          <a:xfrm>
            <a:off x="643432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14</a:t>
            </a:r>
            <a:endParaRPr lang="en-US" sz="850" dirty="0"/>
          </a:p>
        </p:txBody>
      </p:sp>
      <p:sp>
        <p:nvSpPr>
          <p:cNvPr id="31" name="Text 29"/>
          <p:cNvSpPr/>
          <p:nvPr/>
        </p:nvSpPr>
        <p:spPr>
          <a:xfrm>
            <a:off x="388924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L2</a:t>
            </a:r>
            <a:endParaRPr lang="en-US" sz="850" dirty="0"/>
          </a:p>
        </p:txBody>
      </p:sp>
      <p:sp>
        <p:nvSpPr>
          <p:cNvPr id="32" name="Text 30"/>
          <p:cNvSpPr/>
          <p:nvPr/>
        </p:nvSpPr>
        <p:spPr>
          <a:xfrm>
            <a:off x="429158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Structures</a:t>
            </a:r>
            <a:endParaRPr lang="en-US" sz="850" dirty="0"/>
          </a:p>
        </p:txBody>
      </p:sp>
      <p:sp>
        <p:nvSpPr>
          <p:cNvPr id="33" name="Text 31"/>
          <p:cNvSpPr/>
          <p:nvPr/>
        </p:nvSpPr>
        <p:spPr>
          <a:xfrm>
            <a:off x="643432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15</a:t>
            </a:r>
            <a:endParaRPr lang="en-US" sz="850" dirty="0"/>
          </a:p>
        </p:txBody>
      </p:sp>
      <p:sp>
        <p:nvSpPr>
          <p:cNvPr id="34" name="Text 32"/>
          <p:cNvSpPr/>
          <p:nvPr/>
        </p:nvSpPr>
        <p:spPr>
          <a:xfrm>
            <a:off x="3889248" y="192481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L3</a:t>
            </a:r>
            <a:endParaRPr lang="en-US" sz="850" dirty="0"/>
          </a:p>
        </p:txBody>
      </p:sp>
      <p:sp>
        <p:nvSpPr>
          <p:cNvPr id="35" name="Text 33"/>
          <p:cNvSpPr/>
          <p:nvPr/>
        </p:nvSpPr>
        <p:spPr>
          <a:xfrm>
            <a:off x="4291584" y="192481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Change tracking</a:t>
            </a:r>
            <a:endParaRPr lang="en-US" sz="850" dirty="0"/>
          </a:p>
        </p:txBody>
      </p:sp>
      <p:sp>
        <p:nvSpPr>
          <p:cNvPr id="36" name="Text 34"/>
          <p:cNvSpPr/>
          <p:nvPr/>
        </p:nvSpPr>
        <p:spPr>
          <a:xfrm>
            <a:off x="6434328" y="192481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16</a:t>
            </a:r>
            <a:endParaRPr lang="en-US" sz="850" dirty="0"/>
          </a:p>
        </p:txBody>
      </p:sp>
      <p:sp>
        <p:nvSpPr>
          <p:cNvPr id="37" name="Text 35"/>
          <p:cNvSpPr/>
          <p:nvPr/>
        </p:nvSpPr>
        <p:spPr>
          <a:xfrm>
            <a:off x="3889248" y="2176272"/>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IRRIGATION EFFICIENCY</a:t>
            </a:r>
            <a:endParaRPr lang="en-US" sz="800" dirty="0"/>
          </a:p>
        </p:txBody>
      </p:sp>
      <p:sp>
        <p:nvSpPr>
          <p:cNvPr id="38" name="Text 36"/>
          <p:cNvSpPr/>
          <p:nvPr/>
        </p:nvSpPr>
        <p:spPr>
          <a:xfrm>
            <a:off x="388924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I1</a:t>
            </a:r>
            <a:endParaRPr lang="en-US" sz="850" dirty="0"/>
          </a:p>
        </p:txBody>
      </p:sp>
      <p:sp>
        <p:nvSpPr>
          <p:cNvPr id="39" name="Text 37"/>
          <p:cNvSpPr/>
          <p:nvPr/>
        </p:nvSpPr>
        <p:spPr>
          <a:xfrm>
            <a:off x="429158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Scores</a:t>
            </a:r>
            <a:endParaRPr lang="en-US" sz="850" dirty="0"/>
          </a:p>
        </p:txBody>
      </p:sp>
      <p:sp>
        <p:nvSpPr>
          <p:cNvPr id="40" name="Text 38"/>
          <p:cNvSpPr/>
          <p:nvPr/>
        </p:nvSpPr>
        <p:spPr>
          <a:xfrm>
            <a:off x="643432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18</a:t>
            </a:r>
            <a:endParaRPr lang="en-US" sz="850" dirty="0"/>
          </a:p>
        </p:txBody>
      </p:sp>
      <p:sp>
        <p:nvSpPr>
          <p:cNvPr id="41" name="Text 39"/>
          <p:cNvSpPr/>
          <p:nvPr/>
        </p:nvSpPr>
        <p:spPr>
          <a:xfrm>
            <a:off x="388924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I2</a:t>
            </a:r>
            <a:endParaRPr lang="en-US" sz="850" dirty="0"/>
          </a:p>
        </p:txBody>
      </p:sp>
      <p:sp>
        <p:nvSpPr>
          <p:cNvPr id="42" name="Text 40"/>
          <p:cNvSpPr/>
          <p:nvPr/>
        </p:nvSpPr>
        <p:spPr>
          <a:xfrm>
            <a:off x="429158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Trend by quarter</a:t>
            </a:r>
            <a:endParaRPr lang="en-US" sz="850" dirty="0"/>
          </a:p>
        </p:txBody>
      </p:sp>
      <p:sp>
        <p:nvSpPr>
          <p:cNvPr id="43" name="Text 41"/>
          <p:cNvSpPr/>
          <p:nvPr/>
        </p:nvSpPr>
        <p:spPr>
          <a:xfrm>
            <a:off x="643432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19</a:t>
            </a:r>
            <a:endParaRPr lang="en-US" sz="850" dirty="0"/>
          </a:p>
        </p:txBody>
      </p:sp>
      <p:sp>
        <p:nvSpPr>
          <p:cNvPr id="44" name="Text 42"/>
          <p:cNvSpPr/>
          <p:nvPr/>
        </p:nvSpPr>
        <p:spPr>
          <a:xfrm>
            <a:off x="388924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CROP WATER CALCULATOR</a:t>
            </a:r>
            <a:endParaRPr lang="en-US" sz="800" dirty="0"/>
          </a:p>
        </p:txBody>
      </p:sp>
      <p:sp>
        <p:nvSpPr>
          <p:cNvPr id="45" name="Text 43"/>
          <p:cNvSpPr/>
          <p:nvPr/>
        </p:nvSpPr>
        <p:spPr>
          <a:xfrm>
            <a:off x="388924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W1</a:t>
            </a:r>
            <a:endParaRPr lang="en-US" sz="850" dirty="0"/>
          </a:p>
        </p:txBody>
      </p:sp>
      <p:sp>
        <p:nvSpPr>
          <p:cNvPr id="46" name="Text 44"/>
          <p:cNvSpPr/>
          <p:nvPr/>
        </p:nvSpPr>
        <p:spPr>
          <a:xfrm>
            <a:off x="429158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Monthly demand</a:t>
            </a:r>
            <a:endParaRPr lang="en-US" sz="850" dirty="0"/>
          </a:p>
        </p:txBody>
      </p:sp>
      <p:sp>
        <p:nvSpPr>
          <p:cNvPr id="47" name="Text 45"/>
          <p:cNvSpPr/>
          <p:nvPr/>
        </p:nvSpPr>
        <p:spPr>
          <a:xfrm>
            <a:off x="643432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21</a:t>
            </a:r>
            <a:endParaRPr lang="en-US" sz="850" dirty="0"/>
          </a:p>
        </p:txBody>
      </p:sp>
      <p:sp>
        <p:nvSpPr>
          <p:cNvPr id="48" name="Text 46"/>
          <p:cNvSpPr/>
          <p:nvPr/>
        </p:nvSpPr>
        <p:spPr>
          <a:xfrm>
            <a:off x="3889248" y="321411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W2</a:t>
            </a:r>
            <a:endParaRPr lang="en-US" sz="850" dirty="0"/>
          </a:p>
        </p:txBody>
      </p:sp>
      <p:sp>
        <p:nvSpPr>
          <p:cNvPr id="49" name="Text 47"/>
          <p:cNvSpPr/>
          <p:nvPr/>
        </p:nvSpPr>
        <p:spPr>
          <a:xfrm>
            <a:off x="4291584" y="321411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Season budget</a:t>
            </a:r>
            <a:endParaRPr lang="en-US" sz="850" dirty="0"/>
          </a:p>
        </p:txBody>
      </p:sp>
      <p:sp>
        <p:nvSpPr>
          <p:cNvPr id="50" name="Text 48"/>
          <p:cNvSpPr/>
          <p:nvPr/>
        </p:nvSpPr>
        <p:spPr>
          <a:xfrm>
            <a:off x="6434328" y="321411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22</a:t>
            </a:r>
            <a:endParaRPr lang="en-US" sz="850" dirty="0"/>
          </a:p>
        </p:txBody>
      </p:sp>
      <p:sp>
        <p:nvSpPr>
          <p:cNvPr id="51" name="Text 49"/>
          <p:cNvSpPr/>
          <p:nvPr/>
        </p:nvSpPr>
        <p:spPr>
          <a:xfrm>
            <a:off x="7211568" y="1316736"/>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YIELD OPTIMISATION</a:t>
            </a:r>
            <a:endParaRPr lang="en-US" sz="800" dirty="0"/>
          </a:p>
        </p:txBody>
      </p:sp>
      <p:sp>
        <p:nvSpPr>
          <p:cNvPr id="52" name="Text 50"/>
          <p:cNvSpPr/>
          <p:nvPr/>
        </p:nvSpPr>
        <p:spPr>
          <a:xfrm>
            <a:off x="7211568" y="149504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Y1</a:t>
            </a:r>
            <a:endParaRPr lang="en-US" sz="850" dirty="0"/>
          </a:p>
        </p:txBody>
      </p:sp>
      <p:sp>
        <p:nvSpPr>
          <p:cNvPr id="53" name="Text 51"/>
          <p:cNvSpPr/>
          <p:nvPr/>
        </p:nvSpPr>
        <p:spPr>
          <a:xfrm>
            <a:off x="7613904" y="149504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Yield forecast</a:t>
            </a:r>
            <a:endParaRPr lang="en-US" sz="850" dirty="0"/>
          </a:p>
        </p:txBody>
      </p:sp>
      <p:sp>
        <p:nvSpPr>
          <p:cNvPr id="54" name="Text 52"/>
          <p:cNvSpPr/>
          <p:nvPr/>
        </p:nvSpPr>
        <p:spPr>
          <a:xfrm>
            <a:off x="9756648" y="149504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24</a:t>
            </a:r>
            <a:endParaRPr lang="en-US" sz="850" dirty="0"/>
          </a:p>
        </p:txBody>
      </p:sp>
      <p:sp>
        <p:nvSpPr>
          <p:cNvPr id="55" name="Text 53"/>
          <p:cNvSpPr/>
          <p:nvPr/>
        </p:nvSpPr>
        <p:spPr>
          <a:xfrm>
            <a:off x="7211568" y="1709928"/>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Y2</a:t>
            </a:r>
            <a:endParaRPr lang="en-US" sz="850" dirty="0"/>
          </a:p>
        </p:txBody>
      </p:sp>
      <p:sp>
        <p:nvSpPr>
          <p:cNvPr id="56" name="Text 54"/>
          <p:cNvSpPr/>
          <p:nvPr/>
        </p:nvSpPr>
        <p:spPr>
          <a:xfrm>
            <a:off x="7613904" y="1709928"/>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Crop calendar</a:t>
            </a:r>
            <a:endParaRPr lang="en-US" sz="850" dirty="0"/>
          </a:p>
        </p:txBody>
      </p:sp>
      <p:sp>
        <p:nvSpPr>
          <p:cNvPr id="57" name="Text 55"/>
          <p:cNvSpPr/>
          <p:nvPr/>
        </p:nvSpPr>
        <p:spPr>
          <a:xfrm>
            <a:off x="9756648" y="1709928"/>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25</a:t>
            </a:r>
            <a:endParaRPr lang="en-US" sz="850" dirty="0"/>
          </a:p>
        </p:txBody>
      </p:sp>
      <p:sp>
        <p:nvSpPr>
          <p:cNvPr id="58" name="Text 56"/>
          <p:cNvSpPr/>
          <p:nvPr/>
        </p:nvSpPr>
        <p:spPr>
          <a:xfrm>
            <a:off x="7211568" y="1961388"/>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INDIVIDUAL FARMS</a:t>
            </a:r>
            <a:endParaRPr lang="en-US" sz="800" dirty="0"/>
          </a:p>
        </p:txBody>
      </p:sp>
      <p:sp>
        <p:nvSpPr>
          <p:cNvPr id="59" name="Text 57"/>
          <p:cNvSpPr/>
          <p:nvPr/>
        </p:nvSpPr>
        <p:spPr>
          <a:xfrm>
            <a:off x="7211568" y="2139696"/>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F1</a:t>
            </a:r>
            <a:endParaRPr lang="en-US" sz="850" dirty="0"/>
          </a:p>
        </p:txBody>
      </p:sp>
      <p:sp>
        <p:nvSpPr>
          <p:cNvPr id="60" name="Text 58"/>
          <p:cNvSpPr/>
          <p:nvPr/>
        </p:nvSpPr>
        <p:spPr>
          <a:xfrm>
            <a:off x="7613904" y="2139696"/>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register</a:t>
            </a:r>
            <a:endParaRPr lang="en-US" sz="850" dirty="0"/>
          </a:p>
        </p:txBody>
      </p:sp>
      <p:sp>
        <p:nvSpPr>
          <p:cNvPr id="61" name="Text 59"/>
          <p:cNvSpPr/>
          <p:nvPr/>
        </p:nvSpPr>
        <p:spPr>
          <a:xfrm>
            <a:off x="9756648" y="2139696"/>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27</a:t>
            </a:r>
            <a:endParaRPr lang="en-US" sz="850" dirty="0"/>
          </a:p>
        </p:txBody>
      </p:sp>
      <p:sp>
        <p:nvSpPr>
          <p:cNvPr id="62" name="Text 60"/>
          <p:cNvSpPr/>
          <p:nvPr/>
        </p:nvSpPr>
        <p:spPr>
          <a:xfrm>
            <a:off x="7211568" y="2354580"/>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F2</a:t>
            </a:r>
            <a:endParaRPr lang="en-US" sz="850" dirty="0"/>
          </a:p>
        </p:txBody>
      </p:sp>
      <p:sp>
        <p:nvSpPr>
          <p:cNvPr id="63" name="Text 61"/>
          <p:cNvSpPr/>
          <p:nvPr/>
        </p:nvSpPr>
        <p:spPr>
          <a:xfrm>
            <a:off x="7613904" y="2354580"/>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Farm profile</a:t>
            </a:r>
            <a:endParaRPr lang="en-US" sz="850" dirty="0"/>
          </a:p>
        </p:txBody>
      </p:sp>
      <p:sp>
        <p:nvSpPr>
          <p:cNvPr id="64" name="Text 62"/>
          <p:cNvSpPr/>
          <p:nvPr/>
        </p:nvSpPr>
        <p:spPr>
          <a:xfrm>
            <a:off x="9756648" y="2354580"/>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28</a:t>
            </a:r>
            <a:endParaRPr lang="en-US" sz="850" dirty="0"/>
          </a:p>
        </p:txBody>
      </p:sp>
      <p:sp>
        <p:nvSpPr>
          <p:cNvPr id="65" name="Text 63"/>
          <p:cNvSpPr/>
          <p:nvPr/>
        </p:nvSpPr>
        <p:spPr>
          <a:xfrm>
            <a:off x="7211568" y="2569464"/>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F3</a:t>
            </a:r>
            <a:endParaRPr lang="en-US" sz="850" dirty="0"/>
          </a:p>
        </p:txBody>
      </p:sp>
      <p:sp>
        <p:nvSpPr>
          <p:cNvPr id="66" name="Text 64"/>
          <p:cNvSpPr/>
          <p:nvPr/>
        </p:nvSpPr>
        <p:spPr>
          <a:xfrm>
            <a:off x="7613904" y="2569464"/>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Corrective actions</a:t>
            </a:r>
            <a:endParaRPr lang="en-US" sz="850" dirty="0"/>
          </a:p>
        </p:txBody>
      </p:sp>
      <p:sp>
        <p:nvSpPr>
          <p:cNvPr id="67" name="Text 65"/>
          <p:cNvSpPr/>
          <p:nvPr/>
        </p:nvSpPr>
        <p:spPr>
          <a:xfrm>
            <a:off x="9756648" y="2569464"/>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29</a:t>
            </a:r>
            <a:endParaRPr lang="en-US" sz="850" dirty="0"/>
          </a:p>
        </p:txBody>
      </p:sp>
      <p:sp>
        <p:nvSpPr>
          <p:cNvPr id="68" name="Text 66"/>
          <p:cNvSpPr/>
          <p:nvPr/>
        </p:nvSpPr>
        <p:spPr>
          <a:xfrm>
            <a:off x="7211568" y="2820924"/>
            <a:ext cx="2910840" cy="214884"/>
          </a:xfrm>
          <a:prstGeom prst="rect">
            <a:avLst/>
          </a:prstGeom>
          <a:noFill/>
          <a:ln/>
        </p:spPr>
        <p:txBody>
          <a:bodyPr wrap="square" lIns="0" tIns="0" rIns="0" bIns="0" rtlCol="0" anchor="ctr"/>
          <a:lstStyle/>
          <a:p>
            <a:pPr indent="0" marL="0">
              <a:buNone/>
            </a:pPr>
            <a:r>
              <a:rPr lang="en-US" sz="800" b="1" spc="140" kern="0" dirty="0">
                <a:solidFill>
                  <a:srgbClr val="15803D"/>
                </a:solidFill>
                <a:latin typeface="Calibri" pitchFamily="34" charset="0"/>
                <a:ea typeface="Calibri" pitchFamily="34" charset="-122"/>
                <a:cs typeface="Calibri" pitchFamily="34" charset="-120"/>
              </a:rPr>
              <a:t>SUPPORT</a:t>
            </a:r>
            <a:endParaRPr lang="en-US" sz="800" dirty="0"/>
          </a:p>
        </p:txBody>
      </p:sp>
      <p:sp>
        <p:nvSpPr>
          <p:cNvPr id="69" name="Text 67"/>
          <p:cNvSpPr/>
          <p:nvPr/>
        </p:nvSpPr>
        <p:spPr>
          <a:xfrm>
            <a:off x="7211568" y="2999232"/>
            <a:ext cx="384048" cy="214884"/>
          </a:xfrm>
          <a:prstGeom prst="rect">
            <a:avLst/>
          </a:prstGeom>
          <a:noFill/>
          <a:ln/>
        </p:spPr>
        <p:txBody>
          <a:bodyPr wrap="square" lIns="0" tIns="0" rIns="0" bIns="0" rtlCol="0" anchor="ctr"/>
          <a:lstStyle/>
          <a:p>
            <a:pPr indent="0" marL="0">
              <a:buNone/>
            </a:pPr>
            <a:r>
              <a:rPr lang="en-US" sz="850" b="1" dirty="0">
                <a:solidFill>
                  <a:srgbClr val="111827"/>
                </a:solidFill>
                <a:latin typeface="Calibri" pitchFamily="34" charset="0"/>
                <a:ea typeface="Calibri" pitchFamily="34" charset="-122"/>
                <a:cs typeface="Calibri" pitchFamily="34" charset="-120"/>
              </a:rPr>
              <a:t>S1</a:t>
            </a:r>
            <a:endParaRPr lang="en-US" sz="850" dirty="0"/>
          </a:p>
        </p:txBody>
      </p:sp>
      <p:sp>
        <p:nvSpPr>
          <p:cNvPr id="70" name="Text 68"/>
          <p:cNvSpPr/>
          <p:nvPr/>
        </p:nvSpPr>
        <p:spPr>
          <a:xfrm>
            <a:off x="7613904" y="2999232"/>
            <a:ext cx="2124456" cy="214884"/>
          </a:xfrm>
          <a:prstGeom prst="rect">
            <a:avLst/>
          </a:prstGeom>
          <a:noFill/>
          <a:ln/>
        </p:spPr>
        <p:txBody>
          <a:bodyPr wrap="square" lIns="0" tIns="0" rIns="0" bIns="0" rtlCol="0" anchor="ctr"/>
          <a:lstStyle/>
          <a:p>
            <a:pPr indent="0" marL="0">
              <a:buNone/>
            </a:pPr>
            <a:r>
              <a:rPr lang="en-US" sz="850" dirty="0">
                <a:solidFill>
                  <a:srgbClr val="4B5563"/>
                </a:solidFill>
                <a:latin typeface="Calibri" pitchFamily="34" charset="0"/>
                <a:ea typeface="Calibri" pitchFamily="34" charset="-122"/>
                <a:cs typeface="Calibri" pitchFamily="34" charset="-120"/>
              </a:rPr>
              <a:t>Support</a:t>
            </a:r>
            <a:endParaRPr lang="en-US" sz="850" dirty="0"/>
          </a:p>
        </p:txBody>
      </p:sp>
      <p:sp>
        <p:nvSpPr>
          <p:cNvPr id="71" name="Text 69"/>
          <p:cNvSpPr/>
          <p:nvPr/>
        </p:nvSpPr>
        <p:spPr>
          <a:xfrm>
            <a:off x="9756648" y="2999232"/>
            <a:ext cx="365760" cy="214884"/>
          </a:xfrm>
          <a:prstGeom prst="rect">
            <a:avLst/>
          </a:prstGeom>
          <a:noFill/>
          <a:ln/>
        </p:spPr>
        <p:txBody>
          <a:bodyPr wrap="square" lIns="0" tIns="0" rIns="0" bIns="0" rtlCol="0" anchor="ctr"/>
          <a:lstStyle/>
          <a:p>
            <a:pPr algn="r" indent="0" marL="0">
              <a:buNone/>
            </a:pPr>
            <a:r>
              <a:rPr lang="en-US" sz="850" dirty="0">
                <a:solidFill>
                  <a:srgbClr val="9CA3AF"/>
                </a:solidFill>
                <a:latin typeface="Calibri" pitchFamily="34" charset="0"/>
                <a:ea typeface="Calibri" pitchFamily="34" charset="-122"/>
                <a:cs typeface="Calibri" pitchFamily="34" charset="-120"/>
              </a:rPr>
              <a:t>31</a:t>
            </a:r>
            <a:endParaRPr lang="en-US" sz="850" dirty="0"/>
          </a:p>
        </p:txBody>
      </p:sp>
      <p:sp>
        <p:nvSpPr>
          <p:cNvPr id="72" name="Text 70"/>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73" name="Text 71"/>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1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Overview</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OV</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OVERVIEW</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OV</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Overview</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first page. It shows how many farms there are, how much land they cover, and where they are. Open a module on the left to go deeper.</a:t>
            </a:r>
            <a:endParaRPr lang="en-US" sz="1050" dirty="0"/>
          </a:p>
        </p:txBody>
      </p:sp>
      <p:pic>
        <p:nvPicPr>
          <p:cNvPr id="5" name="Image 0" descr="/home/user/adafsa-mockup/.deck-work/OV.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2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C1 · C2 · C3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Crops and area</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planted on every farm and how much land each crop takes. The map gives each farm the colour of its main crop. (Module 1: crop location, crop type, cultivated area.)</a:t>
            </a:r>
            <a:endParaRPr lang="en-US" sz="1050" dirty="0"/>
          </a:p>
        </p:txBody>
      </p:sp>
      <p:pic>
        <p:nvPicPr>
          <p:cNvPr id="5" name="Image 0" descr="/home/user/adafsa-mockup/.deck-work/C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changed since the last season. Four tabs: farms that started a crop, stopped a crop, planted more, or planted less. (Module 1: seasonal change report.)</a:t>
            </a:r>
            <a:endParaRPr lang="en-US" sz="1050" dirty="0"/>
          </a:p>
        </p:txBody>
      </p:sp>
      <p:pic>
        <p:nvPicPr>
          <p:cNvPr id="5" name="Image 0" descr="/home/user/adafsa-mockup/.deck-work/C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C3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Fallow land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land that can be farmed but has nothing growing on it now. The last number is the one to act on — farms that plant less than before. (Module 1: fallow land detection.)</a:t>
            </a:r>
            <a:endParaRPr lang="en-US" sz="1050" dirty="0"/>
          </a:p>
        </p:txBody>
      </p:sp>
      <p:pic>
        <p:nvPicPr>
          <p:cNvPr id="5" name="Image 0" descr="/home/user/adafsa-mockup/.deck-work/C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C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3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Tree Monitoring</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T1 · T2 · T3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Trees and species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Counts the trees on every farm: date palms, fruit trees and forest trees. It also gives the species and the varieties. (Module 2: tree location, tree count, species and variety.)</a:t>
            </a:r>
            <a:endParaRPr lang="en-US" sz="1050" dirty="0"/>
          </a:p>
        </p:txBody>
      </p:sp>
      <p:pic>
        <p:nvPicPr>
          <p:cNvPr id="5" name="Image 0" descr="/home/user/adafsa-mockup/.deck-work/T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Tree health</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Gives every farm a health score for its trees, read from the satellite. The score is for the whole farm, not for one tree. Palms and fruit trees are scored apart. (Module 2: canopy health index.)</a:t>
            </a:r>
            <a:endParaRPr lang="en-US" sz="1050" dirty="0"/>
          </a:p>
        </p:txBody>
      </p:sp>
      <p:pic>
        <p:nvPicPr>
          <p:cNvPr id="5" name="Image 0" descr="/home/user/adafsa-mockup/.deck-work/T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TREE MONITORING</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T3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Annual change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many trees were planted and how many were removed since last year. Numbers, not a map — the table names the farms. (Module 2: annual change detection.)</a:t>
            </a:r>
            <a:endParaRPr lang="en-US" sz="1050" dirty="0"/>
          </a:p>
        </p:txBody>
      </p:sp>
      <p:pic>
        <p:nvPicPr>
          <p:cNvPr id="5" name="Image 0" descr="/home/user/adafsa-mockup/.deck-work/T3.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T3-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4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Land Use &amp; Structures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L1 · L2 · L3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Land use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the land is used on every farm: fields, palms, other trees, greenhouses, buildings and empty land. Zoom in and the map draws the real shape of each piece of land.</a:t>
            </a:r>
            <a:endParaRPr lang="en-US" sz="1050" dirty="0"/>
          </a:p>
        </p:txBody>
      </p:sp>
      <p:pic>
        <p:nvPicPr>
          <p:cNvPr id="5" name="Image 0" descr="/home/user/adafsa-mockup/.deck-work/L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Structures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what is built on the farms: houses, labour housing, sheds, water tanks, animal pens, roads and pump rooms. It gives the type of each one. (Module 3: structure detection.)</a:t>
            </a:r>
            <a:endParaRPr lang="en-US" sz="1050" dirty="0"/>
          </a:p>
        </p:txBody>
      </p:sp>
      <p:pic>
        <p:nvPicPr>
          <p:cNvPr id="5" name="Image 0" descr="/home/user/adafsa-mockup/.deck-work/L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L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LAND USE &amp; STRUCTURES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L3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Change tracking</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buildings that are new and buildings that are gone. It needs two quarters of data before it can show anything.</a:t>
            </a:r>
            <a:endParaRPr lang="en-US" sz="1050" dirty="0"/>
          </a:p>
        </p:txBody>
      </p:sp>
      <p:pic>
        <p:nvPicPr>
          <p:cNvPr id="5" name="Image 0" descr="/home/user/adafsa-mockup/.deck-work/L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5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Irrigation Efficiency</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I1 · I2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Scores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Gives every farm a score from 0 to 100 for how well it waters its crops. Each score gets a band: Excellent, Good, Acceptable, Poor or Critical. (Module 4: IER score and band.)</a:t>
            </a:r>
            <a:endParaRPr lang="en-US" sz="1050" dirty="0"/>
          </a:p>
        </p:txBody>
      </p:sp>
      <p:pic>
        <p:nvPicPr>
          <p:cNvPr id="5" name="Image 0" descr="/home/user/adafsa-mockup/.deck-work/I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IRRIGATION EFFICIENCY</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I2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Trend by quarter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whether the scores are getting better or worse over time. A line and hard numbers, and no map on purpose. (Module 4: quarter-on-quarter trend.)</a:t>
            </a:r>
            <a:endParaRPr lang="en-US" sz="1050" dirty="0"/>
          </a:p>
        </p:txBody>
      </p:sp>
      <p:pic>
        <p:nvPicPr>
          <p:cNvPr id="5" name="Image 0" descr="/home/user/adafsa-mockup/.deck-work/I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I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6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Crop Water Calculator</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W1 · W2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Monthly demand</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water each farm should use this month and how much it really used. Farms using far more than they need are flagged. (Module 6: monthly water demand and over-allocation flag.)</a:t>
            </a:r>
            <a:endParaRPr lang="en-US" sz="1050" dirty="0"/>
          </a:p>
        </p:txBody>
      </p:sp>
      <p:pic>
        <p:nvPicPr>
          <p:cNvPr id="5" name="Image 0" descr="/home/user/adafsa-mockup/.deck-work/W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CROP WATER CALCULATOR</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W2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Season budget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water a crop needs for a whole season, and how much food it gives back for that water. Useful when deciding what to grow. (Module 6: seasonal water budget.)</a:t>
            </a:r>
            <a:endParaRPr lang="en-US" sz="1050" dirty="0"/>
          </a:p>
        </p:txBody>
      </p:sp>
      <p:pic>
        <p:nvPicPr>
          <p:cNvPr id="5" name="Image 0" descr="/home/user/adafsa-mockup/.deck-work/W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W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7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Yield Optimisation</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2 screens  ·  Y1 · Y2</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Yield forecast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how much each crop should produce, the average for each dunum, and how many farms are below that average. (Module 5: seasonal yield estimate.)</a:t>
            </a:r>
            <a:endParaRPr lang="en-US" sz="1050" dirty="0"/>
          </a:p>
        </p:txBody>
      </p:sp>
      <p:pic>
        <p:nvPicPr>
          <p:cNvPr id="5" name="Image 0" descr="/home/user/adafsa-mockup/.deck-work/Y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35%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YIELD OPTIMISATION</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Y2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Crop calendar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Shows when each crop is in the ground, month by month. Every farm plants at its own time, so the curve rises and falls.</a:t>
            </a:r>
            <a:endParaRPr lang="en-US" sz="1050" dirty="0"/>
          </a:p>
        </p:txBody>
      </p:sp>
      <p:pic>
        <p:nvPicPr>
          <p:cNvPr id="5" name="Image 0" descr="/home/user/adafsa-mockup/.deck-work/Y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50%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Y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8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Individual Farms</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3 screens  ·  F1 · F2 · F3</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register</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The list of every farm. Search by farm number or owner, sort on any column, and open one farm. Every result in the contract is given per farm.</a:t>
            </a:r>
            <a:endParaRPr lang="en-US" sz="1050" dirty="0"/>
          </a:p>
        </p:txBody>
      </p:sp>
      <p:pic>
        <p:nvPicPr>
          <p:cNvPr id="5" name="Image 0" descr="/home/user/adafsa-mockup/.deck-work/F1.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60%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1-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F2</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Farm profile</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One farm on one page: where it is, what it grows, its trees, its water score, its water use and its buildings. All six modules meet here.</a:t>
            </a:r>
            <a:endParaRPr lang="en-US" sz="1050" dirty="0"/>
          </a:p>
        </p:txBody>
      </p:sp>
      <p:pic>
        <p:nvPicPr>
          <p:cNvPr id="5" name="Image 0" descr="/home/user/adafsa-mockup/.deck-work/F2.jpg">    </p:cNvPr>
          <p:cNvPicPr>
            <a:picLocks noChangeAspect="1"/>
          </p:cNvPicPr>
          <p:nvPr/>
        </p:nvPicPr>
        <p:blipFill>
          <a:blip r:embed="rId1"/>
          <a:stretch>
            <a:fillRect/>
          </a:stretch>
        </p:blipFill>
        <p:spPr>
          <a:xfrm>
            <a:off x="473732" y="1753892"/>
            <a:ext cx="6843223" cy="4716735"/>
          </a:xfrm>
          <a:prstGeom prst="rect">
            <a:avLst/>
          </a:prstGeom>
        </p:spPr>
      </p:pic>
      <p:sp>
        <p:nvSpPr>
          <p:cNvPr id="6" name="Text 3"/>
          <p:cNvSpPr/>
          <p:nvPr/>
        </p:nvSpPr>
        <p:spPr>
          <a:xfrm>
            <a:off x="566928" y="6505448"/>
            <a:ext cx="6656832" cy="201168"/>
          </a:xfrm>
          <a:prstGeom prst="rect">
            <a:avLst/>
          </a:prstGeom>
          <a:noFill/>
          <a:ln/>
        </p:spPr>
        <p:txBody>
          <a:bodyPr wrap="square" lIns="0" tIns="0" rIns="0" bIns="0" rtlCol="0" anchor="ctr"/>
          <a:lstStyle/>
          <a:p>
            <a:pPr indent="0" marL="0">
              <a:buNone/>
            </a:pPr>
            <a:r>
              <a:rPr lang="en-US" sz="800" i="1" dirty="0">
                <a:solidFill>
                  <a:srgbClr val="9CA3AF"/>
                </a:solidFill>
                <a:latin typeface="Calibri" pitchFamily="34" charset="0"/>
                <a:ea typeface="Calibri" pitchFamily="34" charset="-122"/>
                <a:cs typeface="Calibri" pitchFamily="34" charset="-120"/>
              </a:rPr>
              <a:t>Scrolls · about 45% of this screen is shown above</a:t>
            </a:r>
            <a:endParaRPr lang="en-US" sz="800" dirty="0"/>
          </a:p>
        </p:txBody>
      </p:sp>
      <p:sp>
        <p:nvSpPr>
          <p:cNvPr id="7" name="Text 4"/>
          <p:cNvSpPr/>
          <p:nvPr/>
        </p:nvSpPr>
        <p:spPr>
          <a:xfrm>
            <a:off x="7790688" y="1847088"/>
            <a:ext cx="2331720" cy="182880"/>
          </a:xfrm>
          <a:prstGeom prst="rect">
            <a:avLst/>
          </a:prstGeom>
          <a:noFill/>
          <a:ln/>
        </p:spPr>
        <p:txBody>
          <a:bodyPr wrap="square" lIns="0" tIns="0" rIns="0" bIns="0" rtlCol="0" anchor="ctr"/>
          <a:lstStyle/>
          <a:p>
            <a:pPr indent="0" marL="0">
              <a:buNone/>
            </a:pPr>
            <a:r>
              <a:rPr lang="en-US" sz="800" b="1" spc="120" kern="0" dirty="0">
                <a:solidFill>
                  <a:srgbClr val="9CA3AF"/>
                </a:solidFill>
                <a:latin typeface="Calibri" pitchFamily="34" charset="0"/>
                <a:ea typeface="Calibri" pitchFamily="34" charset="-122"/>
                <a:cs typeface="Calibri" pitchFamily="34" charset="-120"/>
              </a:rPr>
              <a:t>THE REST OF THIS SCREEN</a:t>
            </a:r>
            <a:endParaRPr lang="en-US" sz="800" dirty="0"/>
          </a:p>
        </p:txBody>
      </p:sp>
      <p:pic>
        <p:nvPicPr>
          <p:cNvPr id="8" name="Image 1" descr="/home/user/adafsa-mockup/.deck-work/F2-tail.jpg">    </p:cNvPr>
          <p:cNvPicPr>
            <a:picLocks noChangeAspect="1"/>
          </p:cNvPicPr>
          <p:nvPr/>
        </p:nvPicPr>
        <p:blipFill>
          <a:blip r:embed="rId2"/>
          <a:stretch>
            <a:fillRect/>
          </a:stretch>
        </p:blipFill>
        <p:spPr>
          <a:xfrm>
            <a:off x="7758044" y="2088764"/>
            <a:ext cx="2397008" cy="1652153"/>
          </a:xfrm>
          <a:prstGeom prst="rect">
            <a:avLst/>
          </a:prstGeom>
        </p:spPr>
      </p:pic>
      <p:sp>
        <p:nvSpPr>
          <p:cNvPr id="10" name="Text 5"/>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11" name="Text 6"/>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INDIVIDUAL FARMS</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F3</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Corrective actions</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Says what is wrong on this farm and what to do about it. Each problem is written as an action, not as a number to work out. Print the page and take it to the farm visit.</a:t>
            </a:r>
            <a:endParaRPr lang="en-US" sz="1050" dirty="0"/>
          </a:p>
        </p:txBody>
      </p:sp>
      <p:pic>
        <p:nvPicPr>
          <p:cNvPr id="5" name="Image 0" descr="/home/user/adafsa-mockup/.deck-work/F3.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4532D"/>
        </a:solidFill>
      </p:bgPr>
    </p:bg>
    <p:spTree>
      <p:nvGrpSpPr>
        <p:cNvPr id="1" name=""/>
        <p:cNvGrpSpPr/>
        <p:nvPr/>
      </p:nvGrpSpPr>
      <p:grpSpPr>
        <a:xfrm>
          <a:off x="0" y="0"/>
          <a:ext cx="0" cy="0"/>
          <a:chOff x="0" y="0"/>
          <a:chExt cx="0" cy="0"/>
        </a:xfrm>
      </p:grpSpPr>
      <p:sp>
        <p:nvSpPr>
          <p:cNvPr id="2" name="Text 0"/>
          <p:cNvSpPr/>
          <p:nvPr/>
        </p:nvSpPr>
        <p:spPr>
          <a:xfrm>
            <a:off x="566928" y="2743200"/>
            <a:ext cx="8229600" cy="365760"/>
          </a:xfrm>
          <a:prstGeom prst="rect">
            <a:avLst/>
          </a:prstGeom>
          <a:noFill/>
          <a:ln/>
        </p:spPr>
        <p:txBody>
          <a:bodyPr wrap="square" lIns="0" tIns="0" rIns="0" bIns="0" rtlCol="0" anchor="ctr"/>
          <a:lstStyle/>
          <a:p>
            <a:pPr indent="0" marL="0">
              <a:buNone/>
            </a:pPr>
            <a:r>
              <a:rPr lang="en-US" sz="1200" b="1" spc="220" kern="0" dirty="0">
                <a:solidFill>
                  <a:srgbClr val="BBF7D0"/>
                </a:solidFill>
                <a:latin typeface="Calibri" pitchFamily="34" charset="0"/>
                <a:ea typeface="Calibri" pitchFamily="34" charset="-122"/>
                <a:cs typeface="Calibri" pitchFamily="34" charset="-120"/>
              </a:rPr>
              <a:t>SECTION 9 OF 9</a:t>
            </a:r>
            <a:endParaRPr lang="en-US" sz="1200" dirty="0"/>
          </a:p>
        </p:txBody>
      </p:sp>
      <p:sp>
        <p:nvSpPr>
          <p:cNvPr id="3" name="Text 1"/>
          <p:cNvSpPr/>
          <p:nvPr/>
        </p:nvSpPr>
        <p:spPr>
          <a:xfrm>
            <a:off x="566928" y="3145536"/>
            <a:ext cx="9144000" cy="9601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Support</a:t>
            </a:r>
            <a:endParaRPr lang="en-US" sz="4400" dirty="0"/>
          </a:p>
        </p:txBody>
      </p:sp>
      <p:sp>
        <p:nvSpPr>
          <p:cNvPr id="4" name="Text 2"/>
          <p:cNvSpPr/>
          <p:nvPr/>
        </p:nvSpPr>
        <p:spPr>
          <a:xfrm>
            <a:off x="566928" y="4206240"/>
            <a:ext cx="9144000" cy="365760"/>
          </a:xfrm>
          <a:prstGeom prst="rect">
            <a:avLst/>
          </a:prstGeom>
          <a:noFill/>
          <a:ln/>
        </p:spPr>
        <p:txBody>
          <a:bodyPr wrap="square" lIns="0" tIns="0" rIns="0" bIns="0" rtlCol="0" anchor="ctr"/>
          <a:lstStyle/>
          <a:p>
            <a:pPr indent="0" marL="0">
              <a:buNone/>
            </a:pPr>
            <a:r>
              <a:rPr lang="en-US" sz="1100" dirty="0">
                <a:solidFill>
                  <a:srgbClr val="BBF7D0"/>
                </a:solidFill>
                <a:latin typeface="Calibri" pitchFamily="34" charset="0"/>
                <a:ea typeface="Calibri" pitchFamily="34" charset="-122"/>
                <a:cs typeface="Calibri" pitchFamily="34" charset="-120"/>
              </a:rPr>
              <a:t>1 screen  ·  S1</a:t>
            </a:r>
            <a:endParaRPr lang="en-US" sz="1100" dirty="0"/>
          </a:p>
        </p:txBody>
      </p:sp>
      <p:sp>
        <p:nvSpPr>
          <p:cNvPr id="5"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BBF7D0"/>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6"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BBF7D0"/>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02336"/>
            <a:ext cx="7315200" cy="237744"/>
          </a:xfrm>
          <a:prstGeom prst="rect">
            <a:avLst/>
          </a:prstGeom>
          <a:noFill/>
          <a:ln/>
        </p:spPr>
        <p:txBody>
          <a:bodyPr wrap="square" lIns="0" tIns="0" rIns="0" bIns="0" rtlCol="0" anchor="ctr"/>
          <a:lstStyle/>
          <a:p>
            <a:pPr indent="0" marL="0">
              <a:buNone/>
            </a:pPr>
            <a:r>
              <a:rPr lang="en-US" sz="1000" b="1" spc="160" kern="0" dirty="0">
                <a:solidFill>
                  <a:srgbClr val="15803D"/>
                </a:solidFill>
                <a:latin typeface="Calibri" pitchFamily="34" charset="0"/>
                <a:ea typeface="Calibri" pitchFamily="34" charset="-122"/>
                <a:cs typeface="Calibri" pitchFamily="34" charset="-120"/>
              </a:rPr>
              <a:t>SUPPORT</a:t>
            </a:r>
            <a:endParaRPr lang="en-US" sz="1000" dirty="0"/>
          </a:p>
        </p:txBody>
      </p:sp>
      <p:sp>
        <p:nvSpPr>
          <p:cNvPr id="3" name="Text 1"/>
          <p:cNvSpPr/>
          <p:nvPr/>
        </p:nvSpPr>
        <p:spPr>
          <a:xfrm>
            <a:off x="566928" y="676656"/>
            <a:ext cx="8686800" cy="45720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S1</a:t>
            </a:r>
            <a:pPr indent="0" marL="0">
              <a:buNone/>
            </a:pPr>
            <a:r>
              <a:rPr lang="en-US" sz="2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Support</a:t>
            </a:r>
            <a:endParaRPr lang="en-US" sz="2400" dirty="0"/>
          </a:p>
        </p:txBody>
      </p:sp>
      <p:sp>
        <p:nvSpPr>
          <p:cNvPr id="4" name="Text 2"/>
          <p:cNvSpPr/>
          <p:nvPr/>
        </p:nvSpPr>
        <p:spPr>
          <a:xfrm>
            <a:off x="566928" y="1170432"/>
            <a:ext cx="8138160" cy="603504"/>
          </a:xfrm>
          <a:prstGeom prst="rect">
            <a:avLst/>
          </a:prstGeom>
          <a:noFill/>
          <a:ln/>
        </p:spPr>
        <p:txBody>
          <a:bodyPr wrap="square" lIns="0" tIns="0" rIns="0" bIns="0" rtlCol="0" anchor="t"/>
          <a:lstStyle/>
          <a:p>
            <a:pPr indent="0" marL="0">
              <a:lnSpc>
                <a:spcPts val="1400"/>
              </a:lnSpc>
              <a:buNone/>
            </a:pPr>
            <a:r>
              <a:rPr lang="en-US" sz="1050" dirty="0">
                <a:solidFill>
                  <a:srgbClr val="4B5563"/>
                </a:solidFill>
                <a:latin typeface="Calibri" pitchFamily="34" charset="0"/>
                <a:ea typeface="Calibri" pitchFamily="34" charset="-122"/>
                <a:cs typeface="Calibri" pitchFamily="34" charset="-120"/>
              </a:rPr>
              <a:t>Where to ask for help, and a note on what is real data and what is made up in this mockup. One page — in the old platform, more than half the menu was support and settings.</a:t>
            </a:r>
            <a:endParaRPr lang="en-US" sz="1050" dirty="0"/>
          </a:p>
        </p:txBody>
      </p:sp>
      <p:pic>
        <p:nvPicPr>
          <p:cNvPr id="5" name="Image 0" descr="/home/user/adafsa-mockup/.deck-work/S1.jpg">    </p:cNvPr>
          <p:cNvPicPr>
            <a:picLocks noChangeAspect="1"/>
          </p:cNvPicPr>
          <p:nvPr/>
        </p:nvPicPr>
        <p:blipFill>
          <a:blip r:embed="rId1"/>
          <a:stretch>
            <a:fillRect/>
          </a:stretch>
        </p:blipFill>
        <p:spPr>
          <a:xfrm>
            <a:off x="467232" y="1747392"/>
            <a:ext cx="7320515" cy="5045711"/>
          </a:xfrm>
          <a:prstGeom prst="rect">
            <a:avLst/>
          </a:prstGeom>
        </p:spPr>
      </p:pic>
      <p:sp>
        <p:nvSpPr>
          <p:cNvPr id="7" name="Text 3"/>
          <p:cNvSpPr/>
          <p:nvPr/>
        </p:nvSpPr>
        <p:spPr>
          <a:xfrm>
            <a:off x="566928" y="7059168"/>
            <a:ext cx="5943600" cy="237744"/>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ADAFSA Agricultural Monitoring Platform  ·  design mockup</a:t>
            </a:r>
            <a:endParaRPr lang="en-US" sz="900" dirty="0"/>
          </a:p>
        </p:txBody>
      </p:sp>
      <p:sp>
        <p:nvSpPr>
          <p:cNvPr id="8" name="Text 4"/>
          <p:cNvSpPr/>
          <p:nvPr/>
        </p:nvSpPr>
        <p:spPr>
          <a:xfrm>
            <a:off x="9025128" y="7059168"/>
            <a:ext cx="1097280" cy="237744"/>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ADAFSA Agricultural Monitoring Platform — screens</dc:title>
  <dc:subject>PptxGenJS Presentation</dc:subject>
  <dc:creator>Wafra Greentech</dc:creator>
  <cp:lastModifiedBy>Wafra Greentech</cp:lastModifiedBy>
  <cp:revision>1</cp:revision>
  <dcterms:created xsi:type="dcterms:W3CDTF">2026-09-05T23:44:58Z</dcterms:created>
  <dcterms:modified xsi:type="dcterms:W3CDTF">2026-09-05T23:44:58Z</dcterms:modified>
</cp:coreProperties>
</file>