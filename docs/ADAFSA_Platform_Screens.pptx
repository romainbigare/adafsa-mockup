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0689336" cy="7562088"/>
  <p:notesSz cx="7562088" cy="10689336"/>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 — Overview
The first page. Four numbers at the top: how many farms, their total area, how much land is in production, and how many crops are growing this month. The map shows where the farms are, and the two tables below split every crop group by the land it covers and by how many farms grow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C1 — Crops and area
Shows what is planted and where. The numbers: farms with field crops, the area under them, how many different crops, and the average share of a farm. (Module 1: crop location, crop type, cultivated area.)
The screenshot shows 48%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C2 — Seasonal change
What changed since last season: net change, new land planted, land no longer planted, and how many farms started or stopped. Four tabs list those farms. (Module 1: seasonal change report.)
The screenshot shows 57%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C3 — Fallow land
Land that can be farmed but has nothing on it: how much, what share of all farm area, how many farms have some, and how many are planting less than before. (Module 1: fallow land detection.)
The screenshot shows 56%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T1 — Trees and species
Counts the trees: the total, date palms, fruit trees, forest trees, and how many palm varieties were found. Species break down under the map. (Module 2: tree location, count, species and variety.)
The screenshot shows 40%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T2 — Tree health
A health score for each farm’s trees, read from the satellite: average palm score, average fruit tree score, farms with stressed trees, and farms in the lowest band. (Module 2: canopy health index.)
The screenshot shows 49%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T3 — Annual change
Trees since last year: net change, trees planted, trees removed, and how many farms changed. Numbers, not a map — the table names the farms. (Module 2: annual change detection.)
The screenshot shows 59%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L1 — Land use
How the land is used: land mapped, open farmland, buildings and greenhouses, fallow land and bare ground. Zoom in and the map draws the real shape of each piece of land.
The screenshot shows 45%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L2 — Structures
What is built on the farms: structures found, farms with structures, area covered, and the main classes. Houses, sheds, water tanks, pens, roads, pump rooms. (Module 3: structure detection.)
The screenshot shows 38%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L3 — Change tracking
Buildings that are new and buildings that are gone: net change, new structures, structures removed, and the change in area covered. It needs two quarters of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I1 — Scores
A water score from 0 to 100 for every farm: farms scored, the average, how many keep their subsidy at 65 or more, how many need attention, and how many are in the lowest band. (Module 4: IER score, band and subsidy list.)
The screenshot shows 54%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I2 — Trend by quarter
Are the scores moving? The average score now, the change since last quarter or last year, how many farms got worse and how many improved. A line, and no map. (Module 4: quarter-on-quarter trend.)
The screenshot shows 54%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W1 — Monthly demand
Water this month: how much each farm is allowed, how much it used, how many farms use too much, and how much extra they used. (Module 6: monthly water demand and over-allocation flag.)
The screenshot shows 54%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W2 — Season budget
Water over a whole season: the total water needed, the harvest expected from it, the water for one kilo of food, and the area planted. (Module 6: seasonal water budget.)
The screenshot shows 36%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Y1 — Yield forecast
What the harvest should be: expected tonnes, crops planted, how many farms are below the average for their crop, and how many are far below it. (Module 5: seasonal yield estimate.)
The screenshot shows 36%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Y2 — Crop calendar
When each crop is in the ground: crops selected, the busiest month, the quietest month, and how many farms are planting at the busiest time.
The screenshot shows 50%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 — Farm register
The list of every farm: how many, their total area, how many need attention, and how many use too much water. Search by number or owner, sort any column, open one farm.
The screenshot shows 58%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 — Farm profile
One farm on one page: the owner, the province, land in production, the tree count, and how many things need attention. Below that: crops, trees, water score and buildings. All six modules meet here.
The screenshot shows 47%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F3 — Corrective actions
What is wrong on this farm and what to do: things to look at, and alerts that would go to the farmer. Each one is written as an action, not as a number to work out. Print it and take it to the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 — Support
Where to ask for help, and a note on what is real data and what is made up in this mockup. One page — in the old platform, more than half the menu was support and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romainbigare.github.io/adafsa-mockup"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image" Target="../media/image-26-2.jp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adafsa-mockup/.deck-work/brand.png">    </p:cNvPr>
          <p:cNvPicPr>
            <a:picLocks noChangeAspect="1"/>
          </p:cNvPicPr>
          <p:nvPr/>
        </p:nvPicPr>
        <p:blipFill>
          <a:blip r:embed="rId1"/>
          <a:stretch>
            <a:fillRect/>
          </a:stretch>
        </p:blipFill>
        <p:spPr>
          <a:xfrm>
            <a:off x="566928" y="960120"/>
            <a:ext cx="2337924" cy="841248"/>
          </a:xfrm>
          <a:prstGeom prst="rect">
            <a:avLst/>
          </a:prstGeom>
        </p:spPr>
      </p:pic>
      <p:sp>
        <p:nvSpPr>
          <p:cNvPr id="3" name="Text 0"/>
          <p:cNvSpPr/>
          <p:nvPr/>
        </p:nvSpPr>
        <p:spPr>
          <a:xfrm>
            <a:off x="566928" y="2487168"/>
            <a:ext cx="9555480" cy="868680"/>
          </a:xfrm>
          <a:prstGeom prst="rect">
            <a:avLst/>
          </a:prstGeom>
          <a:noFill/>
          <a:ln/>
        </p:spPr>
        <p:txBody>
          <a:bodyPr wrap="square" lIns="0" tIns="0" rIns="0" bIns="0" rtlCol="0" anchor="t"/>
          <a:lstStyle/>
          <a:p>
            <a:pPr indent="0" marL="0">
              <a:buNone/>
            </a:pPr>
            <a:r>
              <a:rPr lang="en-US" sz="4000" b="1" dirty="0">
                <a:solidFill>
                  <a:srgbClr val="111827"/>
                </a:solidFill>
                <a:latin typeface="Calibri" pitchFamily="34" charset="0"/>
                <a:ea typeface="Calibri" pitchFamily="34" charset="-122"/>
                <a:cs typeface="Calibri" pitchFamily="34" charset="-120"/>
              </a:rPr>
              <a:t>The platform, screen by screen</a:t>
            </a:r>
            <a:endParaRPr lang="en-US" sz="4000" dirty="0"/>
          </a:p>
        </p:txBody>
      </p:sp>
      <p:sp>
        <p:nvSpPr>
          <p:cNvPr id="4" name="Text 1"/>
          <p:cNvSpPr/>
          <p:nvPr/>
        </p:nvSpPr>
        <p:spPr>
          <a:xfrm>
            <a:off x="566928" y="3419856"/>
            <a:ext cx="3657600" cy="256032"/>
          </a:xfrm>
          <a:prstGeom prst="rect">
            <a:avLst/>
          </a:prstGeom>
          <a:noFill/>
          <a:ln/>
        </p:spPr>
        <p:txBody>
          <a:bodyPr wrap="square" lIns="0" tIns="0" rIns="0" bIns="0" rtlCol="0" anchor="ctr"/>
          <a:lstStyle/>
          <a:p>
            <a:pPr indent="0" marL="0">
              <a:buNone/>
            </a:pPr>
            <a:r>
              <a:rPr lang="en-US" sz="1100" b="1" spc="160" kern="0" dirty="0">
                <a:solidFill>
                  <a:srgbClr val="9CA3AF"/>
                </a:solidFill>
                <a:latin typeface="Calibri" pitchFamily="34" charset="0"/>
                <a:ea typeface="Calibri" pitchFamily="34" charset="-122"/>
                <a:cs typeface="Calibri" pitchFamily="34" charset="-120"/>
              </a:rPr>
              <a:t>VERSION 0.0.2</a:t>
            </a:r>
            <a:endParaRPr lang="en-US" sz="1100" dirty="0"/>
          </a:p>
        </p:txBody>
      </p:sp>
      <p:sp>
        <p:nvSpPr>
          <p:cNvPr id="5" name="Text 2"/>
          <p:cNvSpPr/>
          <p:nvPr/>
        </p:nvSpPr>
        <p:spPr>
          <a:xfrm>
            <a:off x="5669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20</a:t>
            </a:r>
            <a:endParaRPr lang="en-US" sz="5000" dirty="0"/>
          </a:p>
        </p:txBody>
      </p:sp>
      <p:sp>
        <p:nvSpPr>
          <p:cNvPr id="6" name="Text 3"/>
          <p:cNvSpPr/>
          <p:nvPr/>
        </p:nvSpPr>
        <p:spPr>
          <a:xfrm>
            <a:off x="5669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SCREENS</a:t>
            </a:r>
            <a:endParaRPr lang="en-US" sz="1100" dirty="0"/>
          </a:p>
        </p:txBody>
      </p:sp>
      <p:sp>
        <p:nvSpPr>
          <p:cNvPr id="7" name="Text 4"/>
          <p:cNvSpPr/>
          <p:nvPr/>
        </p:nvSpPr>
        <p:spPr>
          <a:xfrm>
            <a:off x="30815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9</a:t>
            </a:r>
            <a:endParaRPr lang="en-US" sz="5000" dirty="0"/>
          </a:p>
        </p:txBody>
      </p:sp>
      <p:sp>
        <p:nvSpPr>
          <p:cNvPr id="8" name="Text 5"/>
          <p:cNvSpPr/>
          <p:nvPr/>
        </p:nvSpPr>
        <p:spPr>
          <a:xfrm>
            <a:off x="30815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SECTIONS</a:t>
            </a:r>
            <a:endParaRPr lang="en-US" sz="1100" dirty="0"/>
          </a:p>
        </p:txBody>
      </p:sp>
      <p:sp>
        <p:nvSpPr>
          <p:cNvPr id="9" name="Text 6"/>
          <p:cNvSpPr/>
          <p:nvPr/>
        </p:nvSpPr>
        <p:spPr>
          <a:xfrm>
            <a:off x="55961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32</a:t>
            </a:r>
            <a:endParaRPr lang="en-US" sz="5000" dirty="0"/>
          </a:p>
        </p:txBody>
      </p:sp>
      <p:sp>
        <p:nvSpPr>
          <p:cNvPr id="10" name="Text 7"/>
          <p:cNvSpPr/>
          <p:nvPr/>
        </p:nvSpPr>
        <p:spPr>
          <a:xfrm>
            <a:off x="55961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PAGES</a:t>
            </a:r>
            <a:endParaRPr lang="en-US" sz="1100" dirty="0"/>
          </a:p>
        </p:txBody>
      </p:sp>
      <p:pic>
        <p:nvPicPr>
          <p:cNvPr id="11" name="Image 1" descr="/home/user/adafsa-mockup/assets/brand/wafra-logo.png">    </p:cNvPr>
          <p:cNvPicPr>
            <a:picLocks noChangeAspect="1"/>
          </p:cNvPicPr>
          <p:nvPr/>
        </p:nvPicPr>
        <p:blipFill>
          <a:blip r:embed="rId2"/>
          <a:stretch>
            <a:fillRect/>
          </a:stretch>
        </p:blipFill>
        <p:spPr>
          <a:xfrm>
            <a:off x="8522208" y="6144768"/>
            <a:ext cx="1600200" cy="511602"/>
          </a:xfrm>
          <a:prstGeom prst="rect">
            <a:avLst/>
          </a:prstGeom>
        </p:spPr>
      </p:pic>
      <p:sp>
        <p:nvSpPr>
          <p:cNvPr id="12" name="Text 8"/>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3" name="Text 9"/>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157984"/>
            <a:ext cx="8778240" cy="292608"/>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AN INTERACTIVE MOCKUP IS AVAILABLE</a:t>
            </a:r>
            <a:endParaRPr lang="en-US" sz="1200" dirty="0"/>
          </a:p>
        </p:txBody>
      </p:sp>
      <p:sp>
        <p:nvSpPr>
          <p:cNvPr id="3" name="Text 1"/>
          <p:cNvSpPr/>
          <p:nvPr/>
        </p:nvSpPr>
        <p:spPr>
          <a:xfrm>
            <a:off x="566928" y="2615184"/>
            <a:ext cx="9555480" cy="658368"/>
          </a:xfrm>
          <a:prstGeom prst="rect">
            <a:avLst/>
          </a:prstGeom>
          <a:noFill/>
          <a:ln/>
        </p:spPr>
        <p:txBody>
          <a:bodyPr wrap="square" lIns="0" tIns="0" rIns="0" bIns="0" rtlCol="0" anchor="t"/>
          <a:lstStyle/>
          <a:p>
            <a:pPr indent="0" marL="0">
              <a:buNone/>
            </a:pPr>
            <a:r>
              <a:rPr lang="en-US" sz="2700" b="1" dirty="0">
                <a:solidFill>
                  <a:srgbClr val="FFFFFF"/>
                </a:solidFill>
                <a:latin typeface="Calibri" pitchFamily="34" charset="0"/>
                <a:ea typeface="Calibri" pitchFamily="34" charset="-122"/>
                <a:cs typeface="Calibri" pitchFamily="34" charset="-120"/>
              </a:rPr>
              <a:t>This mockup exists as an interactive website</a:t>
            </a:r>
            <a:endParaRPr lang="en-US" sz="2700" dirty="0"/>
          </a:p>
        </p:txBody>
      </p:sp>
      <p:sp>
        <p:nvSpPr>
          <p:cNvPr id="4" name="Text 2">
            <a:hlinkClick r:id="rId1" tooltip="Open the live mockup"/>
          </p:cNvPr>
          <p:cNvSpPr/>
          <p:nvPr/>
        </p:nvSpPr>
        <p:spPr>
          <a:xfrm>
            <a:off x="566928" y="3602736"/>
            <a:ext cx="9555480" cy="786384"/>
          </a:xfrm>
          <a:prstGeom prst="rect">
            <a:avLst/>
          </a:prstGeom>
          <a:noFill/>
          <a:ln/>
        </p:spPr>
        <p:txBody>
          <a:bodyPr wrap="square" lIns="0" tIns="0" rIns="0" bIns="0" rtlCol="0" anchor="t"/>
          <a:lstStyle/>
          <a:p>
            <a:pPr indent="0" marL="0">
              <a:buNone/>
            </a:pPr>
            <a:r>
              <a:rPr lang="en-US" sz="3000" b="1" u="sng" dirty="0">
                <a:solidFill>
                  <a:srgbClr val="BBF7D0"/>
                </a:solidFill>
                <a:latin typeface="Calibri" pitchFamily="34" charset="0"/>
                <a:ea typeface="Calibri" pitchFamily="34" charset="-122"/>
                <a:cs typeface="Calibri" pitchFamily="34" charset="-120"/>
                <a:hlinkClick r:id="rId1" invalidUrl="" action="" tgtFrame="" tooltip="Open the live mockup" history="1" highlightClick="0" endSnd="0">
                  <a:extLst>
                    <a:ext uri="{A12FA001-AC4F-418D-AE19-62706E023703}">
                      <ahyp:hlinkClr xmlns:ahyp="http://schemas.microsoft.com/office/drawing/2018/hyperlinkcolor" val="tx"/>
                    </a:ext>
                  </a:extLst>
                </a:hlinkClick>
              </a:rPr>
              <a:t>romainbigare.github.io/adafsa-mockup</a:t>
            </a:r>
            <a:endParaRPr lang="en-US" sz="3000" dirty="0"/>
          </a:p>
        </p:txBody>
      </p:sp>
      <p:sp>
        <p:nvSpPr>
          <p:cNvPr id="5" name="Text 3"/>
          <p:cNvSpPr/>
          <p:nvPr/>
        </p:nvSpPr>
        <p:spPr>
          <a:xfrm>
            <a:off x="566928" y="4590288"/>
            <a:ext cx="6949440" cy="548640"/>
          </a:xfrm>
          <a:prstGeom prst="rect">
            <a:avLst/>
          </a:prstGeom>
          <a:noFill/>
          <a:ln/>
        </p:spPr>
        <p:txBody>
          <a:bodyPr wrap="square" lIns="0" tIns="0" rIns="0" bIns="0" rtlCol="0" anchor="ctr"/>
          <a:lstStyle/>
          <a:p>
            <a:pPr indent="0" marL="0">
              <a:lnSpc>
                <a:spcPts val="1800"/>
              </a:lnSpc>
              <a:buNone/>
            </a:pPr>
            <a:r>
              <a:rPr lang="en-US" sz="1300" dirty="0">
                <a:solidFill>
                  <a:srgbClr val="BBF7D0"/>
                </a:solidFill>
                <a:latin typeface="Calibri" pitchFamily="34" charset="0"/>
                <a:ea typeface="Calibri" pitchFamily="34" charset="-122"/>
                <a:cs typeface="Calibri" pitchFamily="34" charset="-120"/>
              </a:rPr>
              <a:t>Every screen in this deck is a screenshot of the live, interactive mockup available at the url above.</a:t>
            </a:r>
            <a:endParaRPr lang="en-US" sz="1300" dirty="0"/>
          </a:p>
        </p:txBody>
      </p:sp>
      <p:sp>
        <p:nvSpPr>
          <p:cNvPr id="6" name="Text 4"/>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7" name="Text 5"/>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66928"/>
            <a:ext cx="54864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Contents</a:t>
            </a:r>
            <a:endParaRPr lang="en-US" sz="2400" dirty="0"/>
          </a:p>
        </p:txBody>
      </p:sp>
      <p:sp>
        <p:nvSpPr>
          <p:cNvPr id="3" name="Text 1"/>
          <p:cNvSpPr/>
          <p:nvPr/>
        </p:nvSpPr>
        <p:spPr>
          <a:xfrm>
            <a:off x="56692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OVERVIEW</a:t>
            </a:r>
            <a:endParaRPr lang="en-US" sz="800" dirty="0"/>
          </a:p>
        </p:txBody>
      </p:sp>
      <p:sp>
        <p:nvSpPr>
          <p:cNvPr id="4" name="Text 2"/>
          <p:cNvSpPr/>
          <p:nvPr/>
        </p:nvSpPr>
        <p:spPr>
          <a:xfrm>
            <a:off x="56692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OV</a:t>
            </a:r>
            <a:endParaRPr lang="en-US" sz="850" dirty="0"/>
          </a:p>
        </p:txBody>
      </p:sp>
      <p:sp>
        <p:nvSpPr>
          <p:cNvPr id="5" name="Text 3"/>
          <p:cNvSpPr/>
          <p:nvPr/>
        </p:nvSpPr>
        <p:spPr>
          <a:xfrm>
            <a:off x="96926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Overview</a:t>
            </a:r>
            <a:endParaRPr lang="en-US" sz="850" dirty="0"/>
          </a:p>
        </p:txBody>
      </p:sp>
      <p:sp>
        <p:nvSpPr>
          <p:cNvPr id="6" name="Text 4"/>
          <p:cNvSpPr/>
          <p:nvPr/>
        </p:nvSpPr>
        <p:spPr>
          <a:xfrm>
            <a:off x="311200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5</a:t>
            </a:r>
            <a:endParaRPr lang="en-US" sz="850" dirty="0"/>
          </a:p>
        </p:txBody>
      </p:sp>
      <p:sp>
        <p:nvSpPr>
          <p:cNvPr id="7" name="Text 5"/>
          <p:cNvSpPr/>
          <p:nvPr/>
        </p:nvSpPr>
        <p:spPr>
          <a:xfrm>
            <a:off x="566928" y="1746504"/>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CROP MONITORING</a:t>
            </a:r>
            <a:endParaRPr lang="en-US" sz="800" dirty="0"/>
          </a:p>
        </p:txBody>
      </p:sp>
      <p:sp>
        <p:nvSpPr>
          <p:cNvPr id="8" name="Text 6"/>
          <p:cNvSpPr/>
          <p:nvPr/>
        </p:nvSpPr>
        <p:spPr>
          <a:xfrm>
            <a:off x="566928" y="192481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C1</a:t>
            </a:r>
            <a:endParaRPr lang="en-US" sz="850" dirty="0"/>
          </a:p>
        </p:txBody>
      </p:sp>
      <p:sp>
        <p:nvSpPr>
          <p:cNvPr id="9" name="Text 7"/>
          <p:cNvSpPr/>
          <p:nvPr/>
        </p:nvSpPr>
        <p:spPr>
          <a:xfrm>
            <a:off x="969264" y="192481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Crops and area</a:t>
            </a:r>
            <a:endParaRPr lang="en-US" sz="850" dirty="0"/>
          </a:p>
        </p:txBody>
      </p:sp>
      <p:sp>
        <p:nvSpPr>
          <p:cNvPr id="10" name="Text 8"/>
          <p:cNvSpPr/>
          <p:nvPr/>
        </p:nvSpPr>
        <p:spPr>
          <a:xfrm>
            <a:off x="3112008" y="192481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7</a:t>
            </a:r>
            <a:endParaRPr lang="en-US" sz="850" dirty="0"/>
          </a:p>
        </p:txBody>
      </p:sp>
      <p:sp>
        <p:nvSpPr>
          <p:cNvPr id="11" name="Text 9"/>
          <p:cNvSpPr/>
          <p:nvPr/>
        </p:nvSpPr>
        <p:spPr>
          <a:xfrm>
            <a:off x="566928" y="213969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C2</a:t>
            </a:r>
            <a:endParaRPr lang="en-US" sz="850" dirty="0"/>
          </a:p>
        </p:txBody>
      </p:sp>
      <p:sp>
        <p:nvSpPr>
          <p:cNvPr id="12" name="Text 10"/>
          <p:cNvSpPr/>
          <p:nvPr/>
        </p:nvSpPr>
        <p:spPr>
          <a:xfrm>
            <a:off x="969264" y="213969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Seasonal change</a:t>
            </a:r>
            <a:endParaRPr lang="en-US" sz="850" dirty="0"/>
          </a:p>
        </p:txBody>
      </p:sp>
      <p:sp>
        <p:nvSpPr>
          <p:cNvPr id="13" name="Text 11"/>
          <p:cNvSpPr/>
          <p:nvPr/>
        </p:nvSpPr>
        <p:spPr>
          <a:xfrm>
            <a:off x="3112008" y="213969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8</a:t>
            </a:r>
            <a:endParaRPr lang="en-US" sz="850" dirty="0"/>
          </a:p>
        </p:txBody>
      </p:sp>
      <p:sp>
        <p:nvSpPr>
          <p:cNvPr id="14" name="Text 12"/>
          <p:cNvSpPr/>
          <p:nvPr/>
        </p:nvSpPr>
        <p:spPr>
          <a:xfrm>
            <a:off x="56692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C3</a:t>
            </a:r>
            <a:endParaRPr lang="en-US" sz="850" dirty="0"/>
          </a:p>
        </p:txBody>
      </p:sp>
      <p:sp>
        <p:nvSpPr>
          <p:cNvPr id="15" name="Text 13"/>
          <p:cNvSpPr/>
          <p:nvPr/>
        </p:nvSpPr>
        <p:spPr>
          <a:xfrm>
            <a:off x="96926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Fallow land</a:t>
            </a:r>
            <a:endParaRPr lang="en-US" sz="850" dirty="0"/>
          </a:p>
        </p:txBody>
      </p:sp>
      <p:sp>
        <p:nvSpPr>
          <p:cNvPr id="16" name="Text 14"/>
          <p:cNvSpPr/>
          <p:nvPr/>
        </p:nvSpPr>
        <p:spPr>
          <a:xfrm>
            <a:off x="311200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9</a:t>
            </a:r>
            <a:endParaRPr lang="en-US" sz="850" dirty="0"/>
          </a:p>
        </p:txBody>
      </p:sp>
      <p:sp>
        <p:nvSpPr>
          <p:cNvPr id="17" name="Text 15"/>
          <p:cNvSpPr/>
          <p:nvPr/>
        </p:nvSpPr>
        <p:spPr>
          <a:xfrm>
            <a:off x="566928" y="2606040"/>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TREE MONITORING</a:t>
            </a:r>
            <a:endParaRPr lang="en-US" sz="800" dirty="0"/>
          </a:p>
        </p:txBody>
      </p:sp>
      <p:sp>
        <p:nvSpPr>
          <p:cNvPr id="18" name="Text 16"/>
          <p:cNvSpPr/>
          <p:nvPr/>
        </p:nvSpPr>
        <p:spPr>
          <a:xfrm>
            <a:off x="566928" y="278434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T1</a:t>
            </a:r>
            <a:endParaRPr lang="en-US" sz="850" dirty="0"/>
          </a:p>
        </p:txBody>
      </p:sp>
      <p:sp>
        <p:nvSpPr>
          <p:cNvPr id="19" name="Text 17"/>
          <p:cNvSpPr/>
          <p:nvPr/>
        </p:nvSpPr>
        <p:spPr>
          <a:xfrm>
            <a:off x="969264" y="278434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Trees and species</a:t>
            </a:r>
            <a:endParaRPr lang="en-US" sz="850" dirty="0"/>
          </a:p>
        </p:txBody>
      </p:sp>
      <p:sp>
        <p:nvSpPr>
          <p:cNvPr id="20" name="Text 18"/>
          <p:cNvSpPr/>
          <p:nvPr/>
        </p:nvSpPr>
        <p:spPr>
          <a:xfrm>
            <a:off x="3112008" y="278434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11</a:t>
            </a:r>
            <a:endParaRPr lang="en-US" sz="850" dirty="0"/>
          </a:p>
        </p:txBody>
      </p:sp>
      <p:sp>
        <p:nvSpPr>
          <p:cNvPr id="21" name="Text 19"/>
          <p:cNvSpPr/>
          <p:nvPr/>
        </p:nvSpPr>
        <p:spPr>
          <a:xfrm>
            <a:off x="566928" y="299923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T2</a:t>
            </a:r>
            <a:endParaRPr lang="en-US" sz="850" dirty="0"/>
          </a:p>
        </p:txBody>
      </p:sp>
      <p:sp>
        <p:nvSpPr>
          <p:cNvPr id="22" name="Text 20"/>
          <p:cNvSpPr/>
          <p:nvPr/>
        </p:nvSpPr>
        <p:spPr>
          <a:xfrm>
            <a:off x="969264" y="299923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Tree health</a:t>
            </a:r>
            <a:endParaRPr lang="en-US" sz="850" dirty="0"/>
          </a:p>
        </p:txBody>
      </p:sp>
      <p:sp>
        <p:nvSpPr>
          <p:cNvPr id="23" name="Text 21"/>
          <p:cNvSpPr/>
          <p:nvPr/>
        </p:nvSpPr>
        <p:spPr>
          <a:xfrm>
            <a:off x="3112008" y="299923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12</a:t>
            </a:r>
            <a:endParaRPr lang="en-US" sz="850" dirty="0"/>
          </a:p>
        </p:txBody>
      </p:sp>
      <p:sp>
        <p:nvSpPr>
          <p:cNvPr id="24" name="Text 22"/>
          <p:cNvSpPr/>
          <p:nvPr/>
        </p:nvSpPr>
        <p:spPr>
          <a:xfrm>
            <a:off x="566928" y="321411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T3</a:t>
            </a:r>
            <a:endParaRPr lang="en-US" sz="850" dirty="0"/>
          </a:p>
        </p:txBody>
      </p:sp>
      <p:sp>
        <p:nvSpPr>
          <p:cNvPr id="25" name="Text 23"/>
          <p:cNvSpPr/>
          <p:nvPr/>
        </p:nvSpPr>
        <p:spPr>
          <a:xfrm>
            <a:off x="969264" y="321411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Annual change</a:t>
            </a:r>
            <a:endParaRPr lang="en-US" sz="850" dirty="0"/>
          </a:p>
        </p:txBody>
      </p:sp>
      <p:sp>
        <p:nvSpPr>
          <p:cNvPr id="26" name="Text 24"/>
          <p:cNvSpPr/>
          <p:nvPr/>
        </p:nvSpPr>
        <p:spPr>
          <a:xfrm>
            <a:off x="3112008" y="321411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13</a:t>
            </a:r>
            <a:endParaRPr lang="en-US" sz="850" dirty="0"/>
          </a:p>
        </p:txBody>
      </p:sp>
      <p:sp>
        <p:nvSpPr>
          <p:cNvPr id="27" name="Text 25"/>
          <p:cNvSpPr/>
          <p:nvPr/>
        </p:nvSpPr>
        <p:spPr>
          <a:xfrm>
            <a:off x="388924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LAND USE &amp; STRUCTURES</a:t>
            </a:r>
            <a:endParaRPr lang="en-US" sz="800" dirty="0"/>
          </a:p>
        </p:txBody>
      </p:sp>
      <p:sp>
        <p:nvSpPr>
          <p:cNvPr id="28" name="Text 26"/>
          <p:cNvSpPr/>
          <p:nvPr/>
        </p:nvSpPr>
        <p:spPr>
          <a:xfrm>
            <a:off x="388924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L1</a:t>
            </a:r>
            <a:endParaRPr lang="en-US" sz="850" dirty="0"/>
          </a:p>
        </p:txBody>
      </p:sp>
      <p:sp>
        <p:nvSpPr>
          <p:cNvPr id="29" name="Text 27"/>
          <p:cNvSpPr/>
          <p:nvPr/>
        </p:nvSpPr>
        <p:spPr>
          <a:xfrm>
            <a:off x="429158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Land use</a:t>
            </a:r>
            <a:endParaRPr lang="en-US" sz="850" dirty="0"/>
          </a:p>
        </p:txBody>
      </p:sp>
      <p:sp>
        <p:nvSpPr>
          <p:cNvPr id="30" name="Text 28"/>
          <p:cNvSpPr/>
          <p:nvPr/>
        </p:nvSpPr>
        <p:spPr>
          <a:xfrm>
            <a:off x="643432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15</a:t>
            </a:r>
            <a:endParaRPr lang="en-US" sz="850" dirty="0"/>
          </a:p>
        </p:txBody>
      </p:sp>
      <p:sp>
        <p:nvSpPr>
          <p:cNvPr id="31" name="Text 29"/>
          <p:cNvSpPr/>
          <p:nvPr/>
        </p:nvSpPr>
        <p:spPr>
          <a:xfrm>
            <a:off x="3889248" y="170992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L2</a:t>
            </a:r>
            <a:endParaRPr lang="en-US" sz="850" dirty="0"/>
          </a:p>
        </p:txBody>
      </p:sp>
      <p:sp>
        <p:nvSpPr>
          <p:cNvPr id="32" name="Text 30"/>
          <p:cNvSpPr/>
          <p:nvPr/>
        </p:nvSpPr>
        <p:spPr>
          <a:xfrm>
            <a:off x="4291584" y="170992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Structures</a:t>
            </a:r>
            <a:endParaRPr lang="en-US" sz="850" dirty="0"/>
          </a:p>
        </p:txBody>
      </p:sp>
      <p:sp>
        <p:nvSpPr>
          <p:cNvPr id="33" name="Text 31"/>
          <p:cNvSpPr/>
          <p:nvPr/>
        </p:nvSpPr>
        <p:spPr>
          <a:xfrm>
            <a:off x="6434328" y="170992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16</a:t>
            </a:r>
            <a:endParaRPr lang="en-US" sz="850" dirty="0"/>
          </a:p>
        </p:txBody>
      </p:sp>
      <p:sp>
        <p:nvSpPr>
          <p:cNvPr id="34" name="Text 32"/>
          <p:cNvSpPr/>
          <p:nvPr/>
        </p:nvSpPr>
        <p:spPr>
          <a:xfrm>
            <a:off x="3889248" y="192481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L3</a:t>
            </a:r>
            <a:endParaRPr lang="en-US" sz="850" dirty="0"/>
          </a:p>
        </p:txBody>
      </p:sp>
      <p:sp>
        <p:nvSpPr>
          <p:cNvPr id="35" name="Text 33"/>
          <p:cNvSpPr/>
          <p:nvPr/>
        </p:nvSpPr>
        <p:spPr>
          <a:xfrm>
            <a:off x="4291584" y="192481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Change tracking</a:t>
            </a:r>
            <a:endParaRPr lang="en-US" sz="850" dirty="0"/>
          </a:p>
        </p:txBody>
      </p:sp>
      <p:sp>
        <p:nvSpPr>
          <p:cNvPr id="36" name="Text 34"/>
          <p:cNvSpPr/>
          <p:nvPr/>
        </p:nvSpPr>
        <p:spPr>
          <a:xfrm>
            <a:off x="6434328" y="192481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17</a:t>
            </a:r>
            <a:endParaRPr lang="en-US" sz="850" dirty="0"/>
          </a:p>
        </p:txBody>
      </p:sp>
      <p:sp>
        <p:nvSpPr>
          <p:cNvPr id="37" name="Text 35"/>
          <p:cNvSpPr/>
          <p:nvPr/>
        </p:nvSpPr>
        <p:spPr>
          <a:xfrm>
            <a:off x="3889248" y="2176272"/>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IRRIGATION EFFICIENCY</a:t>
            </a:r>
            <a:endParaRPr lang="en-US" sz="800" dirty="0"/>
          </a:p>
        </p:txBody>
      </p:sp>
      <p:sp>
        <p:nvSpPr>
          <p:cNvPr id="38" name="Text 36"/>
          <p:cNvSpPr/>
          <p:nvPr/>
        </p:nvSpPr>
        <p:spPr>
          <a:xfrm>
            <a:off x="388924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I1</a:t>
            </a:r>
            <a:endParaRPr lang="en-US" sz="850" dirty="0"/>
          </a:p>
        </p:txBody>
      </p:sp>
      <p:sp>
        <p:nvSpPr>
          <p:cNvPr id="39" name="Text 37"/>
          <p:cNvSpPr/>
          <p:nvPr/>
        </p:nvSpPr>
        <p:spPr>
          <a:xfrm>
            <a:off x="429158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Scores</a:t>
            </a:r>
            <a:endParaRPr lang="en-US" sz="850" dirty="0"/>
          </a:p>
        </p:txBody>
      </p:sp>
      <p:sp>
        <p:nvSpPr>
          <p:cNvPr id="40" name="Text 38"/>
          <p:cNvSpPr/>
          <p:nvPr/>
        </p:nvSpPr>
        <p:spPr>
          <a:xfrm>
            <a:off x="643432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19</a:t>
            </a:r>
            <a:endParaRPr lang="en-US" sz="850" dirty="0"/>
          </a:p>
        </p:txBody>
      </p:sp>
      <p:sp>
        <p:nvSpPr>
          <p:cNvPr id="41" name="Text 39"/>
          <p:cNvSpPr/>
          <p:nvPr/>
        </p:nvSpPr>
        <p:spPr>
          <a:xfrm>
            <a:off x="3889248" y="256946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I2</a:t>
            </a:r>
            <a:endParaRPr lang="en-US" sz="850" dirty="0"/>
          </a:p>
        </p:txBody>
      </p:sp>
      <p:sp>
        <p:nvSpPr>
          <p:cNvPr id="42" name="Text 40"/>
          <p:cNvSpPr/>
          <p:nvPr/>
        </p:nvSpPr>
        <p:spPr>
          <a:xfrm>
            <a:off x="4291584" y="256946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Trend by quarter</a:t>
            </a:r>
            <a:endParaRPr lang="en-US" sz="850" dirty="0"/>
          </a:p>
        </p:txBody>
      </p:sp>
      <p:sp>
        <p:nvSpPr>
          <p:cNvPr id="43" name="Text 41"/>
          <p:cNvSpPr/>
          <p:nvPr/>
        </p:nvSpPr>
        <p:spPr>
          <a:xfrm>
            <a:off x="6434328" y="256946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20</a:t>
            </a:r>
            <a:endParaRPr lang="en-US" sz="850" dirty="0"/>
          </a:p>
        </p:txBody>
      </p:sp>
      <p:sp>
        <p:nvSpPr>
          <p:cNvPr id="44" name="Text 42"/>
          <p:cNvSpPr/>
          <p:nvPr/>
        </p:nvSpPr>
        <p:spPr>
          <a:xfrm>
            <a:off x="3889248" y="2820924"/>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CROP WATER CALCULATOR</a:t>
            </a:r>
            <a:endParaRPr lang="en-US" sz="800" dirty="0"/>
          </a:p>
        </p:txBody>
      </p:sp>
      <p:sp>
        <p:nvSpPr>
          <p:cNvPr id="45" name="Text 43"/>
          <p:cNvSpPr/>
          <p:nvPr/>
        </p:nvSpPr>
        <p:spPr>
          <a:xfrm>
            <a:off x="3889248" y="299923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W1</a:t>
            </a:r>
            <a:endParaRPr lang="en-US" sz="850" dirty="0"/>
          </a:p>
        </p:txBody>
      </p:sp>
      <p:sp>
        <p:nvSpPr>
          <p:cNvPr id="46" name="Text 44"/>
          <p:cNvSpPr/>
          <p:nvPr/>
        </p:nvSpPr>
        <p:spPr>
          <a:xfrm>
            <a:off x="4291584" y="299923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Monthly demand</a:t>
            </a:r>
            <a:endParaRPr lang="en-US" sz="850" dirty="0"/>
          </a:p>
        </p:txBody>
      </p:sp>
      <p:sp>
        <p:nvSpPr>
          <p:cNvPr id="47" name="Text 45"/>
          <p:cNvSpPr/>
          <p:nvPr/>
        </p:nvSpPr>
        <p:spPr>
          <a:xfrm>
            <a:off x="6434328" y="299923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22</a:t>
            </a:r>
            <a:endParaRPr lang="en-US" sz="850" dirty="0"/>
          </a:p>
        </p:txBody>
      </p:sp>
      <p:sp>
        <p:nvSpPr>
          <p:cNvPr id="48" name="Text 46"/>
          <p:cNvSpPr/>
          <p:nvPr/>
        </p:nvSpPr>
        <p:spPr>
          <a:xfrm>
            <a:off x="3889248" y="321411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W2</a:t>
            </a:r>
            <a:endParaRPr lang="en-US" sz="850" dirty="0"/>
          </a:p>
        </p:txBody>
      </p:sp>
      <p:sp>
        <p:nvSpPr>
          <p:cNvPr id="49" name="Text 47"/>
          <p:cNvSpPr/>
          <p:nvPr/>
        </p:nvSpPr>
        <p:spPr>
          <a:xfrm>
            <a:off x="4291584" y="321411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Season budget</a:t>
            </a:r>
            <a:endParaRPr lang="en-US" sz="850" dirty="0"/>
          </a:p>
        </p:txBody>
      </p:sp>
      <p:sp>
        <p:nvSpPr>
          <p:cNvPr id="50" name="Text 48"/>
          <p:cNvSpPr/>
          <p:nvPr/>
        </p:nvSpPr>
        <p:spPr>
          <a:xfrm>
            <a:off x="6434328" y="321411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23</a:t>
            </a:r>
            <a:endParaRPr lang="en-US" sz="850" dirty="0"/>
          </a:p>
        </p:txBody>
      </p:sp>
      <p:sp>
        <p:nvSpPr>
          <p:cNvPr id="51" name="Text 49"/>
          <p:cNvSpPr/>
          <p:nvPr/>
        </p:nvSpPr>
        <p:spPr>
          <a:xfrm>
            <a:off x="721156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YIELD OPTIMISATION</a:t>
            </a:r>
            <a:endParaRPr lang="en-US" sz="800" dirty="0"/>
          </a:p>
        </p:txBody>
      </p:sp>
      <p:sp>
        <p:nvSpPr>
          <p:cNvPr id="52" name="Text 50"/>
          <p:cNvSpPr/>
          <p:nvPr/>
        </p:nvSpPr>
        <p:spPr>
          <a:xfrm>
            <a:off x="721156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Y1</a:t>
            </a:r>
            <a:endParaRPr lang="en-US" sz="850" dirty="0"/>
          </a:p>
        </p:txBody>
      </p:sp>
      <p:sp>
        <p:nvSpPr>
          <p:cNvPr id="53" name="Text 51"/>
          <p:cNvSpPr/>
          <p:nvPr/>
        </p:nvSpPr>
        <p:spPr>
          <a:xfrm>
            <a:off x="761390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Yield forecast</a:t>
            </a:r>
            <a:endParaRPr lang="en-US" sz="850" dirty="0"/>
          </a:p>
        </p:txBody>
      </p:sp>
      <p:sp>
        <p:nvSpPr>
          <p:cNvPr id="54" name="Text 52"/>
          <p:cNvSpPr/>
          <p:nvPr/>
        </p:nvSpPr>
        <p:spPr>
          <a:xfrm>
            <a:off x="975664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25</a:t>
            </a:r>
            <a:endParaRPr lang="en-US" sz="850" dirty="0"/>
          </a:p>
        </p:txBody>
      </p:sp>
      <p:sp>
        <p:nvSpPr>
          <p:cNvPr id="55" name="Text 53"/>
          <p:cNvSpPr/>
          <p:nvPr/>
        </p:nvSpPr>
        <p:spPr>
          <a:xfrm>
            <a:off x="7211568" y="170992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Y2</a:t>
            </a:r>
            <a:endParaRPr lang="en-US" sz="850" dirty="0"/>
          </a:p>
        </p:txBody>
      </p:sp>
      <p:sp>
        <p:nvSpPr>
          <p:cNvPr id="56" name="Text 54"/>
          <p:cNvSpPr/>
          <p:nvPr/>
        </p:nvSpPr>
        <p:spPr>
          <a:xfrm>
            <a:off x="7613904" y="170992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Crop calendar</a:t>
            </a:r>
            <a:endParaRPr lang="en-US" sz="850" dirty="0"/>
          </a:p>
        </p:txBody>
      </p:sp>
      <p:sp>
        <p:nvSpPr>
          <p:cNvPr id="57" name="Text 55"/>
          <p:cNvSpPr/>
          <p:nvPr/>
        </p:nvSpPr>
        <p:spPr>
          <a:xfrm>
            <a:off x="9756648" y="170992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26</a:t>
            </a:r>
            <a:endParaRPr lang="en-US" sz="850" dirty="0"/>
          </a:p>
        </p:txBody>
      </p:sp>
      <p:sp>
        <p:nvSpPr>
          <p:cNvPr id="58" name="Text 56"/>
          <p:cNvSpPr/>
          <p:nvPr/>
        </p:nvSpPr>
        <p:spPr>
          <a:xfrm>
            <a:off x="7211568" y="1961388"/>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INDIVIDUAL FARMS</a:t>
            </a:r>
            <a:endParaRPr lang="en-US" sz="800" dirty="0"/>
          </a:p>
        </p:txBody>
      </p:sp>
      <p:sp>
        <p:nvSpPr>
          <p:cNvPr id="59" name="Text 57"/>
          <p:cNvSpPr/>
          <p:nvPr/>
        </p:nvSpPr>
        <p:spPr>
          <a:xfrm>
            <a:off x="7211568" y="213969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F1</a:t>
            </a:r>
            <a:endParaRPr lang="en-US" sz="850" dirty="0"/>
          </a:p>
        </p:txBody>
      </p:sp>
      <p:sp>
        <p:nvSpPr>
          <p:cNvPr id="60" name="Text 58"/>
          <p:cNvSpPr/>
          <p:nvPr/>
        </p:nvSpPr>
        <p:spPr>
          <a:xfrm>
            <a:off x="7613904" y="213969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Farm register</a:t>
            </a:r>
            <a:endParaRPr lang="en-US" sz="850" dirty="0"/>
          </a:p>
        </p:txBody>
      </p:sp>
      <p:sp>
        <p:nvSpPr>
          <p:cNvPr id="61" name="Text 59"/>
          <p:cNvSpPr/>
          <p:nvPr/>
        </p:nvSpPr>
        <p:spPr>
          <a:xfrm>
            <a:off x="9756648" y="213969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28</a:t>
            </a:r>
            <a:endParaRPr lang="en-US" sz="850" dirty="0"/>
          </a:p>
        </p:txBody>
      </p:sp>
      <p:sp>
        <p:nvSpPr>
          <p:cNvPr id="62" name="Text 60"/>
          <p:cNvSpPr/>
          <p:nvPr/>
        </p:nvSpPr>
        <p:spPr>
          <a:xfrm>
            <a:off x="721156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F2</a:t>
            </a:r>
            <a:endParaRPr lang="en-US" sz="850" dirty="0"/>
          </a:p>
        </p:txBody>
      </p:sp>
      <p:sp>
        <p:nvSpPr>
          <p:cNvPr id="63" name="Text 61"/>
          <p:cNvSpPr/>
          <p:nvPr/>
        </p:nvSpPr>
        <p:spPr>
          <a:xfrm>
            <a:off x="761390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Farm profile</a:t>
            </a:r>
            <a:endParaRPr lang="en-US" sz="850" dirty="0"/>
          </a:p>
        </p:txBody>
      </p:sp>
      <p:sp>
        <p:nvSpPr>
          <p:cNvPr id="64" name="Text 62"/>
          <p:cNvSpPr/>
          <p:nvPr/>
        </p:nvSpPr>
        <p:spPr>
          <a:xfrm>
            <a:off x="975664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29</a:t>
            </a:r>
            <a:endParaRPr lang="en-US" sz="850" dirty="0"/>
          </a:p>
        </p:txBody>
      </p:sp>
      <p:sp>
        <p:nvSpPr>
          <p:cNvPr id="65" name="Text 63"/>
          <p:cNvSpPr/>
          <p:nvPr/>
        </p:nvSpPr>
        <p:spPr>
          <a:xfrm>
            <a:off x="7211568" y="256946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F3</a:t>
            </a:r>
            <a:endParaRPr lang="en-US" sz="850" dirty="0"/>
          </a:p>
        </p:txBody>
      </p:sp>
      <p:sp>
        <p:nvSpPr>
          <p:cNvPr id="66" name="Text 64"/>
          <p:cNvSpPr/>
          <p:nvPr/>
        </p:nvSpPr>
        <p:spPr>
          <a:xfrm>
            <a:off x="7613904" y="256946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Corrective actions</a:t>
            </a:r>
            <a:endParaRPr lang="en-US" sz="850" dirty="0"/>
          </a:p>
        </p:txBody>
      </p:sp>
      <p:sp>
        <p:nvSpPr>
          <p:cNvPr id="67" name="Text 65"/>
          <p:cNvSpPr/>
          <p:nvPr/>
        </p:nvSpPr>
        <p:spPr>
          <a:xfrm>
            <a:off x="9756648" y="256946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30</a:t>
            </a:r>
            <a:endParaRPr lang="en-US" sz="850" dirty="0"/>
          </a:p>
        </p:txBody>
      </p:sp>
      <p:sp>
        <p:nvSpPr>
          <p:cNvPr id="68" name="Text 66"/>
          <p:cNvSpPr/>
          <p:nvPr/>
        </p:nvSpPr>
        <p:spPr>
          <a:xfrm>
            <a:off x="7211568" y="2820924"/>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SUPPORT</a:t>
            </a:r>
            <a:endParaRPr lang="en-US" sz="800" dirty="0"/>
          </a:p>
        </p:txBody>
      </p:sp>
      <p:sp>
        <p:nvSpPr>
          <p:cNvPr id="69" name="Text 67"/>
          <p:cNvSpPr/>
          <p:nvPr/>
        </p:nvSpPr>
        <p:spPr>
          <a:xfrm>
            <a:off x="7211568" y="299923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S1</a:t>
            </a:r>
            <a:endParaRPr lang="en-US" sz="850" dirty="0"/>
          </a:p>
        </p:txBody>
      </p:sp>
      <p:sp>
        <p:nvSpPr>
          <p:cNvPr id="70" name="Text 68"/>
          <p:cNvSpPr/>
          <p:nvPr/>
        </p:nvSpPr>
        <p:spPr>
          <a:xfrm>
            <a:off x="7613904" y="299923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Support</a:t>
            </a:r>
            <a:endParaRPr lang="en-US" sz="850" dirty="0"/>
          </a:p>
        </p:txBody>
      </p:sp>
      <p:sp>
        <p:nvSpPr>
          <p:cNvPr id="71" name="Text 69"/>
          <p:cNvSpPr/>
          <p:nvPr/>
        </p:nvSpPr>
        <p:spPr>
          <a:xfrm>
            <a:off x="9756648" y="299923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32</a:t>
            </a:r>
            <a:endParaRPr lang="en-US" sz="850" dirty="0"/>
          </a:p>
        </p:txBody>
      </p:sp>
      <p:sp>
        <p:nvSpPr>
          <p:cNvPr id="72" name="Text 70"/>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73" name="Text 71"/>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1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Overview</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1 screen  ·  OV</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OVERVIEW</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OV</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Overview</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The first page. Four numbers at the top: how many farms, their total area, how much land is in production, and how many crops are growing this month. The map shows where the farms are, and the two tables below split every crop group by the land it covers and by how many farms grow it.</a:t>
            </a:r>
            <a:endParaRPr lang="en-US" sz="1050" dirty="0"/>
          </a:p>
        </p:txBody>
      </p:sp>
      <p:pic>
        <p:nvPicPr>
          <p:cNvPr id="5" name="Image 0" descr="/home/user/adafsa-mockup/.deck-work/OV.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2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Crop Monitoring</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C1 · C2 · C3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Crops and area</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Shows what is planted and where. The numbers: farms with field crops, the area under them, how many different crops, and the average share of a farm. (Module 1: crop location, crop type, cultivated area.)</a:t>
            </a:r>
            <a:endParaRPr lang="en-US" sz="1050" dirty="0"/>
          </a:p>
        </p:txBody>
      </p:sp>
      <p:pic>
        <p:nvPicPr>
          <p:cNvPr id="5" name="Image 0" descr="/home/user/adafsa-mockup/.deck-work/C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C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Seasonal change</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What changed since last season: net change, new land planted, land no longer planted, and how many farms started or stopped. Four tabs list those farms. (Module 1: seasonal change report.)</a:t>
            </a:r>
            <a:endParaRPr lang="en-US" sz="1050" dirty="0"/>
          </a:p>
        </p:txBody>
      </p:sp>
      <p:pic>
        <p:nvPicPr>
          <p:cNvPr id="5" name="Image 0" descr="/home/user/adafsa-mockup/.deck-work/C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C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Fallow land</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Land that can be farmed but has nothing on it: how much, what share of all farm area, how many farms have some, and how many are planting less than before. (Module 1: fallow land detection.)</a:t>
            </a:r>
            <a:endParaRPr lang="en-US" sz="1050" dirty="0"/>
          </a:p>
        </p:txBody>
      </p:sp>
      <p:pic>
        <p:nvPicPr>
          <p:cNvPr id="5" name="Image 0" descr="/home/user/adafsa-mockup/.deck-work/C3.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C3-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3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Tree Monitoring</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T1 · T2 · T3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Trees and species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Counts the trees: the total, date palms, fruit trees, forest trees, and how many palm varieties were found. Species break down under the map. (Module 2: tree location, count, species and variety.)</a:t>
            </a:r>
            <a:endParaRPr lang="en-US" sz="1050" dirty="0"/>
          </a:p>
        </p:txBody>
      </p:sp>
      <p:pic>
        <p:nvPicPr>
          <p:cNvPr id="5" name="Image 0" descr="/home/user/adafsa-mockup/.deck-work/T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T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Tree health</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A health score for each farm’s trees, read from the satellite: average palm score, average fruit tree score, farms with stressed trees, and farms in the lowest band. (Module 2: canopy health index.)</a:t>
            </a:r>
            <a:endParaRPr lang="en-US" sz="1050" dirty="0"/>
          </a:p>
        </p:txBody>
      </p:sp>
      <p:pic>
        <p:nvPicPr>
          <p:cNvPr id="5" name="Image 0" descr="/home/user/adafsa-mockup/.deck-work/T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T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Annual change</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Trees since last year: net change, trees planted, trees removed, and how many farms changed. Numbers, not a map — the table names the farms. (Module 2: annual change detection.)</a:t>
            </a:r>
            <a:endParaRPr lang="en-US" sz="1050" dirty="0"/>
          </a:p>
        </p:txBody>
      </p:sp>
      <p:pic>
        <p:nvPicPr>
          <p:cNvPr id="5" name="Image 0" descr="/home/user/adafsa-mockup/.deck-work/T3.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60%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T3-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4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Land Use &amp; Structures</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L1 · L2 · L3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Land use</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How the land is used: land mapped, open farmland, buildings and greenhouses, fallow land and bare ground. Zoom in and the map draws the real shape of each piece of land.</a:t>
            </a:r>
            <a:endParaRPr lang="en-US" sz="1050" dirty="0"/>
          </a:p>
        </p:txBody>
      </p:sp>
      <p:pic>
        <p:nvPicPr>
          <p:cNvPr id="5" name="Image 0" descr="/home/user/adafsa-mockup/.deck-work/L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L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Structures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What is built on the farms: structures found, farms with structures, area covered, and the main classes. Houses, sheds, water tanks, pens, roads, pump rooms. (Module 3: structure detection.)</a:t>
            </a:r>
            <a:endParaRPr lang="en-US" sz="1050" dirty="0"/>
          </a:p>
        </p:txBody>
      </p:sp>
      <p:pic>
        <p:nvPicPr>
          <p:cNvPr id="5" name="Image 0" descr="/home/user/adafsa-mockup/.deck-work/L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L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Change tracking</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Buildings that are new and buildings that are gone: net change, new structures, structures removed, and the change in area covered. It needs two quarters of data first.</a:t>
            </a:r>
            <a:endParaRPr lang="en-US" sz="1050" dirty="0"/>
          </a:p>
        </p:txBody>
      </p:sp>
      <p:pic>
        <p:nvPicPr>
          <p:cNvPr id="5" name="Image 0" descr="/home/user/adafsa-mockup/.deck-work/L3.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5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Irrigation Efficiency</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I1 · I2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IRRIGATION EFFICIENCY</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I1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Scores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A water score from 0 to 100 for every farm: farms scored, the average, how many keep their subsidy at 65 or more, how many need attention, and how many are in the lowest band. (Module 4: IER score, band and subsidy list.)</a:t>
            </a:r>
            <a:endParaRPr lang="en-US" sz="1050" dirty="0"/>
          </a:p>
        </p:txBody>
      </p:sp>
      <p:pic>
        <p:nvPicPr>
          <p:cNvPr id="5" name="Image 0" descr="/home/user/adafsa-mockup/.deck-work/I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I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IRRIGATION EFFICIENCY</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I2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Trend by quarter</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Are the scores moving? The average score now, the change since last quarter or last year, how many farms got worse and how many improved. A line, and no map. (Module 4: quarter-on-quarter trend.)</a:t>
            </a:r>
            <a:endParaRPr lang="en-US" sz="1050" dirty="0"/>
          </a:p>
        </p:txBody>
      </p:sp>
      <p:pic>
        <p:nvPicPr>
          <p:cNvPr id="5" name="Image 0" descr="/home/user/adafsa-mockup/.deck-work/I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I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6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Crop Water Calculator</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W1 · W2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WATER CALCULATOR</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W1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Monthly demand</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Water this month: how much each farm is allowed, how much it used, how many farms use too much, and how much extra they used. (Module 6: monthly water demand and over-allocation flag.)</a:t>
            </a:r>
            <a:endParaRPr lang="en-US" sz="1050" dirty="0"/>
          </a:p>
        </p:txBody>
      </p:sp>
      <p:pic>
        <p:nvPicPr>
          <p:cNvPr id="5" name="Image 0" descr="/home/user/adafsa-mockup/.deck-work/W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W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WATER CALCULATOR</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W2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Season budget</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Water over a whole season: the total water needed, the harvest expected from it, the water for one kilo of food, and the area planted. (Module 6: seasonal water budget.)</a:t>
            </a:r>
            <a:endParaRPr lang="en-US" sz="1050" dirty="0"/>
          </a:p>
        </p:txBody>
      </p:sp>
      <p:pic>
        <p:nvPicPr>
          <p:cNvPr id="5" name="Image 0" descr="/home/user/adafsa-mockup/.deck-work/W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35%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W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7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Yield Optimisation</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Y1 · Y2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YIELD OPTIMISATION</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Y1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Yield forecast</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What the harvest should be: expected tonnes, crops planted, how many farms are below the average for their crop, and how many are far below it. (Module 5: seasonal yield estimate.)</a:t>
            </a:r>
            <a:endParaRPr lang="en-US" sz="1050" dirty="0"/>
          </a:p>
        </p:txBody>
      </p:sp>
      <p:pic>
        <p:nvPicPr>
          <p:cNvPr id="5" name="Image 0" descr="/home/user/adafsa-mockup/.deck-work/Y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35%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Y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YIELD OPTIMISATION</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Y2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Crop calendar</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When each crop is in the ground: crops selected, the busiest month, the quietest month, and how many farms are planting at the busiest time.</a:t>
            </a:r>
            <a:endParaRPr lang="en-US" sz="1050" dirty="0"/>
          </a:p>
        </p:txBody>
      </p:sp>
      <p:pic>
        <p:nvPicPr>
          <p:cNvPr id="5" name="Image 0" descr="/home/user/adafsa-mockup/.deck-work/Y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Y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8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Individual Farms</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F1 · F2 · F3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Farm register</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The list of every farm: how many, their total area, how many need attention, and how many use too much water. Search by number or owner, sort any column, open one farm.</a:t>
            </a:r>
            <a:endParaRPr lang="en-US" sz="1050" dirty="0"/>
          </a:p>
        </p:txBody>
      </p:sp>
      <p:pic>
        <p:nvPicPr>
          <p:cNvPr id="5" name="Image 0" descr="/home/user/adafsa-mockup/.deck-work/F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60%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F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Farm profile</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One farm on one page: the owner, the province, land in production, the tree count, and how many things need attention. Below that: crops, trees, water score and buildings. All six modules meet here.</a:t>
            </a:r>
            <a:endParaRPr lang="en-US" sz="1050" dirty="0"/>
          </a:p>
        </p:txBody>
      </p:sp>
      <p:pic>
        <p:nvPicPr>
          <p:cNvPr id="5" name="Image 0" descr="/home/user/adafsa-mockup/.deck-work/F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F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Corrective actions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What is wrong on this farm and what to do: things to look at, and alerts that would go to the farmer. Each one is written as an action, not as a number to work out. Print it and take it to the visit.</a:t>
            </a:r>
            <a:endParaRPr lang="en-US" sz="1050" dirty="0"/>
          </a:p>
        </p:txBody>
      </p:sp>
      <p:pic>
        <p:nvPicPr>
          <p:cNvPr id="5" name="Image 0" descr="/home/user/adafsa-mockup/.deck-work/F3.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9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Support</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1 screen  ·  S1</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SUPPORT</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S1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Support</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Where to ask for help, and a note on what is real data and what is made up in this mockup. One page — in the old platform, more than half the menu was support and settings.</a:t>
            </a:r>
            <a:endParaRPr lang="en-US" sz="1050" dirty="0"/>
          </a:p>
        </p:txBody>
      </p:sp>
      <p:pic>
        <p:nvPicPr>
          <p:cNvPr id="5" name="Image 0" descr="/home/user/adafsa-mockup/.deck-work/S1.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ADAFSA Agricultural Monitoring Platform — screens</dc:title>
  <dc:subject>PptxGenJS Presentation</dc:subject>
  <dc:creator>Wafra Greentech</dc:creator>
  <cp:lastModifiedBy>Wafra Greentech</cp:lastModifiedBy>
  <cp:revision>1</cp:revision>
  <dcterms:created xsi:type="dcterms:W3CDTF">2026-09-06T00:14:07Z</dcterms:created>
  <dcterms:modified xsi:type="dcterms:W3CDTF">2026-09-06T00:14:07Z</dcterms:modified>
</cp:coreProperties>
</file>