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landing page, and an inventory rather than a verdict. A ministry tracks production capacity; whether one farm is struggling is a local question and belongs at farm level. Count bubbles, no scoring, and the two distribution tables already shown to ADAFSA from the pilot.
1. Region — Narrows every figure on the page to one province
2. Choose crops in Cereals — Opens the crops inside this group, one tick box each
3. Choose individual crops — Opens the whole crop list, every group expanded
4. Switch to the street map — Swaps the satellite view for a street map
5. Fit to the region — Frames the whole selection again after zooming
6. Show the crops inside Cereals — Opens a group into the crops it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What is growing and on how much land. The map colours each farm by the crop group covering most of it; the two tables underneath open from a group down to the individual crop.
1. Region — Narrows every figure on the page to one province
2. Choose crops in Cereals — Opens the crops inside this group, one tick box each
3. Choose individual crops — Opens the whole crop list, every group expanded
4. Switch to the street map — Swaps the satellite view for a street map
5. Fit to the region — Frames the whole selection again after zooming
6. Show the crops inside Cereals — Opens a group into the crops it is made of
The screenshot shows 48%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Seasonal change
What moved since the comparison quarter. Gains and losses are reported apart from each other, and the four tabs answer the question the page exists for: who started, who stopped, who grew and who shrank.
1. vs last quarter — Compares against last quarter or against last year
2. Region — Narrows every figure on the page to one province
3. Choose crops in Cereals — Opens the crops inside this group, one tick box each
4. Choose individual crops — Opens the whole crop list, every group expanded
5. Started (21) — Started, increased, decreased or stopped — pick one to list those farms
6. Sort by Farm — Any column heading sorts the table, either way
The screenshot shows 57%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Fallow land
Land that has fallen out of production. The figure that matters operationally is the last one — farms planting less than before, because that is what generates a message to the farmer.
1. vs last quarter — Compares against last quarter or against last year
2. Region — Narrows every figure on the page to one province
3. Switch to the street map — Swaps the satellite view for a street map
4. Fit to the region — Frames the whole selection again after zooming
5. Sort by Farm — Any column heading sorts the table, either way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Trees and species
Date palms, fruit trees and forest stands. The largest module by contract share, and the one to show first. Species and varieties break down underneath the map.
1. Region — Narrows every figure on the page to one province
2. Choose crops in Fruit Trees — Opens the crops inside this group, one tick box each
3. Choose individual crops — Opens the whole crop list, every group expanded
4. Switch to the street map — Swaps the satellite view for a street map
5. Fit to the region — Frames the whole selection again after zooming
6. Show the crops inside Date Palm — Opens a group into the crops it is made of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Tree health
Tree health scored per farm rather than per tree. The holdings here are small, share one water source and are managed as a unit, so the farm is the cluster. One score for palms, one for fruit trees.
1. Region — Narrows every figure on the page to one province
2. Switch to the street map — Swaps the satellite view for a street map
3. Fit to the region — Frames the whole selection again after zooming
4. Sort by Farm — Any column heading sorts the table, either way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planted and trees removed, as numbers. No map — the review was explicit that this question needs hard data, and the table names the farms instead.
1. vs last quarter — Compares against last quarter or against last year
2. Region — Narrows every figure on the page to one province
3. Choose crops in Fruit Trees — Opens the crops inside this group, one tick box each
4. Choose individual crops — Opens the whole crop list, every group expanded
5. Started (0) — Started, increased, decreased or stopped — pick one to list those farms
6. Sort by Farm — Any column heading sorts the table, either way
The screenshot shows 59%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The standing inventory of how ground is used. Zoom in and the map draws the real parcel outlines; before that each holding is a dot coloured by the class covering most of it.
1. Region — Narrows every figure on the page to one province
2. Switch to the street map — Swaps the satellite view for a street map
3. Fit to the region — Frames the whole selection again after zooming
4. Show the crops inside Open Agriculture — Opens a group into the crops it is made of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land. Tier 2 — the type of each structure — is what the survey delivers and what the October rollout targets. The page says plainly that tier 3 is not available yet.
1. Region — Narrows every figure on the page to one province
2. Switch to the street map — Swaps the satellite view for a street map
3. Fit to the region — Frames the whole selection again after zooming
4. Show the crops inside Structures — Opens a group into the crops it is made of
5. Sort by Farm — Any column heading sorts the table, either way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Structures appearing and disappearing. Formally a second-version item, built now so the alert is wired the day two quarters of history exist.
1. vs last quarter — Compares against last quarter or against last year
2. Region — Narrows every figure on the page to one province
3. Started (0) — Started, increased, decreased or stopped — pick one to list those farms
4. Sort by Farm — Any column heading sorts the table, either way
5. Export CSV — Downloads every row the search and sort produced, not the page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How efficiently each farm irrigates, measured against its own province rather than the emirate. The table answers the question as it was asked: every farm in Al Ain flagged for attention.
1. Region — Narrows every figure on the page to one province
2. Choose crops in Cereals — Opens the crops inside this group, one tick box each
3. Choose individual crops — Opens the whole crop list, every group expanded
4. Switch to the street map — Swaps the satellite view for a street map
5. Fit to the region — Frames the whole selection again after zooming
6. Sort by Farm — Any column heading sorts the table, either way
The screenshot shows 55%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Whether scores are moving. A trend line and hard numbers, and deliberately no map — a map of who improved was considered and rejected as confusing.
1. vs last quarter — Compares against last quarter or against last year
2. Region — Narrows every figure on the page to one province
3. Sort by Farm — Any column heading sorts the table, either way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What each farm is allowed this month and what it actually used. The over-allocation flag is raised against the month, never the season: by the time a season closes there is nothing left to do about it.
1. How this is worked out — Shows the model inputs behind these figures
2. Region — Narrows every figure on the page to one province
3. Choose crops in Cereals — Opens the crops inside this group, one tick box each
4. Choose individual crops — Opens the whole crop list, every group expanded
5. Sort by Farm — Any column heading sorts the table, either way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What a crop costs the emirate in water over a full growing season, and what it returns. Cubic metres per kilo is the number worth quoting in a policy conversation.
1. How this is worked out — Shows the model inputs behind these figures
2. Region — Narrows every figure on the page to one province
3. Choose crops in Cereals — Opens the crops inside this group, one tick box each
4. Choose individual crops — Opens the whole crop list, every group expanded
5. Sort by Crop — Any column heading sorts the table, either way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Expected production by crop, the average yield, and how many farms sit below it. No map here either — it was dropped in review and can come back if ADAFSA asks.
1. Region — Narrows every figure on the page to one province
2. Choose crops in Cereals — Opens the crops inside this group, one tick box each
3. Choose individual crops — Opens the whole crop list, every group expanded
4. Sort by Crop — Any column heading sorts the table, either way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The curve comes from each holding planting on its own schedule, which is why it rises and falls rather than switching on and off.
1. Region — Narrows every figure on the page to one province
2. Choose crops in Cereals — Opens the crops inside this group, one tick box each
3. Choose individual crops — Opens the whole crop list, every group expanded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Every farm, searchable by number or owner and sortable on any column. Paged, because the survey holds five hundred and the emirate holds tens of thousands.
1. Region — Narrows every figure on the page to one province
2. Choose crops in Cereals — Opens the crops inside this group, one tick box each
3. Choose individual crops — Opens the whole crop list, every group expanded
4. Switch to the street map — Swaps the satellite view for a street map
5. Fit to the region — Frames the whole selection again after zooming
6. Sort by Farm — Any column heading sorts the table, either way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Page one of two for a farm: what it grows, its trees, its structures, its efficiency score and its water. What is absent matters as much — no weather, no soil moisture, no scheduler. Those belong in the farmer’s own application.
1. Register → F1
2. What to do (1) → F3
3. Switch to the street map — Swaps the satellite view for a street map
4. Fit to the region — Frames the whole selection again after zooming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Page two: every finding stated as something to do rather than a reading to interpret, and an ending that is an action — print it and take it to the visit.
1. Farm profile → F2
2. Print for a visit — Prints this sheet to carry to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One page, reached from one entry in the menu. In the platform this replaces,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20</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31</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PAGES</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4</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6</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Seasonal change</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7" name="Text 15"/>
          <p:cNvSpPr/>
          <p:nvPr/>
        </p:nvSpPr>
        <p:spPr>
          <a:xfrm>
            <a:off x="56692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18" name="Text 16"/>
          <p:cNvSpPr/>
          <p:nvPr/>
        </p:nvSpPr>
        <p:spPr>
          <a:xfrm>
            <a:off x="56692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19" name="Text 17"/>
          <p:cNvSpPr/>
          <p:nvPr/>
        </p:nvSpPr>
        <p:spPr>
          <a:xfrm>
            <a:off x="96926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Trees and species</a:t>
            </a:r>
            <a:endParaRPr lang="en-US" sz="850" dirty="0"/>
          </a:p>
        </p:txBody>
      </p:sp>
      <p:sp>
        <p:nvSpPr>
          <p:cNvPr id="20" name="Text 18"/>
          <p:cNvSpPr/>
          <p:nvPr/>
        </p:nvSpPr>
        <p:spPr>
          <a:xfrm>
            <a:off x="311200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1" name="Text 19"/>
          <p:cNvSpPr/>
          <p:nvPr/>
        </p:nvSpPr>
        <p:spPr>
          <a:xfrm>
            <a:off x="56692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2" name="Text 20"/>
          <p:cNvSpPr/>
          <p:nvPr/>
        </p:nvSpPr>
        <p:spPr>
          <a:xfrm>
            <a:off x="96926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health</a:t>
            </a:r>
            <a:endParaRPr lang="en-US" sz="850" dirty="0"/>
          </a:p>
        </p:txBody>
      </p:sp>
      <p:sp>
        <p:nvSpPr>
          <p:cNvPr id="23" name="Text 21"/>
          <p:cNvSpPr/>
          <p:nvPr/>
        </p:nvSpPr>
        <p:spPr>
          <a:xfrm>
            <a:off x="311200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11</a:t>
            </a:r>
            <a:endParaRPr lang="en-US" sz="850" dirty="0"/>
          </a:p>
        </p:txBody>
      </p:sp>
      <p:sp>
        <p:nvSpPr>
          <p:cNvPr id="24" name="Text 22"/>
          <p:cNvSpPr/>
          <p:nvPr/>
        </p:nvSpPr>
        <p:spPr>
          <a:xfrm>
            <a:off x="56692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5" name="Text 23"/>
          <p:cNvSpPr/>
          <p:nvPr/>
        </p:nvSpPr>
        <p:spPr>
          <a:xfrm>
            <a:off x="96926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6" name="Text 24"/>
          <p:cNvSpPr/>
          <p:nvPr/>
        </p:nvSpPr>
        <p:spPr>
          <a:xfrm>
            <a:off x="311200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7" name="Text 25"/>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28" name="Text 26"/>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29" name="Text 27"/>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0" name="Text 28"/>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1" name="Text 29"/>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2" name="Text 30"/>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3" name="Text 31"/>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15</a:t>
            </a:r>
            <a:endParaRPr lang="en-US" sz="850" dirty="0"/>
          </a:p>
        </p:txBody>
      </p:sp>
      <p:sp>
        <p:nvSpPr>
          <p:cNvPr id="34" name="Text 32"/>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5" name="Text 33"/>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6" name="Text 34"/>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7" name="Text 35"/>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38" name="Text 36"/>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39" name="Text 37"/>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0" name="Text 38"/>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1" name="Text 39"/>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2" name="Text 40"/>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3" name="Text 41"/>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19</a:t>
            </a:r>
            <a:endParaRPr lang="en-US" sz="850" dirty="0"/>
          </a:p>
        </p:txBody>
      </p:sp>
      <p:sp>
        <p:nvSpPr>
          <p:cNvPr id="44" name="Text 42"/>
          <p:cNvSpPr/>
          <p:nvPr/>
        </p:nvSpPr>
        <p:spPr>
          <a:xfrm>
            <a:off x="388924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5" name="Text 43"/>
          <p:cNvSpPr/>
          <p:nvPr/>
        </p:nvSpPr>
        <p:spPr>
          <a:xfrm>
            <a:off x="388924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6" name="Text 44"/>
          <p:cNvSpPr/>
          <p:nvPr/>
        </p:nvSpPr>
        <p:spPr>
          <a:xfrm>
            <a:off x="429158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47" name="Text 45"/>
          <p:cNvSpPr/>
          <p:nvPr/>
        </p:nvSpPr>
        <p:spPr>
          <a:xfrm>
            <a:off x="643432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8" name="Text 46"/>
          <p:cNvSpPr/>
          <p:nvPr/>
        </p:nvSpPr>
        <p:spPr>
          <a:xfrm>
            <a:off x="388924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49" name="Text 47"/>
          <p:cNvSpPr/>
          <p:nvPr/>
        </p:nvSpPr>
        <p:spPr>
          <a:xfrm>
            <a:off x="429158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0" name="Text 48"/>
          <p:cNvSpPr/>
          <p:nvPr/>
        </p:nvSpPr>
        <p:spPr>
          <a:xfrm>
            <a:off x="643432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22</a:t>
            </a:r>
            <a:endParaRPr lang="en-US" sz="850" dirty="0"/>
          </a:p>
        </p:txBody>
      </p:sp>
      <p:sp>
        <p:nvSpPr>
          <p:cNvPr id="51" name="Text 49"/>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2" name="Text 50"/>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3" name="Text 51"/>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4" name="Text 52"/>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5" name="Text 53"/>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6" name="Text 54"/>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57" name="Text 55"/>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25</a:t>
            </a:r>
            <a:endParaRPr lang="en-US" sz="850" dirty="0"/>
          </a:p>
        </p:txBody>
      </p:sp>
      <p:sp>
        <p:nvSpPr>
          <p:cNvPr id="58" name="Text 56"/>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59" name="Text 57"/>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0" name="Text 58"/>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1" name="Text 59"/>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2" name="Text 60"/>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3" name="Text 61"/>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4" name="Text 62"/>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28</a:t>
            </a:r>
            <a:endParaRPr lang="en-US" sz="850" dirty="0"/>
          </a:p>
        </p:txBody>
      </p:sp>
      <p:sp>
        <p:nvSpPr>
          <p:cNvPr id="65" name="Text 63"/>
          <p:cNvSpPr/>
          <p:nvPr/>
        </p:nvSpPr>
        <p:spPr>
          <a:xfrm>
            <a:off x="721156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6" name="Text 64"/>
          <p:cNvSpPr/>
          <p:nvPr/>
        </p:nvSpPr>
        <p:spPr>
          <a:xfrm>
            <a:off x="761390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67" name="Text 65"/>
          <p:cNvSpPr/>
          <p:nvPr/>
        </p:nvSpPr>
        <p:spPr>
          <a:xfrm>
            <a:off x="975664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8" name="Text 66"/>
          <p:cNvSpPr/>
          <p:nvPr/>
        </p:nvSpPr>
        <p:spPr>
          <a:xfrm>
            <a:off x="721156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69" name="Text 67"/>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0" name="Text 68"/>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1" name="Text 69"/>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2" name="Text 7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3" name="Text 7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pic>
        <p:nvPicPr>
          <p:cNvPr id="4" name="Image 0" descr="/home/user/adafsa-mockup/.deck-work/OV.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6" name="Text 3"/>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7" name="Text 4"/>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8" name="Text 5"/>
          <p:cNvSpPr/>
          <p:nvPr/>
        </p:nvSpPr>
        <p:spPr>
          <a:xfrm>
            <a:off x="6885432" y="2666851"/>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9" name="Text 6"/>
          <p:cNvSpPr/>
          <p:nvPr/>
        </p:nvSpPr>
        <p:spPr>
          <a:xfrm>
            <a:off x="6885432" y="312976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0" name="Text 7"/>
          <p:cNvSpPr/>
          <p:nvPr/>
        </p:nvSpPr>
        <p:spPr>
          <a:xfrm>
            <a:off x="6885432" y="486998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1" name="Text 8"/>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2" name="Text 9"/>
          <p:cNvSpPr/>
          <p:nvPr/>
        </p:nvSpPr>
        <p:spPr>
          <a:xfrm>
            <a:off x="7342632" y="193852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3" name="Text 10"/>
          <p:cNvSpPr/>
          <p:nvPr/>
        </p:nvSpPr>
        <p:spPr>
          <a:xfrm>
            <a:off x="7598664" y="192024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4" name="Text 11"/>
          <p:cNvSpPr/>
          <p:nvPr/>
        </p:nvSpPr>
        <p:spPr>
          <a:xfrm>
            <a:off x="7342632" y="235915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5" name="Text 12"/>
          <p:cNvSpPr/>
          <p:nvPr/>
        </p:nvSpPr>
        <p:spPr>
          <a:xfrm>
            <a:off x="7598664" y="234086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6" name="Text 13"/>
          <p:cNvSpPr/>
          <p:nvPr/>
        </p:nvSpPr>
        <p:spPr>
          <a:xfrm>
            <a:off x="7342632" y="277977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7" name="Text 14"/>
          <p:cNvSpPr/>
          <p:nvPr/>
        </p:nvSpPr>
        <p:spPr>
          <a:xfrm>
            <a:off x="7598664" y="276148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18" name="Text 15"/>
          <p:cNvSpPr/>
          <p:nvPr/>
        </p:nvSpPr>
        <p:spPr>
          <a:xfrm>
            <a:off x="7342632" y="320040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19" name="Text 16"/>
          <p:cNvSpPr/>
          <p:nvPr/>
        </p:nvSpPr>
        <p:spPr>
          <a:xfrm>
            <a:off x="7598664" y="318211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0" name="Text 17"/>
          <p:cNvSpPr/>
          <p:nvPr/>
        </p:nvSpPr>
        <p:spPr>
          <a:xfrm>
            <a:off x="7342632" y="362102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1" name="Text 18"/>
          <p:cNvSpPr/>
          <p:nvPr/>
        </p:nvSpPr>
        <p:spPr>
          <a:xfrm>
            <a:off x="7598664" y="360273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2" name="Text 19"/>
          <p:cNvSpPr/>
          <p:nvPr/>
        </p:nvSpPr>
        <p:spPr>
          <a:xfrm>
            <a:off x="7342632" y="404164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3" name="Text 20"/>
          <p:cNvSpPr/>
          <p:nvPr/>
        </p:nvSpPr>
        <p:spPr>
          <a:xfrm>
            <a:off x="7598664" y="402336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5" name="Text 21"/>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2"/>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C1 · C2 · C3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a:t>
            </a:r>
            <a:endParaRPr lang="en-US" sz="2400" dirty="0"/>
          </a:p>
        </p:txBody>
      </p:sp>
      <p:pic>
        <p:nvPicPr>
          <p:cNvPr id="4" name="Image 0" descr="/home/user/adafsa-mockup/.deck-work/C1.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C1-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4322089"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273757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3200489"/>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940707"/>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Seasonal change</a:t>
            </a:r>
            <a:endParaRPr lang="en-US" sz="2400" dirty="0"/>
          </a:p>
        </p:txBody>
      </p:sp>
      <p:pic>
        <p:nvPicPr>
          <p:cNvPr id="4" name="Image 0" descr="/home/user/adafsa-mockup/.deck-work/C2.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C2-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38431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65863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424794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52226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Started (21)</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Started, increased, decreased or stopped — pick one to list those farms</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pic>
        <p:nvPicPr>
          <p:cNvPr id="4" name="Image 0" descr="/home/user/adafsa-mockup/.deck-work/C3.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C3-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2990463"/>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3453378"/>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4530298"/>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4" name="Text 10"/>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5" name="Text 11"/>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6" name="Text 12"/>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7" name="Text 13"/>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8" name="Text 14"/>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9" name="Text 15"/>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0" name="Text 16"/>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1" name="Text 17"/>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2" name="Text 18"/>
          <p:cNvSpPr/>
          <p:nvPr/>
        </p:nvSpPr>
        <p:spPr>
          <a:xfrm>
            <a:off x="7342632" y="620776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3" name="Text 19"/>
          <p:cNvSpPr/>
          <p:nvPr/>
        </p:nvSpPr>
        <p:spPr>
          <a:xfrm>
            <a:off x="7598664" y="618947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5" name="Text 2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Trees and species</a:t>
            </a:r>
            <a:endParaRPr lang="en-US" sz="2400" dirty="0"/>
          </a:p>
        </p:txBody>
      </p:sp>
      <p:pic>
        <p:nvPicPr>
          <p:cNvPr id="4" name="Image 0" descr="/home/user/adafsa-mockup/.deck-work/T1.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T1-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34551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4320348"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273757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3200489"/>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940707"/>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Fruit Trees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Date Palm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health</a:t>
            </a:r>
            <a:endParaRPr lang="en-US" sz="2400" dirty="0"/>
          </a:p>
        </p:txBody>
      </p:sp>
      <p:pic>
        <p:nvPicPr>
          <p:cNvPr id="4" name="Image 0" descr="/home/user/adafsa-mockup/.deck-work/T2.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T2-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885432" y="3808065"/>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427098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5347901"/>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3" name="Text 9"/>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4" name="Text 10"/>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5" name="Text 11"/>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6" name="Text 12"/>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17" name="Text 13"/>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8" name="Text 14"/>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19" name="Text 15"/>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0" name="Text 16"/>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2" name="Text 1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pic>
        <p:nvPicPr>
          <p:cNvPr id="4" name="Image 0" descr="/home/user/adafsa-mockup/.deck-work/T3.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T3-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38431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65863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402539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29971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Fruit Trees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Started (0)</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Started, increased, decreased or stopped — pick one to list those farms</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pic>
        <p:nvPicPr>
          <p:cNvPr id="4" name="Image 0" descr="/home/user/adafsa-mockup/.deck-work/L1.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L1-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885432" y="271828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3181201"/>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535004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3" name="Text 9"/>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4" name="Text 10"/>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5" name="Text 11"/>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6" name="Text 12"/>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17" name="Text 13"/>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8" name="Text 14"/>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19" name="Text 15"/>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0" name="Text 16"/>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Open Agriculture</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2" name="Text 1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pic>
        <p:nvPicPr>
          <p:cNvPr id="4" name="Image 0" descr="/home/user/adafsa-mockup/.deck-work/L2.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L2-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885432" y="2990463"/>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3453378"/>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467924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5390763"/>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4" name="Text 10"/>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5" name="Text 11"/>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6" name="Text 12"/>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7" name="Text 13"/>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18" name="Text 14"/>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9" name="Text 15"/>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0" name="Text 16"/>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1" name="Text 17"/>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Show the crops inside Structures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a group into the crops it is made of</a:t>
            </a:r>
            <a:endParaRPr lang="en-US" sz="750" dirty="0"/>
          </a:p>
        </p:txBody>
      </p:sp>
      <p:sp>
        <p:nvSpPr>
          <p:cNvPr id="22" name="Text 18"/>
          <p:cNvSpPr/>
          <p:nvPr/>
        </p:nvSpPr>
        <p:spPr>
          <a:xfrm>
            <a:off x="7342632" y="620776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3" name="Text 19"/>
          <p:cNvSpPr/>
          <p:nvPr/>
        </p:nvSpPr>
        <p:spPr>
          <a:xfrm>
            <a:off x="7598664" y="618947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5" name="Text 2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pic>
        <p:nvPicPr>
          <p:cNvPr id="4" name="Image 0" descr="/home/user/adafsa-mockup/.deck-work/L3.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6" name="Text 3"/>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7" name="Text 4"/>
          <p:cNvSpPr/>
          <p:nvPr/>
        </p:nvSpPr>
        <p:spPr>
          <a:xfrm>
            <a:off x="6885432" y="458153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8" name="Text 5"/>
          <p:cNvSpPr/>
          <p:nvPr/>
        </p:nvSpPr>
        <p:spPr>
          <a:xfrm>
            <a:off x="6885432" y="485585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9" name="Text 6"/>
          <p:cNvSpPr/>
          <p:nvPr/>
        </p:nvSpPr>
        <p:spPr>
          <a:xfrm>
            <a:off x="6885432" y="513017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0" name="Text 7"/>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1" name="Text 8"/>
          <p:cNvSpPr/>
          <p:nvPr/>
        </p:nvSpPr>
        <p:spPr>
          <a:xfrm>
            <a:off x="7342632" y="193852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2" name="Text 9"/>
          <p:cNvSpPr/>
          <p:nvPr/>
        </p:nvSpPr>
        <p:spPr>
          <a:xfrm>
            <a:off x="7598664" y="192024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3" name="Text 10"/>
          <p:cNvSpPr/>
          <p:nvPr/>
        </p:nvSpPr>
        <p:spPr>
          <a:xfrm>
            <a:off x="7342632" y="235915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4" name="Text 11"/>
          <p:cNvSpPr/>
          <p:nvPr/>
        </p:nvSpPr>
        <p:spPr>
          <a:xfrm>
            <a:off x="7598664" y="234086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5" name="Text 12"/>
          <p:cNvSpPr/>
          <p:nvPr/>
        </p:nvSpPr>
        <p:spPr>
          <a:xfrm>
            <a:off x="7342632" y="277977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6" name="Text 13"/>
          <p:cNvSpPr/>
          <p:nvPr/>
        </p:nvSpPr>
        <p:spPr>
          <a:xfrm>
            <a:off x="7598664" y="276148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Started (0)</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Started, increased, decreased or stopped — pick one to list those farms</a:t>
            </a:r>
            <a:endParaRPr lang="en-US" sz="750" dirty="0"/>
          </a:p>
        </p:txBody>
      </p:sp>
      <p:sp>
        <p:nvSpPr>
          <p:cNvPr id="17" name="Text 14"/>
          <p:cNvSpPr/>
          <p:nvPr/>
        </p:nvSpPr>
        <p:spPr>
          <a:xfrm>
            <a:off x="7342632" y="320040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18" name="Text 15"/>
          <p:cNvSpPr/>
          <p:nvPr/>
        </p:nvSpPr>
        <p:spPr>
          <a:xfrm>
            <a:off x="7598664" y="318211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19" name="Text 16"/>
          <p:cNvSpPr/>
          <p:nvPr/>
        </p:nvSpPr>
        <p:spPr>
          <a:xfrm>
            <a:off x="7342632" y="362102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0" name="Text 17"/>
          <p:cNvSpPr/>
          <p:nvPr/>
        </p:nvSpPr>
        <p:spPr>
          <a:xfrm>
            <a:off x="7598664" y="360273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Export CSV</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Downloads every row the search and sort produced, not the page on screen</a:t>
            </a:r>
            <a:endParaRPr lang="en-US" sz="750" dirty="0"/>
          </a:p>
        </p:txBody>
      </p:sp>
      <p:sp>
        <p:nvSpPr>
          <p:cNvPr id="22" name="Text 18"/>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9"/>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pic>
        <p:nvPicPr>
          <p:cNvPr id="4" name="Image 0" descr="/home/user/adafsa-mockup/.deck-work/I1.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I1-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3009751"/>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347266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54958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pic>
        <p:nvPicPr>
          <p:cNvPr id="4" name="Image 0" descr="/home/user/adafsa-mockup/.deck-work/I2.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I2-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583567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1099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4799595"/>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2" name="Text 8"/>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3" name="Text 9"/>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vs last quarter</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Compares against last quarter or against last year</a:t>
            </a:r>
            <a:endParaRPr lang="en-US" sz="750" dirty="0"/>
          </a:p>
        </p:txBody>
      </p:sp>
      <p:sp>
        <p:nvSpPr>
          <p:cNvPr id="14" name="Text 10"/>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5" name="Text 11"/>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6" name="Text 12"/>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7" name="Text 13"/>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19" name="Text 1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0" name="Text 1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pic>
        <p:nvPicPr>
          <p:cNvPr id="4" name="Image 0" descr="/home/user/adafsa-mockup/.deck-work/W1.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W1-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614193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41625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69057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96489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4618166"/>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4" name="Text 10"/>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5" name="Text 11"/>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How this is worked out</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Shows the model inputs behind these figures</a:t>
            </a:r>
            <a:endParaRPr lang="en-US" sz="750" dirty="0"/>
          </a:p>
        </p:txBody>
      </p:sp>
      <p:sp>
        <p:nvSpPr>
          <p:cNvPr id="16" name="Text 12"/>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7" name="Text 13"/>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8" name="Text 14"/>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9" name="Text 15"/>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20" name="Text 16"/>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1" name="Text 17"/>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2" name="Text 18"/>
          <p:cNvSpPr/>
          <p:nvPr/>
        </p:nvSpPr>
        <p:spPr>
          <a:xfrm>
            <a:off x="7342632" y="620776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3" name="Text 19"/>
          <p:cNvSpPr/>
          <p:nvPr/>
        </p:nvSpPr>
        <p:spPr>
          <a:xfrm>
            <a:off x="7598664" y="618947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5" name="Text 2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pic>
        <p:nvPicPr>
          <p:cNvPr id="4" name="Image 0" descr="/home/user/adafsa-mockup/.deck-work/W2.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W2-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614193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41625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69057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96489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268828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4" name="Text 10"/>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5" name="Text 11"/>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How this is worked out</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Shows the model inputs behind these figures</a:t>
            </a:r>
            <a:endParaRPr lang="en-US" sz="750" dirty="0"/>
          </a:p>
        </p:txBody>
      </p:sp>
      <p:sp>
        <p:nvSpPr>
          <p:cNvPr id="16" name="Text 12"/>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7" name="Text 13"/>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8" name="Text 14"/>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9" name="Text 15"/>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20" name="Text 16"/>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1" name="Text 17"/>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2" name="Text 18"/>
          <p:cNvSpPr/>
          <p:nvPr/>
        </p:nvSpPr>
        <p:spPr>
          <a:xfrm>
            <a:off x="7342632" y="6207760"/>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3" name="Text 19"/>
          <p:cNvSpPr/>
          <p:nvPr/>
        </p:nvSpPr>
        <p:spPr>
          <a:xfrm>
            <a:off x="7598664" y="6189472"/>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Crop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5" name="Text 2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6" name="Text 2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pic>
        <p:nvPicPr>
          <p:cNvPr id="4" name="Image 0" descr="/home/user/adafsa-mockup/.deck-work/Y1.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Y1-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268828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3" name="Text 9"/>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4" name="Text 10"/>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5" name="Text 11"/>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6" name="Text 12"/>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7" name="Text 13"/>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8" name="Text 14"/>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19" name="Text 15"/>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0" name="Text 16"/>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Crop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2" name="Text 1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pic>
        <p:nvPicPr>
          <p:cNvPr id="4" name="Image 0" descr="/home/user/adafsa-mockup/.deck-work/Y2.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Y2-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2" name="Text 8"/>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3" name="Text 9"/>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4" name="Text 10"/>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5" name="Text 11"/>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6" name="Text 12"/>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7" name="Text 13"/>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19" name="Text 1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0" name="Text 1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pic>
        <p:nvPicPr>
          <p:cNvPr id="4" name="Image 0" descr="/home/user/adafsa-mockup/.deck-work/F1.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F1-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197396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286429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000491"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2737574"/>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6885432" y="3200489"/>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13" name="Text 9"/>
          <p:cNvSpPr/>
          <p:nvPr/>
        </p:nvSpPr>
        <p:spPr>
          <a:xfrm>
            <a:off x="6885432" y="427741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6</a:t>
            </a:r>
            <a:endParaRPr lang="en-US" sz="850" dirty="0"/>
          </a:p>
        </p:txBody>
      </p:sp>
      <p:sp>
        <p:nvSpPr>
          <p:cNvPr id="14" name="Text 10"/>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5" name="Text 11"/>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6" name="Text 12"/>
          <p:cNvSpPr/>
          <p:nvPr/>
        </p:nvSpPr>
        <p:spPr>
          <a:xfrm>
            <a:off x="7598664" y="4506976"/>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Narrows every figure on the page to one province</a:t>
            </a:r>
            <a:endParaRPr lang="en-US" sz="750" dirty="0"/>
          </a:p>
        </p:txBody>
      </p:sp>
      <p:sp>
        <p:nvSpPr>
          <p:cNvPr id="17" name="Text 13"/>
          <p:cNvSpPr/>
          <p:nvPr/>
        </p:nvSpPr>
        <p:spPr>
          <a:xfrm>
            <a:off x="7342632" y="4926245"/>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8" name="Text 14"/>
          <p:cNvSpPr/>
          <p:nvPr/>
        </p:nvSpPr>
        <p:spPr>
          <a:xfrm>
            <a:off x="7598664" y="4907957"/>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crops in Cereals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crops inside this group, one tick box each</a:t>
            </a:r>
            <a:endParaRPr lang="en-US" sz="750" dirty="0"/>
          </a:p>
        </p:txBody>
      </p:sp>
      <p:sp>
        <p:nvSpPr>
          <p:cNvPr id="19" name="Text 15"/>
          <p:cNvSpPr/>
          <p:nvPr/>
        </p:nvSpPr>
        <p:spPr>
          <a:xfrm>
            <a:off x="7342632" y="5327227"/>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0" name="Text 16"/>
          <p:cNvSpPr/>
          <p:nvPr/>
        </p:nvSpPr>
        <p:spPr>
          <a:xfrm>
            <a:off x="7598664" y="5308939"/>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Choose individual crops</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Opens the whole crop list, every group expanded</a:t>
            </a:r>
            <a:endParaRPr lang="en-US" sz="750" dirty="0"/>
          </a:p>
        </p:txBody>
      </p:sp>
      <p:sp>
        <p:nvSpPr>
          <p:cNvPr id="21" name="Text 17"/>
          <p:cNvSpPr/>
          <p:nvPr/>
        </p:nvSpPr>
        <p:spPr>
          <a:xfrm>
            <a:off x="7342632" y="572820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2" name="Text 18"/>
          <p:cNvSpPr/>
          <p:nvPr/>
        </p:nvSpPr>
        <p:spPr>
          <a:xfrm>
            <a:off x="7598664" y="5709920"/>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23" name="Text 19"/>
          <p:cNvSpPr/>
          <p:nvPr/>
        </p:nvSpPr>
        <p:spPr>
          <a:xfrm>
            <a:off x="7342632" y="6129189"/>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24" name="Text 20"/>
          <p:cNvSpPr/>
          <p:nvPr/>
        </p:nvSpPr>
        <p:spPr>
          <a:xfrm>
            <a:off x="7598664" y="6110901"/>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5" name="Text 21"/>
          <p:cNvSpPr/>
          <p:nvPr/>
        </p:nvSpPr>
        <p:spPr>
          <a:xfrm>
            <a:off x="7342632" y="6530171"/>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26" name="Text 22"/>
          <p:cNvSpPr/>
          <p:nvPr/>
        </p:nvSpPr>
        <p:spPr>
          <a:xfrm>
            <a:off x="7598664" y="6511883"/>
            <a:ext cx="2523744" cy="400981"/>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Sort by Farm</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Any column heading sorts the table, either way</a:t>
            </a:r>
            <a:endParaRPr lang="en-US" sz="750" dirty="0"/>
          </a:p>
        </p:txBody>
      </p:sp>
      <p:sp>
        <p:nvSpPr>
          <p:cNvPr id="28" name="Text 2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9" name="Text 2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pic>
        <p:nvPicPr>
          <p:cNvPr id="4" name="Image 0" descr="/home/user/adafsa-mockup/.deck-work/F2.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6928" y="5956173"/>
            <a:ext cx="6172200"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adafsa-mockup/.deck-work/F2-tail.jpg">    </p:cNvPr>
          <p:cNvPicPr>
            <a:picLocks noChangeAspect="1"/>
          </p:cNvPicPr>
          <p:nvPr/>
        </p:nvPicPr>
        <p:blipFill>
          <a:blip r:embed="rId2"/>
          <a:stretch>
            <a:fillRect/>
          </a:stretch>
        </p:blipFill>
        <p:spPr>
          <a:xfrm>
            <a:off x="7342632" y="1901952"/>
            <a:ext cx="2779776" cy="1891792"/>
          </a:xfrm>
          <a:prstGeom prst="rect">
            <a:avLst/>
          </a:prstGeom>
          <a:effectLst>
            <a:outerShdw sx="100000" sy="100000" kx="0" ky="0" algn="bl" rotWithShape="0" blurRad="127000" dist="31750" dir="5400000">
              <a:srgbClr val="94A3B8">
                <a:alpha val="28000"/>
              </a:srgbClr>
            </a:outerShdw>
          </a:effectLst>
        </p:spPr>
      </p:pic>
      <p:sp>
        <p:nvSpPr>
          <p:cNvPr id="8" name="Text 4"/>
          <p:cNvSpPr/>
          <p:nvPr/>
        </p:nvSpPr>
        <p:spPr>
          <a:xfrm>
            <a:off x="567138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9" name="Text 5"/>
          <p:cNvSpPr/>
          <p:nvPr/>
        </p:nvSpPr>
        <p:spPr>
          <a:xfrm>
            <a:off x="6220597"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10" name="Text 6"/>
          <p:cNvSpPr/>
          <p:nvPr/>
        </p:nvSpPr>
        <p:spPr>
          <a:xfrm>
            <a:off x="6885432" y="2876877"/>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a:t>
            </a:r>
            <a:endParaRPr lang="en-US" sz="850" dirty="0"/>
          </a:p>
        </p:txBody>
      </p:sp>
      <p:sp>
        <p:nvSpPr>
          <p:cNvPr id="11" name="Text 7"/>
          <p:cNvSpPr/>
          <p:nvPr/>
        </p:nvSpPr>
        <p:spPr>
          <a:xfrm>
            <a:off x="6885432" y="3339792"/>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12" name="Text 8"/>
          <p:cNvSpPr/>
          <p:nvPr/>
        </p:nvSpPr>
        <p:spPr>
          <a:xfrm>
            <a:off x="7342632" y="4214368"/>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13" name="Text 9"/>
          <p:cNvSpPr/>
          <p:nvPr/>
        </p:nvSpPr>
        <p:spPr>
          <a:xfrm>
            <a:off x="7342632" y="4525264"/>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4" name="Text 10"/>
          <p:cNvSpPr/>
          <p:nvPr/>
        </p:nvSpPr>
        <p:spPr>
          <a:xfrm>
            <a:off x="7598664" y="4506976"/>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Register</a:t>
            </a:r>
            <a:pPr indent="0" marL="0">
              <a:lnSpc>
                <a:spcPts val="900"/>
              </a:lnSpc>
              <a:buNone/>
            </a:pPr>
            <a:r>
              <a:rPr lang="en-US" sz="750" b="1" dirty="0">
                <a:solidFill>
                  <a:srgbClr val="15803D"/>
                </a:solidFill>
                <a:latin typeface="Calibri" pitchFamily="34" charset="0"/>
                <a:ea typeface="Calibri" pitchFamily="34" charset="-122"/>
                <a:cs typeface="Calibri" pitchFamily="34" charset="-120"/>
              </a:rPr>
              <a:t>  →  F1 Farm register</a:t>
            </a:r>
            <a:pPr indent="0" marL="0">
              <a:lnSpc>
                <a:spcPts val="900"/>
              </a:lnSpc>
              <a:buNone/>
            </a:pPr>
            <a:r>
              <a:rPr lang="en-US" sz="750" dirty="0">
                <a:solidFill>
                  <a:srgbClr val="9CA3AF"/>
                </a:solidFill>
                <a:latin typeface="Calibri" pitchFamily="34" charset="0"/>
                <a:ea typeface="Calibri" pitchFamily="34" charset="-122"/>
                <a:cs typeface="Calibri" pitchFamily="34" charset="-120"/>
              </a:rPr>
              <a:t>  (page 27)</a:t>
            </a:r>
            <a:endParaRPr lang="en-US" sz="750" dirty="0"/>
          </a:p>
        </p:txBody>
      </p:sp>
      <p:sp>
        <p:nvSpPr>
          <p:cNvPr id="15" name="Text 11"/>
          <p:cNvSpPr/>
          <p:nvPr/>
        </p:nvSpPr>
        <p:spPr>
          <a:xfrm>
            <a:off x="7342632" y="494588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6" name="Text 12"/>
          <p:cNvSpPr/>
          <p:nvPr/>
        </p:nvSpPr>
        <p:spPr>
          <a:xfrm>
            <a:off x="7598664" y="492760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What to do (1)</a:t>
            </a:r>
            <a:pPr indent="0" marL="0">
              <a:lnSpc>
                <a:spcPts val="900"/>
              </a:lnSpc>
              <a:buNone/>
            </a:pPr>
            <a:r>
              <a:rPr lang="en-US" sz="750" b="1" dirty="0">
                <a:solidFill>
                  <a:srgbClr val="15803D"/>
                </a:solidFill>
                <a:latin typeface="Calibri" pitchFamily="34" charset="0"/>
                <a:ea typeface="Calibri" pitchFamily="34" charset="-122"/>
                <a:cs typeface="Calibri" pitchFamily="34" charset="-120"/>
              </a:rPr>
              <a:t>  →  F3 Corrective actions</a:t>
            </a:r>
            <a:pPr indent="0" marL="0">
              <a:lnSpc>
                <a:spcPts val="900"/>
              </a:lnSpc>
              <a:buNone/>
            </a:pPr>
            <a:r>
              <a:rPr lang="en-US" sz="750" dirty="0">
                <a:solidFill>
                  <a:srgbClr val="9CA3AF"/>
                </a:solidFill>
                <a:latin typeface="Calibri" pitchFamily="34" charset="0"/>
                <a:ea typeface="Calibri" pitchFamily="34" charset="-122"/>
                <a:cs typeface="Calibri" pitchFamily="34" charset="-120"/>
              </a:rPr>
              <a:t>  (page 29)</a:t>
            </a:r>
            <a:endParaRPr lang="en-US" sz="750" dirty="0"/>
          </a:p>
        </p:txBody>
      </p:sp>
      <p:sp>
        <p:nvSpPr>
          <p:cNvPr id="17" name="Text 13"/>
          <p:cNvSpPr/>
          <p:nvPr/>
        </p:nvSpPr>
        <p:spPr>
          <a:xfrm>
            <a:off x="7342632" y="536651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18" name="Text 14"/>
          <p:cNvSpPr/>
          <p:nvPr/>
        </p:nvSpPr>
        <p:spPr>
          <a:xfrm>
            <a:off x="7598664" y="534822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Switch to the street map</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Swaps the satellite view for a street map</a:t>
            </a:r>
            <a:endParaRPr lang="en-US" sz="750" dirty="0"/>
          </a:p>
        </p:txBody>
      </p:sp>
      <p:sp>
        <p:nvSpPr>
          <p:cNvPr id="19" name="Text 15"/>
          <p:cNvSpPr/>
          <p:nvPr/>
        </p:nvSpPr>
        <p:spPr>
          <a:xfrm>
            <a:off x="7342632" y="5787136"/>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0" name="Text 16"/>
          <p:cNvSpPr/>
          <p:nvPr/>
        </p:nvSpPr>
        <p:spPr>
          <a:xfrm>
            <a:off x="7598664" y="5768848"/>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Fit to the region</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Frames the whole selection again after zooming</a:t>
            </a:r>
            <a:endParaRPr lang="en-US" sz="750" dirty="0"/>
          </a:p>
        </p:txBody>
      </p:sp>
      <p:sp>
        <p:nvSpPr>
          <p:cNvPr id="22" name="Text 1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23" name="Text 1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pic>
        <p:nvPicPr>
          <p:cNvPr id="4" name="Image 0" descr="/home/user/adafsa-mockup/.deck-work/F3.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5" name="Text 2"/>
          <p:cNvSpPr/>
          <p:nvPr/>
        </p:nvSpPr>
        <p:spPr>
          <a:xfrm>
            <a:off x="5617575"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a:t>
            </a:r>
            <a:endParaRPr lang="en-US" sz="850" dirty="0"/>
          </a:p>
        </p:txBody>
      </p:sp>
      <p:sp>
        <p:nvSpPr>
          <p:cNvPr id="6" name="Text 3"/>
          <p:cNvSpPr/>
          <p:nvPr/>
        </p:nvSpPr>
        <p:spPr>
          <a:xfrm>
            <a:off x="6219090" y="1280160"/>
            <a:ext cx="237744" cy="237744"/>
          </a:xfrm>
          <a:prstGeom prst="ellipse">
            <a:avLst/>
          </a:prstGeom>
          <a:solidFill>
            <a:srgbClr val="15803D"/>
          </a:solidFill>
          <a:ln w="12700">
            <a:solidFill>
              <a:srgbClr val="FFFFFF"/>
            </a:solid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7" name="Text 4"/>
          <p:cNvSpPr/>
          <p:nvPr/>
        </p:nvSpPr>
        <p:spPr>
          <a:xfrm>
            <a:off x="7342632" y="1627632"/>
            <a:ext cx="2779776"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WHAT THE SMALL CONTROLS DO</a:t>
            </a:r>
            <a:endParaRPr lang="en-US" sz="800" dirty="0"/>
          </a:p>
        </p:txBody>
      </p:sp>
      <p:sp>
        <p:nvSpPr>
          <p:cNvPr id="8" name="Text 5"/>
          <p:cNvSpPr/>
          <p:nvPr/>
        </p:nvSpPr>
        <p:spPr>
          <a:xfrm>
            <a:off x="7342632" y="1938528"/>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9" name="Text 6"/>
          <p:cNvSpPr/>
          <p:nvPr/>
        </p:nvSpPr>
        <p:spPr>
          <a:xfrm>
            <a:off x="7598664" y="1920240"/>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Farm profile</a:t>
            </a:r>
            <a:pPr indent="0" marL="0">
              <a:lnSpc>
                <a:spcPts val="900"/>
              </a:lnSpc>
              <a:buNone/>
            </a:pPr>
            <a:r>
              <a:rPr lang="en-US" sz="750" b="1" dirty="0">
                <a:solidFill>
                  <a:srgbClr val="15803D"/>
                </a:solidFill>
                <a:latin typeface="Calibri" pitchFamily="34" charset="0"/>
                <a:ea typeface="Calibri" pitchFamily="34" charset="-122"/>
                <a:cs typeface="Calibri" pitchFamily="34" charset="-120"/>
              </a:rPr>
              <a:t>  →  F2 Farm profile</a:t>
            </a:r>
            <a:pPr indent="0" marL="0">
              <a:lnSpc>
                <a:spcPts val="900"/>
              </a:lnSpc>
              <a:buNone/>
            </a:pPr>
            <a:r>
              <a:rPr lang="en-US" sz="750" dirty="0">
                <a:solidFill>
                  <a:srgbClr val="9CA3AF"/>
                </a:solidFill>
                <a:latin typeface="Calibri" pitchFamily="34" charset="0"/>
                <a:ea typeface="Calibri" pitchFamily="34" charset="-122"/>
                <a:cs typeface="Calibri" pitchFamily="34" charset="-120"/>
              </a:rPr>
              <a:t>  (page 28)</a:t>
            </a:r>
            <a:endParaRPr lang="en-US" sz="750" dirty="0"/>
          </a:p>
        </p:txBody>
      </p:sp>
      <p:sp>
        <p:nvSpPr>
          <p:cNvPr id="10" name="Text 7"/>
          <p:cNvSpPr/>
          <p:nvPr/>
        </p:nvSpPr>
        <p:spPr>
          <a:xfrm>
            <a:off x="7342632" y="2359152"/>
            <a:ext cx="182880" cy="182880"/>
          </a:xfrm>
          <a:prstGeom prst="ellipse">
            <a:avLst/>
          </a:prstGeom>
          <a:solidFill>
            <a:srgbClr val="15803D"/>
          </a:solidFill>
          <a:ln w="6350">
            <a:solidFill>
              <a:srgbClr val="FFFFFF"/>
            </a:solid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11" name="Text 8"/>
          <p:cNvSpPr/>
          <p:nvPr/>
        </p:nvSpPr>
        <p:spPr>
          <a:xfrm>
            <a:off x="7598664" y="2340864"/>
            <a:ext cx="2523744" cy="420624"/>
          </a:xfrm>
          <a:prstGeom prst="rect">
            <a:avLst/>
          </a:prstGeom>
          <a:noFill/>
          <a:ln/>
        </p:spPr>
        <p:txBody>
          <a:bodyPr wrap="square" lIns="0" tIns="0" rIns="0" bIns="0" rtlCol="0" anchor="t"/>
          <a:lstStyle/>
          <a:p>
            <a:pPr indent="0" marL="0">
              <a:lnSpc>
                <a:spcPts val="900"/>
              </a:lnSpc>
              <a:buNone/>
            </a:pPr>
            <a:r>
              <a:rPr lang="en-US" sz="750" b="1" dirty="0">
                <a:solidFill>
                  <a:srgbClr val="111827"/>
                </a:solidFill>
                <a:latin typeface="Calibri" pitchFamily="34" charset="0"/>
                <a:ea typeface="Calibri" pitchFamily="34" charset="-122"/>
                <a:cs typeface="Calibri" pitchFamily="34" charset="-120"/>
              </a:rPr>
              <a:t>Print for a visit</a:t>
            </a:r>
            <a:pPr indent="0" marL="0">
              <a:lnSpc>
                <a:spcPts val="900"/>
              </a:lnSpc>
              <a:buNone/>
            </a:pPr>
            <a:r>
              <a:rPr lang="en-US" sz="750" dirty="0">
                <a:solidFill>
                  <a:srgbClr val="4B5563"/>
                </a:solidFill>
                <a:latin typeface="Calibri" pitchFamily="34" charset="0"/>
                <a:ea typeface="Calibri" pitchFamily="34" charset="-122"/>
                <a:cs typeface="Calibri" pitchFamily="34" charset="-120"/>
              </a:rPr>
              <a:t>  —  Prints this sheet to carry to the farm</a:t>
            </a:r>
            <a:endParaRPr lang="en-US" sz="750" dirty="0"/>
          </a:p>
        </p:txBody>
      </p:sp>
      <p:sp>
        <p:nvSpPr>
          <p:cNvPr id="13" name="Text 9"/>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4" name="Text 10"/>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20624"/>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713232"/>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pic>
        <p:nvPicPr>
          <p:cNvPr id="4" name="Image 0" descr="/home/user/adafsa-mockup/.deck-work/S1.png">    </p:cNvPr>
          <p:cNvPicPr>
            <a:picLocks noChangeAspect="1"/>
          </p:cNvPicPr>
          <p:nvPr/>
        </p:nvPicPr>
        <p:blipFill>
          <a:blip r:embed="rId1"/>
          <a:stretch>
            <a:fillRect/>
          </a:stretch>
        </p:blipFill>
        <p:spPr>
          <a:xfrm>
            <a:off x="566928" y="1627632"/>
            <a:ext cx="6172200" cy="4200525"/>
          </a:xfrm>
          <a:prstGeom prst="rect">
            <a:avLst/>
          </a:prstGeom>
          <a:effectLst>
            <a:outerShdw sx="100000" sy="100000" kx="0" ky="0" algn="bl" rotWithShape="0" blurRad="127000" dist="31750" dir="5400000">
              <a:srgbClr val="94A3B8">
                <a:alpha val="28000"/>
              </a:srgbClr>
            </a:outerShdw>
          </a:effectLst>
        </p:spPr>
      </p:pic>
      <p:sp>
        <p:nvSpPr>
          <p:cNvPr id="6" name="Text 2"/>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3"/>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2026-09-05T22:33:05Z</dcterms:created>
  <dcterms:modified xsi:type="dcterms:W3CDTF">2026-09-05T22:33:05Z</dcterms:modified>
</cp:coreProperties>
</file>