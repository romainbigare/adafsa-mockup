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 — Overview
The first page. Four numbers at the top: how many farms, their total area, how much land is in production, and how many crops are growing this month. The map shows where the farms are, and the two tables below split every crop group by the land it covers and by how many farms grow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Crops and area summary
Shows what is planted and where. The numbers: farms with field crops, the area under them, how many different crops, and the average share of a farm. The table of farms has no total, because a farm growing three crops is counted three times. (Module 1: crop location, crop type, cultivated area.)
The screenshot shows 47%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 Cereals and fodder
The crops that grow all year. Two stacked charts — cereals on the left, fodder on the right — over the last six quarters, in dunums. Six quarters shows both the quarter before and the same quarter last year. Below: every crop by quarter, then every farm, oldest figure first. (Module 1: cultivated area and seasonal change report.)
The screenshot shows 47%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 Open field crops
The vegetables, which are seasonal: planted from September and out of the ground by March. Area planted quarter by quarter on the left. On the right, which crops moved against the same quarter last year — or, when one crop is picked, who its biggest growers are. (Module 1: cultivated area and seasonal change report.)
The screenshot shows 39%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 Fallow land
Land that can be farmed, in three states: under cultivation, resting less than a year and waiting for a crop, and resting more than a year and not being used. Six quarters, stacked, with the year-on-year movement beside it. (Module 1: fallow land detection.)
The screenshot shows 55%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 Tree count
Counts the trees: the total, date palms, fruit trees, forest trees, and how many palm varieties were found. The map counts farms until you zoom into one, and then draws every tree in the colour of its variety. (Module 2: tree location, count, species and variety.)
The smaller shot beside it is the same screen zoomed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 — Canopy health
The canopy health index, read from the satellite and scored for each farm: the average for palms, the average for fruit trees, farms with stressed trees, and farms in the lowest band. Zoom in and the map reads the index closer in. (Module 2: canopy health index.)
The screenshot shows 49%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 — Annual change
Trees year by year over three years, following whichever group is selected. Beside it, the three varieties that grew most and the three that shrank most in the last twelve months. The table lists varieties, not farms. (Module 2: annual change detection.)
The screenshot shows 58%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 Land use
How the land is used: land mapped, open farmland, buildings and greenhouses, fallow land and bare ground. Zoom in and the map draws the real shape of each piece of land.
The screenshot shows 45%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L2 — Structures
What is built on the farms: structures found, farms with structures, area covered, and the main classes. Houses, sheds, water tanks, pens, roads, pump rooms. (Module 3: structure detection.)
The screenshot shows 40%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L3 — Change tracking
Buildings that are new and buildings that are gone: net change, new structures, structures removed, and the change in area covered. The chart runs year by year, because a building stands until somebody takes it down. (Module 3: change tracking.)
The screenshot shows 41%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 — Scores
A water score from 0 to 100 for every farm: farms scored, the average, how many keep their subsidy at 65 or more, how many need attention, and how many are in the lowest band. (Module 4: IER score, band and subsidy list.)
The screenshot shows 54%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I2 — Trend by quarter
Are the scores moving? The average score now, the change since last quarter or last year, how many farms got worse and how many improved. A line, and no map. (Module 4: quarter-on-quarter trend.)
The screenshot shows 56%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 Monthly demand
Water this month: how much each farm is allowed, how much it used, how many farms use too much, and how much extra they used. (Module 6: monthly water demand and over-allocation flag.)
The screenshot shows 54%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Season budget
Water over a whole season: the total water needed, the harvest expected from it, the water for one kilo of food, and the area planted. (Module 6: seasonal water budget.)
The screenshot shows 36%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Y1 — Yield forecast
What the harvest should be: expected tonnes, crops planted, how many farms are below the average for their crop, and how many are far below it. (Module 5: seasonal yield estimate.)
The screenshot shows 27%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Y2 — Crop calendar
When each crop is in the ground: crops selected, the busiest month, the quietest month, and how many farms are planting at the busiest time.
The screenshot shows 82%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Farm register
The list of every farm: how many, their total area, how many need attention, and how many use too much water. Search by number or owner, sort any column, open one farm.
The screenshot shows 51%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Farm profile
One farm on one page: the owner, the province, land in production, the tree count, and how many things need attention. Below that: crops, trees, water score and buildings. All six modules meet here.
The screenshot shows 46% of this screen; the rest is in the smaller shot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Corrective actions
What is wrong on this farm and what to do: things to look at, and alerts that would go to the farmer. Each one is written as an action, not as a number to work out. Print it and take it to the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Support
How to reach a person: telephone, WhatsApp and email, when someone answers, and how to send the exact screen you are looking at. Also who builds the platform, and a note on what is real data and what is made up. One page — in the old platform, more than half the menu was support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romainbigare.github.io/adafsa-mockup"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adafsa-mockup/.deck-work/brand.png">    </p:cNvPr>
          <p:cNvPicPr>
            <a:picLocks noChangeAspect="1"/>
          </p:cNvPicPr>
          <p:nvPr/>
        </p:nvPicPr>
        <p:blipFill>
          <a:blip r:embed="rId1"/>
          <a:stretch>
            <a:fillRect/>
          </a:stretch>
        </p:blipFill>
        <p:spPr>
          <a:xfrm>
            <a:off x="566928" y="960120"/>
            <a:ext cx="2337924" cy="841248"/>
          </a:xfrm>
          <a:prstGeom prst="rect">
            <a:avLst/>
          </a:prstGeom>
        </p:spPr>
      </p:pic>
      <p:sp>
        <p:nvSpPr>
          <p:cNvPr id="3" name="Text 0"/>
          <p:cNvSpPr/>
          <p:nvPr/>
        </p:nvSpPr>
        <p:spPr>
          <a:xfrm>
            <a:off x="566928" y="2487168"/>
            <a:ext cx="9555480" cy="868680"/>
          </a:xfrm>
          <a:prstGeom prst="rect">
            <a:avLst/>
          </a:prstGeom>
          <a:noFill/>
          <a:ln/>
        </p:spPr>
        <p:txBody>
          <a:bodyPr wrap="square" lIns="0" tIns="0" rIns="0" bIns="0" rtlCol="0" anchor="t"/>
          <a:lstStyle/>
          <a:p>
            <a:pPr indent="0" marL="0">
              <a:buNone/>
            </a:pPr>
            <a:r>
              <a:rPr lang="en-US" sz="4000" b="1" dirty="0">
                <a:solidFill>
                  <a:srgbClr val="111827"/>
                </a:solidFill>
                <a:latin typeface="Calibri" pitchFamily="34" charset="0"/>
                <a:ea typeface="Calibri" pitchFamily="34" charset="-122"/>
                <a:cs typeface="Calibri" pitchFamily="34" charset="-120"/>
              </a:rPr>
              <a:t>The platform, screen by screen</a:t>
            </a:r>
            <a:endParaRPr lang="en-US" sz="4000" dirty="0"/>
          </a:p>
        </p:txBody>
      </p:sp>
      <p:sp>
        <p:nvSpPr>
          <p:cNvPr id="4" name="Text 1"/>
          <p:cNvSpPr/>
          <p:nvPr/>
        </p:nvSpPr>
        <p:spPr>
          <a:xfrm>
            <a:off x="566928" y="4041648"/>
            <a:ext cx="2377440" cy="822960"/>
          </a:xfrm>
          <a:prstGeom prst="rect">
            <a:avLst/>
          </a:prstGeom>
          <a:noFill/>
          <a:ln/>
        </p:spPr>
        <p:txBody>
          <a:bodyPr wrap="square" lIns="0" tIns="0" rIns="0" bIns="0" rtlCol="0" anchor="ctr"/>
          <a:lstStyle/>
          <a:p>
            <a:pPr indent="0" marL="0">
              <a:buNone/>
            </a:pPr>
            <a:r>
              <a:rPr lang="en-US" sz="5000" b="1" dirty="0">
                <a:solidFill>
                  <a:srgbClr val="111827"/>
                </a:solidFill>
                <a:latin typeface="Calibri" pitchFamily="34" charset="0"/>
                <a:ea typeface="Calibri" pitchFamily="34" charset="-122"/>
                <a:cs typeface="Calibri" pitchFamily="34" charset="-120"/>
              </a:rPr>
              <a:t>21</a:t>
            </a:r>
            <a:endParaRPr lang="en-US" sz="5000" dirty="0"/>
          </a:p>
        </p:txBody>
      </p:sp>
      <p:sp>
        <p:nvSpPr>
          <p:cNvPr id="5" name="Text 2"/>
          <p:cNvSpPr/>
          <p:nvPr/>
        </p:nvSpPr>
        <p:spPr>
          <a:xfrm>
            <a:off x="566928" y="4837176"/>
            <a:ext cx="2377440" cy="292608"/>
          </a:xfrm>
          <a:prstGeom prst="rect">
            <a:avLst/>
          </a:prstGeom>
          <a:noFill/>
          <a:ln/>
        </p:spPr>
        <p:txBody>
          <a:bodyPr wrap="square" lIns="0" tIns="0" rIns="0" bIns="0" rtlCol="0" anchor="ctr"/>
          <a:lstStyle/>
          <a:p>
            <a:pPr indent="0" marL="0">
              <a:buNone/>
            </a:pPr>
            <a:r>
              <a:rPr lang="en-US" sz="1100" b="1" spc="160" kern="0" dirty="0">
                <a:solidFill>
                  <a:srgbClr val="15803D"/>
                </a:solidFill>
                <a:latin typeface="Calibri" pitchFamily="34" charset="0"/>
                <a:ea typeface="Calibri" pitchFamily="34" charset="-122"/>
                <a:cs typeface="Calibri" pitchFamily="34" charset="-120"/>
              </a:rPr>
              <a:t>SCREENS</a:t>
            </a:r>
            <a:endParaRPr lang="en-US" sz="1100" dirty="0"/>
          </a:p>
        </p:txBody>
      </p:sp>
      <p:sp>
        <p:nvSpPr>
          <p:cNvPr id="6" name="Text 3"/>
          <p:cNvSpPr/>
          <p:nvPr/>
        </p:nvSpPr>
        <p:spPr>
          <a:xfrm>
            <a:off x="3081528" y="4041648"/>
            <a:ext cx="2377440" cy="822960"/>
          </a:xfrm>
          <a:prstGeom prst="rect">
            <a:avLst/>
          </a:prstGeom>
          <a:noFill/>
          <a:ln/>
        </p:spPr>
        <p:txBody>
          <a:bodyPr wrap="square" lIns="0" tIns="0" rIns="0" bIns="0" rtlCol="0" anchor="ctr"/>
          <a:lstStyle/>
          <a:p>
            <a:pPr indent="0" marL="0">
              <a:buNone/>
            </a:pPr>
            <a:r>
              <a:rPr lang="en-US" sz="5000" b="1" dirty="0">
                <a:solidFill>
                  <a:srgbClr val="111827"/>
                </a:solidFill>
                <a:latin typeface="Calibri" pitchFamily="34" charset="0"/>
                <a:ea typeface="Calibri" pitchFamily="34" charset="-122"/>
                <a:cs typeface="Calibri" pitchFamily="34" charset="-120"/>
              </a:rPr>
              <a:t>9</a:t>
            </a:r>
            <a:endParaRPr lang="en-US" sz="5000" dirty="0"/>
          </a:p>
        </p:txBody>
      </p:sp>
      <p:sp>
        <p:nvSpPr>
          <p:cNvPr id="7" name="Text 4"/>
          <p:cNvSpPr/>
          <p:nvPr/>
        </p:nvSpPr>
        <p:spPr>
          <a:xfrm>
            <a:off x="3081528" y="4837176"/>
            <a:ext cx="2377440" cy="292608"/>
          </a:xfrm>
          <a:prstGeom prst="rect">
            <a:avLst/>
          </a:prstGeom>
          <a:noFill/>
          <a:ln/>
        </p:spPr>
        <p:txBody>
          <a:bodyPr wrap="square" lIns="0" tIns="0" rIns="0" bIns="0" rtlCol="0" anchor="ctr"/>
          <a:lstStyle/>
          <a:p>
            <a:pPr indent="0" marL="0">
              <a:buNone/>
            </a:pPr>
            <a:r>
              <a:rPr lang="en-US" sz="1100" b="1" spc="160" kern="0" dirty="0">
                <a:solidFill>
                  <a:srgbClr val="15803D"/>
                </a:solidFill>
                <a:latin typeface="Calibri" pitchFamily="34" charset="0"/>
                <a:ea typeface="Calibri" pitchFamily="34" charset="-122"/>
                <a:cs typeface="Calibri" pitchFamily="34" charset="-120"/>
              </a:rPr>
              <a:t>SECTIONS</a:t>
            </a:r>
            <a:endParaRPr lang="en-US" sz="1100" dirty="0"/>
          </a:p>
        </p:txBody>
      </p:sp>
      <p:sp>
        <p:nvSpPr>
          <p:cNvPr id="8" name="Text 5"/>
          <p:cNvSpPr/>
          <p:nvPr/>
        </p:nvSpPr>
        <p:spPr>
          <a:xfrm>
            <a:off x="5596128" y="4041648"/>
            <a:ext cx="2377440" cy="822960"/>
          </a:xfrm>
          <a:prstGeom prst="rect">
            <a:avLst/>
          </a:prstGeom>
          <a:noFill/>
          <a:ln/>
        </p:spPr>
        <p:txBody>
          <a:bodyPr wrap="square" lIns="0" tIns="0" rIns="0" bIns="0" rtlCol="0" anchor="ctr"/>
          <a:lstStyle/>
          <a:p>
            <a:pPr indent="0" marL="0">
              <a:buNone/>
            </a:pPr>
            <a:r>
              <a:rPr lang="en-US" sz="5000" b="1" dirty="0">
                <a:solidFill>
                  <a:srgbClr val="111827"/>
                </a:solidFill>
                <a:latin typeface="Calibri" pitchFamily="34" charset="0"/>
                <a:ea typeface="Calibri" pitchFamily="34" charset="-122"/>
                <a:cs typeface="Calibri" pitchFamily="34" charset="-120"/>
              </a:rPr>
              <a:t>0.0.3</a:t>
            </a:r>
            <a:endParaRPr lang="en-US" sz="5000" dirty="0"/>
          </a:p>
        </p:txBody>
      </p:sp>
      <p:sp>
        <p:nvSpPr>
          <p:cNvPr id="9" name="Text 6"/>
          <p:cNvSpPr/>
          <p:nvPr/>
        </p:nvSpPr>
        <p:spPr>
          <a:xfrm>
            <a:off x="5596128" y="4837176"/>
            <a:ext cx="2377440" cy="292608"/>
          </a:xfrm>
          <a:prstGeom prst="rect">
            <a:avLst/>
          </a:prstGeom>
          <a:noFill/>
          <a:ln/>
        </p:spPr>
        <p:txBody>
          <a:bodyPr wrap="square" lIns="0" tIns="0" rIns="0" bIns="0" rtlCol="0" anchor="ctr"/>
          <a:lstStyle/>
          <a:p>
            <a:pPr indent="0" marL="0">
              <a:buNone/>
            </a:pPr>
            <a:r>
              <a:rPr lang="en-US" sz="1100" b="1" spc="160" kern="0" dirty="0">
                <a:solidFill>
                  <a:srgbClr val="15803D"/>
                </a:solidFill>
                <a:latin typeface="Calibri" pitchFamily="34" charset="0"/>
                <a:ea typeface="Calibri" pitchFamily="34" charset="-122"/>
                <a:cs typeface="Calibri" pitchFamily="34" charset="-120"/>
              </a:rPr>
              <a:t>VERSION</a:t>
            </a:r>
            <a:endParaRPr lang="en-US" sz="1100" dirty="0"/>
          </a:p>
        </p:txBody>
      </p:sp>
      <p:pic>
        <p:nvPicPr>
          <p:cNvPr id="10" name="Image 1" descr="/home/user/adafsa-mockup/assets/brand/wafra-logo.png">    </p:cNvPr>
          <p:cNvPicPr>
            <a:picLocks noChangeAspect="1"/>
          </p:cNvPicPr>
          <p:nvPr/>
        </p:nvPicPr>
        <p:blipFill>
          <a:blip r:embed="rId2"/>
          <a:stretch>
            <a:fillRect/>
          </a:stretch>
        </p:blipFill>
        <p:spPr>
          <a:xfrm>
            <a:off x="8522208" y="6144768"/>
            <a:ext cx="1600200" cy="511602"/>
          </a:xfrm>
          <a:prstGeom prst="rect">
            <a:avLst/>
          </a:prstGeom>
        </p:spPr>
      </p:pic>
      <p:sp>
        <p:nvSpPr>
          <p:cNvPr id="11" name="Text 7"/>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2" name="Text 8"/>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157984"/>
            <a:ext cx="8778240" cy="292608"/>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AN INTERACTIVE MOCKUP IS AVAILABLE</a:t>
            </a:r>
            <a:endParaRPr lang="en-US" sz="1200" dirty="0"/>
          </a:p>
        </p:txBody>
      </p:sp>
      <p:sp>
        <p:nvSpPr>
          <p:cNvPr id="3" name="Text 1"/>
          <p:cNvSpPr/>
          <p:nvPr/>
        </p:nvSpPr>
        <p:spPr>
          <a:xfrm>
            <a:off x="566928" y="2615184"/>
            <a:ext cx="9555480" cy="658368"/>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This mockup exists as an interactive website</a:t>
            </a:r>
            <a:endParaRPr lang="en-US" sz="2700" dirty="0"/>
          </a:p>
        </p:txBody>
      </p:sp>
      <p:sp>
        <p:nvSpPr>
          <p:cNvPr id="4" name="Text 2">
            <a:hlinkClick r:id="rId1" tooltip="Open the live mockup"/>
          </p:cNvPr>
          <p:cNvSpPr/>
          <p:nvPr/>
        </p:nvSpPr>
        <p:spPr>
          <a:xfrm>
            <a:off x="566928" y="3602736"/>
            <a:ext cx="9555480" cy="786384"/>
          </a:xfrm>
          <a:prstGeom prst="rect">
            <a:avLst/>
          </a:prstGeom>
          <a:noFill/>
          <a:ln/>
        </p:spPr>
        <p:txBody>
          <a:bodyPr wrap="square" lIns="0" tIns="0" rIns="0" bIns="0" rtlCol="0" anchor="t"/>
          <a:lstStyle/>
          <a:p>
            <a:pPr indent="0" marL="0">
              <a:buNone/>
            </a:pPr>
            <a:r>
              <a:rPr lang="en-US" sz="3000" b="1" u="sng" dirty="0">
                <a:solidFill>
                  <a:srgbClr val="BBF7D0"/>
                </a:solidFill>
                <a:latin typeface="Calibri" pitchFamily="34" charset="0"/>
                <a:ea typeface="Calibri" pitchFamily="34" charset="-122"/>
                <a:cs typeface="Calibri" pitchFamily="34" charset="-120"/>
                <a:hlinkClick r:id="rId1" invalidUrl="" action="" tgtFrame="" tooltip="Open the live mockup" history="1" highlightClick="0" endSnd="0">
                  <a:extLst>
                    <a:ext uri="{A12FA001-AC4F-418D-AE19-62706E023703}">
                      <ahyp:hlinkClr xmlns:ahyp="http://schemas.microsoft.com/office/drawing/2018/hyperlinkcolor" val="tx"/>
                    </a:ext>
                  </a:extLst>
                </a:hlinkClick>
              </a:rPr>
              <a:t>romainbigare.github.io/adafsa-mockup</a:t>
            </a:r>
            <a:endParaRPr lang="en-US" sz="3000" dirty="0"/>
          </a:p>
        </p:txBody>
      </p:sp>
      <p:sp>
        <p:nvSpPr>
          <p:cNvPr id="5" name="Text 3"/>
          <p:cNvSpPr/>
          <p:nvPr/>
        </p:nvSpPr>
        <p:spPr>
          <a:xfrm>
            <a:off x="566928" y="4590288"/>
            <a:ext cx="6949440" cy="548640"/>
          </a:xfrm>
          <a:prstGeom prst="rect">
            <a:avLst/>
          </a:prstGeom>
          <a:noFill/>
          <a:ln/>
        </p:spPr>
        <p:txBody>
          <a:bodyPr wrap="square" lIns="0" tIns="0" rIns="0" bIns="0" rtlCol="0" anchor="ctr"/>
          <a:lstStyle/>
          <a:p>
            <a:pPr indent="0" marL="0">
              <a:lnSpc>
                <a:spcPts val="1800"/>
              </a:lnSpc>
              <a:buNone/>
            </a:pPr>
            <a:r>
              <a:rPr lang="en-US" sz="1300" dirty="0">
                <a:solidFill>
                  <a:srgbClr val="BBF7D0"/>
                </a:solidFill>
                <a:latin typeface="Calibri" pitchFamily="34" charset="0"/>
                <a:ea typeface="Calibri" pitchFamily="34" charset="-122"/>
                <a:cs typeface="Calibri" pitchFamily="34" charset="-120"/>
              </a:rPr>
              <a:t>Every screen in this deck is a screenshot of the live, interactive mockup available at the url above.</a:t>
            </a:r>
            <a:endParaRPr lang="en-US" sz="1300" dirty="0"/>
          </a:p>
        </p:txBody>
      </p:sp>
      <p:sp>
        <p:nvSpPr>
          <p:cNvPr id="6" name="Text 4"/>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7" name="Text 5"/>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66928"/>
            <a:ext cx="54864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Contents</a:t>
            </a:r>
            <a:endParaRPr lang="en-US" sz="2400" dirty="0"/>
          </a:p>
        </p:txBody>
      </p:sp>
      <p:sp>
        <p:nvSpPr>
          <p:cNvPr id="3" name="Text 1"/>
          <p:cNvSpPr/>
          <p:nvPr/>
        </p:nvSpPr>
        <p:spPr>
          <a:xfrm>
            <a:off x="566928" y="1316736"/>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OVERVIEW</a:t>
            </a:r>
            <a:endParaRPr lang="en-US" sz="800" dirty="0"/>
          </a:p>
        </p:txBody>
      </p:sp>
      <p:sp>
        <p:nvSpPr>
          <p:cNvPr id="4" name="Text 2"/>
          <p:cNvSpPr/>
          <p:nvPr/>
        </p:nvSpPr>
        <p:spPr>
          <a:xfrm>
            <a:off x="566928" y="149504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OV</a:t>
            </a:r>
            <a:endParaRPr lang="en-US" sz="850" dirty="0"/>
          </a:p>
        </p:txBody>
      </p:sp>
      <p:sp>
        <p:nvSpPr>
          <p:cNvPr id="5" name="Text 3"/>
          <p:cNvSpPr/>
          <p:nvPr/>
        </p:nvSpPr>
        <p:spPr>
          <a:xfrm>
            <a:off x="969264" y="149504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Overview</a:t>
            </a:r>
            <a:endParaRPr lang="en-US" sz="850" dirty="0"/>
          </a:p>
        </p:txBody>
      </p:sp>
      <p:sp>
        <p:nvSpPr>
          <p:cNvPr id="6" name="Text 4"/>
          <p:cNvSpPr/>
          <p:nvPr/>
        </p:nvSpPr>
        <p:spPr>
          <a:xfrm>
            <a:off x="3112008" y="149504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5</a:t>
            </a:r>
            <a:endParaRPr lang="en-US" sz="850" dirty="0"/>
          </a:p>
        </p:txBody>
      </p:sp>
      <p:sp>
        <p:nvSpPr>
          <p:cNvPr id="7" name="Text 5"/>
          <p:cNvSpPr/>
          <p:nvPr/>
        </p:nvSpPr>
        <p:spPr>
          <a:xfrm>
            <a:off x="566928" y="1746504"/>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CROP MONITORING</a:t>
            </a:r>
            <a:endParaRPr lang="en-US" sz="800" dirty="0"/>
          </a:p>
        </p:txBody>
      </p:sp>
      <p:sp>
        <p:nvSpPr>
          <p:cNvPr id="8" name="Text 6"/>
          <p:cNvSpPr/>
          <p:nvPr/>
        </p:nvSpPr>
        <p:spPr>
          <a:xfrm>
            <a:off x="566928" y="1924812"/>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C1</a:t>
            </a:r>
            <a:endParaRPr lang="en-US" sz="850" dirty="0"/>
          </a:p>
        </p:txBody>
      </p:sp>
      <p:sp>
        <p:nvSpPr>
          <p:cNvPr id="9" name="Text 7"/>
          <p:cNvSpPr/>
          <p:nvPr/>
        </p:nvSpPr>
        <p:spPr>
          <a:xfrm>
            <a:off x="969264" y="1924812"/>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Crops and area summary</a:t>
            </a:r>
            <a:endParaRPr lang="en-US" sz="850" dirty="0"/>
          </a:p>
        </p:txBody>
      </p:sp>
      <p:sp>
        <p:nvSpPr>
          <p:cNvPr id="10" name="Text 8"/>
          <p:cNvSpPr/>
          <p:nvPr/>
        </p:nvSpPr>
        <p:spPr>
          <a:xfrm>
            <a:off x="3112008" y="1924812"/>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7</a:t>
            </a:r>
            <a:endParaRPr lang="en-US" sz="850" dirty="0"/>
          </a:p>
        </p:txBody>
      </p:sp>
      <p:sp>
        <p:nvSpPr>
          <p:cNvPr id="11" name="Text 9"/>
          <p:cNvSpPr/>
          <p:nvPr/>
        </p:nvSpPr>
        <p:spPr>
          <a:xfrm>
            <a:off x="566928" y="2139696"/>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C2</a:t>
            </a:r>
            <a:endParaRPr lang="en-US" sz="850" dirty="0"/>
          </a:p>
        </p:txBody>
      </p:sp>
      <p:sp>
        <p:nvSpPr>
          <p:cNvPr id="12" name="Text 10"/>
          <p:cNvSpPr/>
          <p:nvPr/>
        </p:nvSpPr>
        <p:spPr>
          <a:xfrm>
            <a:off x="969264" y="2139696"/>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Cereals and fodder</a:t>
            </a:r>
            <a:endParaRPr lang="en-US" sz="850" dirty="0"/>
          </a:p>
        </p:txBody>
      </p:sp>
      <p:sp>
        <p:nvSpPr>
          <p:cNvPr id="13" name="Text 11"/>
          <p:cNvSpPr/>
          <p:nvPr/>
        </p:nvSpPr>
        <p:spPr>
          <a:xfrm>
            <a:off x="3112008" y="2139696"/>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8</a:t>
            </a:r>
            <a:endParaRPr lang="en-US" sz="850" dirty="0"/>
          </a:p>
        </p:txBody>
      </p:sp>
      <p:sp>
        <p:nvSpPr>
          <p:cNvPr id="14" name="Text 12"/>
          <p:cNvSpPr/>
          <p:nvPr/>
        </p:nvSpPr>
        <p:spPr>
          <a:xfrm>
            <a:off x="566928" y="2354580"/>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C3</a:t>
            </a:r>
            <a:endParaRPr lang="en-US" sz="850" dirty="0"/>
          </a:p>
        </p:txBody>
      </p:sp>
      <p:sp>
        <p:nvSpPr>
          <p:cNvPr id="15" name="Text 13"/>
          <p:cNvSpPr/>
          <p:nvPr/>
        </p:nvSpPr>
        <p:spPr>
          <a:xfrm>
            <a:off x="969264" y="2354580"/>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Open field crops</a:t>
            </a:r>
            <a:endParaRPr lang="en-US" sz="850" dirty="0"/>
          </a:p>
        </p:txBody>
      </p:sp>
      <p:sp>
        <p:nvSpPr>
          <p:cNvPr id="16" name="Text 14"/>
          <p:cNvSpPr/>
          <p:nvPr/>
        </p:nvSpPr>
        <p:spPr>
          <a:xfrm>
            <a:off x="3112008" y="2354580"/>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9</a:t>
            </a:r>
            <a:endParaRPr lang="en-US" sz="850" dirty="0"/>
          </a:p>
        </p:txBody>
      </p:sp>
      <p:sp>
        <p:nvSpPr>
          <p:cNvPr id="17" name="Text 15"/>
          <p:cNvSpPr/>
          <p:nvPr/>
        </p:nvSpPr>
        <p:spPr>
          <a:xfrm>
            <a:off x="566928" y="256946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C4</a:t>
            </a:r>
            <a:endParaRPr lang="en-US" sz="850" dirty="0"/>
          </a:p>
        </p:txBody>
      </p:sp>
      <p:sp>
        <p:nvSpPr>
          <p:cNvPr id="18" name="Text 16"/>
          <p:cNvSpPr/>
          <p:nvPr/>
        </p:nvSpPr>
        <p:spPr>
          <a:xfrm>
            <a:off x="969264" y="256946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Fallow land</a:t>
            </a:r>
            <a:endParaRPr lang="en-US" sz="850" dirty="0"/>
          </a:p>
        </p:txBody>
      </p:sp>
      <p:sp>
        <p:nvSpPr>
          <p:cNvPr id="19" name="Text 17"/>
          <p:cNvSpPr/>
          <p:nvPr/>
        </p:nvSpPr>
        <p:spPr>
          <a:xfrm>
            <a:off x="3112008" y="256946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10</a:t>
            </a:r>
            <a:endParaRPr lang="en-US" sz="850" dirty="0"/>
          </a:p>
        </p:txBody>
      </p:sp>
      <p:sp>
        <p:nvSpPr>
          <p:cNvPr id="20" name="Text 18"/>
          <p:cNvSpPr/>
          <p:nvPr/>
        </p:nvSpPr>
        <p:spPr>
          <a:xfrm>
            <a:off x="3889248" y="1316736"/>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TREE MONITORING</a:t>
            </a:r>
            <a:endParaRPr lang="en-US" sz="800" dirty="0"/>
          </a:p>
        </p:txBody>
      </p:sp>
      <p:sp>
        <p:nvSpPr>
          <p:cNvPr id="21" name="Text 19"/>
          <p:cNvSpPr/>
          <p:nvPr/>
        </p:nvSpPr>
        <p:spPr>
          <a:xfrm>
            <a:off x="3889248" y="149504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T1</a:t>
            </a:r>
            <a:endParaRPr lang="en-US" sz="850" dirty="0"/>
          </a:p>
        </p:txBody>
      </p:sp>
      <p:sp>
        <p:nvSpPr>
          <p:cNvPr id="22" name="Text 20"/>
          <p:cNvSpPr/>
          <p:nvPr/>
        </p:nvSpPr>
        <p:spPr>
          <a:xfrm>
            <a:off x="4291584" y="149504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Tree count</a:t>
            </a:r>
            <a:endParaRPr lang="en-US" sz="850" dirty="0"/>
          </a:p>
        </p:txBody>
      </p:sp>
      <p:sp>
        <p:nvSpPr>
          <p:cNvPr id="23" name="Text 21"/>
          <p:cNvSpPr/>
          <p:nvPr/>
        </p:nvSpPr>
        <p:spPr>
          <a:xfrm>
            <a:off x="6434328" y="149504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12</a:t>
            </a:r>
            <a:endParaRPr lang="en-US" sz="850" dirty="0"/>
          </a:p>
        </p:txBody>
      </p:sp>
      <p:sp>
        <p:nvSpPr>
          <p:cNvPr id="24" name="Text 22"/>
          <p:cNvSpPr/>
          <p:nvPr/>
        </p:nvSpPr>
        <p:spPr>
          <a:xfrm>
            <a:off x="3889248" y="1709928"/>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T2</a:t>
            </a:r>
            <a:endParaRPr lang="en-US" sz="850" dirty="0"/>
          </a:p>
        </p:txBody>
      </p:sp>
      <p:sp>
        <p:nvSpPr>
          <p:cNvPr id="25" name="Text 23"/>
          <p:cNvSpPr/>
          <p:nvPr/>
        </p:nvSpPr>
        <p:spPr>
          <a:xfrm>
            <a:off x="4291584" y="1709928"/>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Canopy health</a:t>
            </a:r>
            <a:endParaRPr lang="en-US" sz="850" dirty="0"/>
          </a:p>
        </p:txBody>
      </p:sp>
      <p:sp>
        <p:nvSpPr>
          <p:cNvPr id="26" name="Text 24"/>
          <p:cNvSpPr/>
          <p:nvPr/>
        </p:nvSpPr>
        <p:spPr>
          <a:xfrm>
            <a:off x="6434328" y="1709928"/>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13</a:t>
            </a:r>
            <a:endParaRPr lang="en-US" sz="850" dirty="0"/>
          </a:p>
        </p:txBody>
      </p:sp>
      <p:sp>
        <p:nvSpPr>
          <p:cNvPr id="27" name="Text 25"/>
          <p:cNvSpPr/>
          <p:nvPr/>
        </p:nvSpPr>
        <p:spPr>
          <a:xfrm>
            <a:off x="3889248" y="1924812"/>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T3</a:t>
            </a:r>
            <a:endParaRPr lang="en-US" sz="850" dirty="0"/>
          </a:p>
        </p:txBody>
      </p:sp>
      <p:sp>
        <p:nvSpPr>
          <p:cNvPr id="28" name="Text 26"/>
          <p:cNvSpPr/>
          <p:nvPr/>
        </p:nvSpPr>
        <p:spPr>
          <a:xfrm>
            <a:off x="4291584" y="1924812"/>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Annual change</a:t>
            </a:r>
            <a:endParaRPr lang="en-US" sz="850" dirty="0"/>
          </a:p>
        </p:txBody>
      </p:sp>
      <p:sp>
        <p:nvSpPr>
          <p:cNvPr id="29" name="Text 27"/>
          <p:cNvSpPr/>
          <p:nvPr/>
        </p:nvSpPr>
        <p:spPr>
          <a:xfrm>
            <a:off x="6434328" y="1924812"/>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14</a:t>
            </a:r>
            <a:endParaRPr lang="en-US" sz="850" dirty="0"/>
          </a:p>
        </p:txBody>
      </p:sp>
      <p:sp>
        <p:nvSpPr>
          <p:cNvPr id="30" name="Text 28"/>
          <p:cNvSpPr/>
          <p:nvPr/>
        </p:nvSpPr>
        <p:spPr>
          <a:xfrm>
            <a:off x="3889248" y="2176272"/>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LAND USE &amp; STRUCTURES</a:t>
            </a:r>
            <a:endParaRPr lang="en-US" sz="800" dirty="0"/>
          </a:p>
        </p:txBody>
      </p:sp>
      <p:sp>
        <p:nvSpPr>
          <p:cNvPr id="31" name="Text 29"/>
          <p:cNvSpPr/>
          <p:nvPr/>
        </p:nvSpPr>
        <p:spPr>
          <a:xfrm>
            <a:off x="3889248" y="2354580"/>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L1</a:t>
            </a:r>
            <a:endParaRPr lang="en-US" sz="850" dirty="0"/>
          </a:p>
        </p:txBody>
      </p:sp>
      <p:sp>
        <p:nvSpPr>
          <p:cNvPr id="32" name="Text 30"/>
          <p:cNvSpPr/>
          <p:nvPr/>
        </p:nvSpPr>
        <p:spPr>
          <a:xfrm>
            <a:off x="4291584" y="2354580"/>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Land use</a:t>
            </a:r>
            <a:endParaRPr lang="en-US" sz="850" dirty="0"/>
          </a:p>
        </p:txBody>
      </p:sp>
      <p:sp>
        <p:nvSpPr>
          <p:cNvPr id="33" name="Text 31"/>
          <p:cNvSpPr/>
          <p:nvPr/>
        </p:nvSpPr>
        <p:spPr>
          <a:xfrm>
            <a:off x="6434328" y="2354580"/>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16</a:t>
            </a:r>
            <a:endParaRPr lang="en-US" sz="850" dirty="0"/>
          </a:p>
        </p:txBody>
      </p:sp>
      <p:sp>
        <p:nvSpPr>
          <p:cNvPr id="34" name="Text 32"/>
          <p:cNvSpPr/>
          <p:nvPr/>
        </p:nvSpPr>
        <p:spPr>
          <a:xfrm>
            <a:off x="3889248" y="256946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L2</a:t>
            </a:r>
            <a:endParaRPr lang="en-US" sz="850" dirty="0"/>
          </a:p>
        </p:txBody>
      </p:sp>
      <p:sp>
        <p:nvSpPr>
          <p:cNvPr id="35" name="Text 33"/>
          <p:cNvSpPr/>
          <p:nvPr/>
        </p:nvSpPr>
        <p:spPr>
          <a:xfrm>
            <a:off x="4291584" y="256946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Structures</a:t>
            </a:r>
            <a:endParaRPr lang="en-US" sz="850" dirty="0"/>
          </a:p>
        </p:txBody>
      </p:sp>
      <p:sp>
        <p:nvSpPr>
          <p:cNvPr id="36" name="Text 34"/>
          <p:cNvSpPr/>
          <p:nvPr/>
        </p:nvSpPr>
        <p:spPr>
          <a:xfrm>
            <a:off x="6434328" y="256946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17</a:t>
            </a:r>
            <a:endParaRPr lang="en-US" sz="850" dirty="0"/>
          </a:p>
        </p:txBody>
      </p:sp>
      <p:sp>
        <p:nvSpPr>
          <p:cNvPr id="37" name="Text 35"/>
          <p:cNvSpPr/>
          <p:nvPr/>
        </p:nvSpPr>
        <p:spPr>
          <a:xfrm>
            <a:off x="3889248" y="2784348"/>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L3</a:t>
            </a:r>
            <a:endParaRPr lang="en-US" sz="850" dirty="0"/>
          </a:p>
        </p:txBody>
      </p:sp>
      <p:sp>
        <p:nvSpPr>
          <p:cNvPr id="38" name="Text 36"/>
          <p:cNvSpPr/>
          <p:nvPr/>
        </p:nvSpPr>
        <p:spPr>
          <a:xfrm>
            <a:off x="4291584" y="2784348"/>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Change tracking</a:t>
            </a:r>
            <a:endParaRPr lang="en-US" sz="850" dirty="0"/>
          </a:p>
        </p:txBody>
      </p:sp>
      <p:sp>
        <p:nvSpPr>
          <p:cNvPr id="39" name="Text 37"/>
          <p:cNvSpPr/>
          <p:nvPr/>
        </p:nvSpPr>
        <p:spPr>
          <a:xfrm>
            <a:off x="6434328" y="2784348"/>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18</a:t>
            </a:r>
            <a:endParaRPr lang="en-US" sz="850" dirty="0"/>
          </a:p>
        </p:txBody>
      </p:sp>
      <p:sp>
        <p:nvSpPr>
          <p:cNvPr id="40" name="Text 38"/>
          <p:cNvSpPr/>
          <p:nvPr/>
        </p:nvSpPr>
        <p:spPr>
          <a:xfrm>
            <a:off x="7211568" y="1316736"/>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IRRIGATION EFFICIENCY</a:t>
            </a:r>
            <a:endParaRPr lang="en-US" sz="800" dirty="0"/>
          </a:p>
        </p:txBody>
      </p:sp>
      <p:sp>
        <p:nvSpPr>
          <p:cNvPr id="41" name="Text 39"/>
          <p:cNvSpPr/>
          <p:nvPr/>
        </p:nvSpPr>
        <p:spPr>
          <a:xfrm>
            <a:off x="7211568" y="149504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I1</a:t>
            </a:r>
            <a:endParaRPr lang="en-US" sz="850" dirty="0"/>
          </a:p>
        </p:txBody>
      </p:sp>
      <p:sp>
        <p:nvSpPr>
          <p:cNvPr id="42" name="Text 40"/>
          <p:cNvSpPr/>
          <p:nvPr/>
        </p:nvSpPr>
        <p:spPr>
          <a:xfrm>
            <a:off x="7613904" y="149504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Scores</a:t>
            </a:r>
            <a:endParaRPr lang="en-US" sz="850" dirty="0"/>
          </a:p>
        </p:txBody>
      </p:sp>
      <p:sp>
        <p:nvSpPr>
          <p:cNvPr id="43" name="Text 41"/>
          <p:cNvSpPr/>
          <p:nvPr/>
        </p:nvSpPr>
        <p:spPr>
          <a:xfrm>
            <a:off x="9756648" y="149504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20</a:t>
            </a:r>
            <a:endParaRPr lang="en-US" sz="850" dirty="0"/>
          </a:p>
        </p:txBody>
      </p:sp>
      <p:sp>
        <p:nvSpPr>
          <p:cNvPr id="44" name="Text 42"/>
          <p:cNvSpPr/>
          <p:nvPr/>
        </p:nvSpPr>
        <p:spPr>
          <a:xfrm>
            <a:off x="7211568" y="1709928"/>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I2</a:t>
            </a:r>
            <a:endParaRPr lang="en-US" sz="850" dirty="0"/>
          </a:p>
        </p:txBody>
      </p:sp>
      <p:sp>
        <p:nvSpPr>
          <p:cNvPr id="45" name="Text 43"/>
          <p:cNvSpPr/>
          <p:nvPr/>
        </p:nvSpPr>
        <p:spPr>
          <a:xfrm>
            <a:off x="7613904" y="1709928"/>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Trend by quarter</a:t>
            </a:r>
            <a:endParaRPr lang="en-US" sz="850" dirty="0"/>
          </a:p>
        </p:txBody>
      </p:sp>
      <p:sp>
        <p:nvSpPr>
          <p:cNvPr id="46" name="Text 44"/>
          <p:cNvSpPr/>
          <p:nvPr/>
        </p:nvSpPr>
        <p:spPr>
          <a:xfrm>
            <a:off x="9756648" y="1709928"/>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21</a:t>
            </a:r>
            <a:endParaRPr lang="en-US" sz="850" dirty="0"/>
          </a:p>
        </p:txBody>
      </p:sp>
      <p:sp>
        <p:nvSpPr>
          <p:cNvPr id="47" name="Text 45"/>
          <p:cNvSpPr/>
          <p:nvPr/>
        </p:nvSpPr>
        <p:spPr>
          <a:xfrm>
            <a:off x="7211568" y="1961388"/>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CROP WATER CALCULATOR</a:t>
            </a:r>
            <a:endParaRPr lang="en-US" sz="800" dirty="0"/>
          </a:p>
        </p:txBody>
      </p:sp>
      <p:sp>
        <p:nvSpPr>
          <p:cNvPr id="48" name="Text 46"/>
          <p:cNvSpPr/>
          <p:nvPr/>
        </p:nvSpPr>
        <p:spPr>
          <a:xfrm>
            <a:off x="7211568" y="2139696"/>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W1</a:t>
            </a:r>
            <a:endParaRPr lang="en-US" sz="850" dirty="0"/>
          </a:p>
        </p:txBody>
      </p:sp>
      <p:sp>
        <p:nvSpPr>
          <p:cNvPr id="49" name="Text 47"/>
          <p:cNvSpPr/>
          <p:nvPr/>
        </p:nvSpPr>
        <p:spPr>
          <a:xfrm>
            <a:off x="7613904" y="2139696"/>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Monthly demand</a:t>
            </a:r>
            <a:endParaRPr lang="en-US" sz="850" dirty="0"/>
          </a:p>
        </p:txBody>
      </p:sp>
      <p:sp>
        <p:nvSpPr>
          <p:cNvPr id="50" name="Text 48"/>
          <p:cNvSpPr/>
          <p:nvPr/>
        </p:nvSpPr>
        <p:spPr>
          <a:xfrm>
            <a:off x="9756648" y="2139696"/>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23</a:t>
            </a:r>
            <a:endParaRPr lang="en-US" sz="850" dirty="0"/>
          </a:p>
        </p:txBody>
      </p:sp>
      <p:sp>
        <p:nvSpPr>
          <p:cNvPr id="51" name="Text 49"/>
          <p:cNvSpPr/>
          <p:nvPr/>
        </p:nvSpPr>
        <p:spPr>
          <a:xfrm>
            <a:off x="7211568" y="2354580"/>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W2</a:t>
            </a:r>
            <a:endParaRPr lang="en-US" sz="850" dirty="0"/>
          </a:p>
        </p:txBody>
      </p:sp>
      <p:sp>
        <p:nvSpPr>
          <p:cNvPr id="52" name="Text 50"/>
          <p:cNvSpPr/>
          <p:nvPr/>
        </p:nvSpPr>
        <p:spPr>
          <a:xfrm>
            <a:off x="7613904" y="2354580"/>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Season budget</a:t>
            </a:r>
            <a:endParaRPr lang="en-US" sz="850" dirty="0"/>
          </a:p>
        </p:txBody>
      </p:sp>
      <p:sp>
        <p:nvSpPr>
          <p:cNvPr id="53" name="Text 51"/>
          <p:cNvSpPr/>
          <p:nvPr/>
        </p:nvSpPr>
        <p:spPr>
          <a:xfrm>
            <a:off x="9756648" y="2354580"/>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24</a:t>
            </a:r>
            <a:endParaRPr lang="en-US" sz="850" dirty="0"/>
          </a:p>
        </p:txBody>
      </p:sp>
      <p:sp>
        <p:nvSpPr>
          <p:cNvPr id="54" name="Text 52"/>
          <p:cNvSpPr/>
          <p:nvPr/>
        </p:nvSpPr>
        <p:spPr>
          <a:xfrm>
            <a:off x="7211568" y="2606040"/>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YIELD OPTIMISATION</a:t>
            </a:r>
            <a:endParaRPr lang="en-US" sz="800" dirty="0"/>
          </a:p>
        </p:txBody>
      </p:sp>
      <p:sp>
        <p:nvSpPr>
          <p:cNvPr id="55" name="Text 53"/>
          <p:cNvSpPr/>
          <p:nvPr/>
        </p:nvSpPr>
        <p:spPr>
          <a:xfrm>
            <a:off x="7211568" y="2784348"/>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Y1</a:t>
            </a:r>
            <a:endParaRPr lang="en-US" sz="850" dirty="0"/>
          </a:p>
        </p:txBody>
      </p:sp>
      <p:sp>
        <p:nvSpPr>
          <p:cNvPr id="56" name="Text 54"/>
          <p:cNvSpPr/>
          <p:nvPr/>
        </p:nvSpPr>
        <p:spPr>
          <a:xfrm>
            <a:off x="7613904" y="2784348"/>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Yield forecast</a:t>
            </a:r>
            <a:endParaRPr lang="en-US" sz="850" dirty="0"/>
          </a:p>
        </p:txBody>
      </p:sp>
      <p:sp>
        <p:nvSpPr>
          <p:cNvPr id="57" name="Text 55"/>
          <p:cNvSpPr/>
          <p:nvPr/>
        </p:nvSpPr>
        <p:spPr>
          <a:xfrm>
            <a:off x="9756648" y="2784348"/>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26</a:t>
            </a:r>
            <a:endParaRPr lang="en-US" sz="850" dirty="0"/>
          </a:p>
        </p:txBody>
      </p:sp>
      <p:sp>
        <p:nvSpPr>
          <p:cNvPr id="58" name="Text 56"/>
          <p:cNvSpPr/>
          <p:nvPr/>
        </p:nvSpPr>
        <p:spPr>
          <a:xfrm>
            <a:off x="7211568" y="2999232"/>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Y2</a:t>
            </a:r>
            <a:endParaRPr lang="en-US" sz="850" dirty="0"/>
          </a:p>
        </p:txBody>
      </p:sp>
      <p:sp>
        <p:nvSpPr>
          <p:cNvPr id="59" name="Text 57"/>
          <p:cNvSpPr/>
          <p:nvPr/>
        </p:nvSpPr>
        <p:spPr>
          <a:xfrm>
            <a:off x="7613904" y="2999232"/>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Crop calendar</a:t>
            </a:r>
            <a:endParaRPr lang="en-US" sz="850" dirty="0"/>
          </a:p>
        </p:txBody>
      </p:sp>
      <p:sp>
        <p:nvSpPr>
          <p:cNvPr id="60" name="Text 58"/>
          <p:cNvSpPr/>
          <p:nvPr/>
        </p:nvSpPr>
        <p:spPr>
          <a:xfrm>
            <a:off x="9756648" y="2999232"/>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27</a:t>
            </a:r>
            <a:endParaRPr lang="en-US" sz="850" dirty="0"/>
          </a:p>
        </p:txBody>
      </p:sp>
      <p:sp>
        <p:nvSpPr>
          <p:cNvPr id="61" name="Text 59"/>
          <p:cNvSpPr/>
          <p:nvPr/>
        </p:nvSpPr>
        <p:spPr>
          <a:xfrm>
            <a:off x="7211568" y="3250692"/>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INDIVIDUAL FARMS</a:t>
            </a:r>
            <a:endParaRPr lang="en-US" sz="800" dirty="0"/>
          </a:p>
        </p:txBody>
      </p:sp>
      <p:sp>
        <p:nvSpPr>
          <p:cNvPr id="62" name="Text 60"/>
          <p:cNvSpPr/>
          <p:nvPr/>
        </p:nvSpPr>
        <p:spPr>
          <a:xfrm>
            <a:off x="7211568" y="3429000"/>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F1</a:t>
            </a:r>
            <a:endParaRPr lang="en-US" sz="850" dirty="0"/>
          </a:p>
        </p:txBody>
      </p:sp>
      <p:sp>
        <p:nvSpPr>
          <p:cNvPr id="63" name="Text 61"/>
          <p:cNvSpPr/>
          <p:nvPr/>
        </p:nvSpPr>
        <p:spPr>
          <a:xfrm>
            <a:off x="7613904" y="3429000"/>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Farm register</a:t>
            </a:r>
            <a:endParaRPr lang="en-US" sz="850" dirty="0"/>
          </a:p>
        </p:txBody>
      </p:sp>
      <p:sp>
        <p:nvSpPr>
          <p:cNvPr id="64" name="Text 62"/>
          <p:cNvSpPr/>
          <p:nvPr/>
        </p:nvSpPr>
        <p:spPr>
          <a:xfrm>
            <a:off x="9756648" y="3429000"/>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29</a:t>
            </a:r>
            <a:endParaRPr lang="en-US" sz="850" dirty="0"/>
          </a:p>
        </p:txBody>
      </p:sp>
      <p:sp>
        <p:nvSpPr>
          <p:cNvPr id="65" name="Text 63"/>
          <p:cNvSpPr/>
          <p:nvPr/>
        </p:nvSpPr>
        <p:spPr>
          <a:xfrm>
            <a:off x="7211568" y="3643884"/>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F2</a:t>
            </a:r>
            <a:endParaRPr lang="en-US" sz="850" dirty="0"/>
          </a:p>
        </p:txBody>
      </p:sp>
      <p:sp>
        <p:nvSpPr>
          <p:cNvPr id="66" name="Text 64"/>
          <p:cNvSpPr/>
          <p:nvPr/>
        </p:nvSpPr>
        <p:spPr>
          <a:xfrm>
            <a:off x="7613904" y="3643884"/>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Farm profile</a:t>
            </a:r>
            <a:endParaRPr lang="en-US" sz="850" dirty="0"/>
          </a:p>
        </p:txBody>
      </p:sp>
      <p:sp>
        <p:nvSpPr>
          <p:cNvPr id="67" name="Text 65"/>
          <p:cNvSpPr/>
          <p:nvPr/>
        </p:nvSpPr>
        <p:spPr>
          <a:xfrm>
            <a:off x="9756648" y="3643884"/>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30</a:t>
            </a:r>
            <a:endParaRPr lang="en-US" sz="850" dirty="0"/>
          </a:p>
        </p:txBody>
      </p:sp>
      <p:sp>
        <p:nvSpPr>
          <p:cNvPr id="68" name="Text 66"/>
          <p:cNvSpPr/>
          <p:nvPr/>
        </p:nvSpPr>
        <p:spPr>
          <a:xfrm>
            <a:off x="7211568" y="3858768"/>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F3</a:t>
            </a:r>
            <a:endParaRPr lang="en-US" sz="850" dirty="0"/>
          </a:p>
        </p:txBody>
      </p:sp>
      <p:sp>
        <p:nvSpPr>
          <p:cNvPr id="69" name="Text 67"/>
          <p:cNvSpPr/>
          <p:nvPr/>
        </p:nvSpPr>
        <p:spPr>
          <a:xfrm>
            <a:off x="7613904" y="3858768"/>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Corrective actions</a:t>
            </a:r>
            <a:endParaRPr lang="en-US" sz="850" dirty="0"/>
          </a:p>
        </p:txBody>
      </p:sp>
      <p:sp>
        <p:nvSpPr>
          <p:cNvPr id="70" name="Text 68"/>
          <p:cNvSpPr/>
          <p:nvPr/>
        </p:nvSpPr>
        <p:spPr>
          <a:xfrm>
            <a:off x="9756648" y="3858768"/>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31</a:t>
            </a:r>
            <a:endParaRPr lang="en-US" sz="850" dirty="0"/>
          </a:p>
        </p:txBody>
      </p:sp>
      <p:sp>
        <p:nvSpPr>
          <p:cNvPr id="71" name="Text 69"/>
          <p:cNvSpPr/>
          <p:nvPr/>
        </p:nvSpPr>
        <p:spPr>
          <a:xfrm>
            <a:off x="7211568" y="4110228"/>
            <a:ext cx="2910840" cy="214884"/>
          </a:xfrm>
          <a:prstGeom prst="rect">
            <a:avLst/>
          </a:prstGeom>
          <a:noFill/>
          <a:ln/>
        </p:spPr>
        <p:txBody>
          <a:bodyPr wrap="square" lIns="0" tIns="0" rIns="0" bIns="0" rtlCol="0" anchor="ctr"/>
          <a:lstStyle/>
          <a:p>
            <a:pPr indent="0" marL="0">
              <a:buNone/>
            </a:pPr>
            <a:r>
              <a:rPr lang="en-US" sz="800" b="1" spc="140" kern="0" dirty="0">
                <a:solidFill>
                  <a:srgbClr val="15803D"/>
                </a:solidFill>
                <a:latin typeface="Calibri" pitchFamily="34" charset="0"/>
                <a:ea typeface="Calibri" pitchFamily="34" charset="-122"/>
                <a:cs typeface="Calibri" pitchFamily="34" charset="-120"/>
              </a:rPr>
              <a:t>SUPPORT</a:t>
            </a:r>
            <a:endParaRPr lang="en-US" sz="800" dirty="0"/>
          </a:p>
        </p:txBody>
      </p:sp>
      <p:sp>
        <p:nvSpPr>
          <p:cNvPr id="72" name="Text 70"/>
          <p:cNvSpPr/>
          <p:nvPr/>
        </p:nvSpPr>
        <p:spPr>
          <a:xfrm>
            <a:off x="7211568" y="4288536"/>
            <a:ext cx="384048" cy="214884"/>
          </a:xfrm>
          <a:prstGeom prst="rect">
            <a:avLst/>
          </a:prstGeom>
          <a:noFill/>
          <a:ln/>
        </p:spPr>
        <p:txBody>
          <a:bodyPr wrap="square" lIns="0" tIns="0" rIns="0" bIns="0" rtlCol="0" anchor="ctr"/>
          <a:lstStyle/>
          <a:p>
            <a:pPr indent="0" marL="0">
              <a:buNone/>
            </a:pPr>
            <a:r>
              <a:rPr lang="en-US" sz="850" b="1" dirty="0">
                <a:solidFill>
                  <a:srgbClr val="111827"/>
                </a:solidFill>
                <a:latin typeface="Calibri" pitchFamily="34" charset="0"/>
                <a:ea typeface="Calibri" pitchFamily="34" charset="-122"/>
                <a:cs typeface="Calibri" pitchFamily="34" charset="-120"/>
              </a:rPr>
              <a:t>S1</a:t>
            </a:r>
            <a:endParaRPr lang="en-US" sz="850" dirty="0"/>
          </a:p>
        </p:txBody>
      </p:sp>
      <p:sp>
        <p:nvSpPr>
          <p:cNvPr id="73" name="Text 71"/>
          <p:cNvSpPr/>
          <p:nvPr/>
        </p:nvSpPr>
        <p:spPr>
          <a:xfrm>
            <a:off x="7613904" y="4288536"/>
            <a:ext cx="2124456" cy="214884"/>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Support</a:t>
            </a:r>
            <a:endParaRPr lang="en-US" sz="850" dirty="0"/>
          </a:p>
        </p:txBody>
      </p:sp>
      <p:sp>
        <p:nvSpPr>
          <p:cNvPr id="74" name="Text 72"/>
          <p:cNvSpPr/>
          <p:nvPr/>
        </p:nvSpPr>
        <p:spPr>
          <a:xfrm>
            <a:off x="9756648" y="4288536"/>
            <a:ext cx="365760" cy="214884"/>
          </a:xfrm>
          <a:prstGeom prst="rect">
            <a:avLst/>
          </a:prstGeom>
          <a:noFill/>
          <a:ln/>
        </p:spPr>
        <p:txBody>
          <a:bodyPr wrap="square" lIns="0" tIns="0" rIns="0" bIns="0" rtlCol="0" anchor="ctr"/>
          <a:lstStyle/>
          <a:p>
            <a:pPr algn="r" indent="0" marL="0">
              <a:buNone/>
            </a:pPr>
            <a:r>
              <a:rPr lang="en-US" sz="850" dirty="0">
                <a:solidFill>
                  <a:srgbClr val="9CA3AF"/>
                </a:solidFill>
                <a:latin typeface="Calibri" pitchFamily="34" charset="0"/>
                <a:ea typeface="Calibri" pitchFamily="34" charset="-122"/>
                <a:cs typeface="Calibri" pitchFamily="34" charset="-120"/>
              </a:rPr>
              <a:t>33</a:t>
            </a:r>
            <a:endParaRPr lang="en-US" sz="850" dirty="0"/>
          </a:p>
        </p:txBody>
      </p:sp>
      <p:sp>
        <p:nvSpPr>
          <p:cNvPr id="75" name="Text 7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76" name="Text 7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1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Overview</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1 screen  ·  OV</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OVERVIEW</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OV</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Overview</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The first page. Four numbers at the top: how many farms, their total area, how much land is in production, and how many crops are growing this month. The map shows where the farms are, and the two tables below split every crop group by the land it covers and by how many farms grow it.</a:t>
            </a:r>
            <a:endParaRPr lang="en-US" sz="1050" dirty="0"/>
          </a:p>
        </p:txBody>
      </p:sp>
      <p:pic>
        <p:nvPicPr>
          <p:cNvPr id="5" name="Image 0" descr="/home/user/adafsa-mockup/.deck-work/OV.jpg">    </p:cNvPr>
          <p:cNvPicPr>
            <a:picLocks noChangeAspect="1"/>
          </p:cNvPicPr>
          <p:nvPr/>
        </p:nvPicPr>
        <p:blipFill>
          <a:blip r:embed="rId1"/>
          <a:stretch>
            <a:fillRect/>
          </a:stretch>
        </p:blipFill>
        <p:spPr>
          <a:xfrm>
            <a:off x="467232" y="1747392"/>
            <a:ext cx="7320515" cy="5045711"/>
          </a:xfrm>
          <a:prstGeom prst="rect">
            <a:avLst/>
          </a:prstGeom>
        </p:spPr>
      </p:pic>
      <p:sp>
        <p:nvSpPr>
          <p:cNvPr id="7"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8"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2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Crop Monitoring</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4 screens  ·  C1 · C2 · C3 · C4</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Crops and area summary</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Shows what is planted and where. The numbers: farms with field crops, the area under them, how many different crops, and the average share of a farm. The table of farms has no total, because a farm growing three crops is counted three times. (Module 1: crop location, crop type, cultivated area.)</a:t>
            </a:r>
            <a:endParaRPr lang="en-US" sz="1050" dirty="0"/>
          </a:p>
        </p:txBody>
      </p:sp>
      <p:pic>
        <p:nvPicPr>
          <p:cNvPr id="5" name="Image 0" descr="/home/user/adafsa-mockup/.deck-work/C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C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Cereals and fodder</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The crops that grow all year. Two stacked charts — cereals on the left, fodder on the right — over the last six quarters, in dunums. Six quarters shows both the quarter before and the same quarter last year. Below: every crop by quarter, then every farm, oldest figure first. (Module 1: cultivated area and seasonal change report.)</a:t>
            </a:r>
            <a:endParaRPr lang="en-US" sz="1050" dirty="0"/>
          </a:p>
        </p:txBody>
      </p:sp>
      <p:pic>
        <p:nvPicPr>
          <p:cNvPr id="5" name="Image 0" descr="/home/user/adafsa-mockup/.deck-work/C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C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C3</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Open field crops</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The vegetables, which are seasonal: planted from September and out of the ground by March. Area planted quarter by quarter on the left. On the right, which crops moved against the same quarter last year — or, when one crop is picked, who its biggest growers are. (Module 1: cultivated area and seasonal change report.)</a:t>
            </a:r>
            <a:endParaRPr lang="en-US" sz="1050" dirty="0"/>
          </a:p>
        </p:txBody>
      </p:sp>
      <p:pic>
        <p:nvPicPr>
          <p:cNvPr id="5" name="Image 0" descr="/home/user/adafsa-mockup/.deck-work/C3.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C3-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C4</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Fallow land</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Land that can be farmed, in three states: under cultivation, resting less than a year and waiting for a crop, and resting more than a year and not being used. Six quarters, stacked, with the year-on-year movement beside it. (Module 1: fallow land detection.)</a:t>
            </a:r>
            <a:endParaRPr lang="en-US" sz="1050" dirty="0"/>
          </a:p>
        </p:txBody>
      </p:sp>
      <p:pic>
        <p:nvPicPr>
          <p:cNvPr id="5" name="Image 0" descr="/home/user/adafsa-mockup/.deck-work/C4.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C4-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3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Tree Monitoring</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3 screens  ·  T1 · T2 · T3</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TREE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T1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Tree count</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Counts the trees: the total, date palms, fruit trees, forest trees, and how many palm varieties were found. The map counts farms until you zoom into one, and then draws every tree in the colour of its variety. (Module 2: tree location, count, species and variety.)</a:t>
            </a:r>
            <a:endParaRPr lang="en-US" sz="1050" dirty="0"/>
          </a:p>
        </p:txBody>
      </p:sp>
      <p:pic>
        <p:nvPicPr>
          <p:cNvPr id="5" name="Image 0" descr="/home/user/adafsa-mockup/.deck-work/T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ZOOMED IN</a:t>
            </a:r>
            <a:endParaRPr lang="en-US" sz="800" dirty="0"/>
          </a:p>
        </p:txBody>
      </p:sp>
      <p:pic>
        <p:nvPicPr>
          <p:cNvPr id="7" name="Image 1" descr="/home/user/adafsa-mockup/.deck-work/T1-inset.jpg">    </p:cNvPr>
          <p:cNvPicPr>
            <a:picLocks noChangeAspect="1"/>
          </p:cNvPicPr>
          <p:nvPr/>
        </p:nvPicPr>
        <p:blipFill>
          <a:blip r:embed="rId2"/>
          <a:stretch>
            <a:fillRect/>
          </a:stretch>
        </p:blipFill>
        <p:spPr>
          <a:xfrm>
            <a:off x="7758044" y="2088764"/>
            <a:ext cx="2397008" cy="1652153"/>
          </a:xfrm>
          <a:prstGeom prst="rect">
            <a:avLst/>
          </a:prstGeom>
        </p:spPr>
      </p:pic>
      <p:sp>
        <p:nvSpPr>
          <p:cNvPr id="9" name="Text 4"/>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0" name="Text 5"/>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TREE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T2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Canopy health</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The canopy health index, read from the satellite and scored for each farm: the average for palms, the average for fruit trees, farms with stressed trees, and farms in the lowest band. Zoom in and the map reads the index closer in. (Module 2: canopy health index.)</a:t>
            </a:r>
            <a:endParaRPr lang="en-US" sz="1050" dirty="0"/>
          </a:p>
        </p:txBody>
      </p:sp>
      <p:pic>
        <p:nvPicPr>
          <p:cNvPr id="5" name="Image 0" descr="/home/user/adafsa-mockup/.deck-work/T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T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TREE MONITORING</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T3</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Annual change</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Trees year by year over three years, following whichever group is selected. Beside it, the three varieties that grew most and the three that shrank most in the last twelve months. The table lists varieties, not farms. (Module 2: annual change detection.)</a:t>
            </a:r>
            <a:endParaRPr lang="en-US" sz="1050" dirty="0"/>
          </a:p>
        </p:txBody>
      </p:sp>
      <p:pic>
        <p:nvPicPr>
          <p:cNvPr id="5" name="Image 0" descr="/home/user/adafsa-mockup/.deck-work/T3.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60%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T3-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4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Land Use &amp; Structures</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3 screens  ·  L1 · L2 · L3</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LAND USE &amp; STRUCTURES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L1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Land use</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How the land is used: land mapped, open farmland, buildings and greenhouses, fallow land and bare ground. Zoom in and the map draws the real shape of each piece of land.</a:t>
            </a:r>
            <a:endParaRPr lang="en-US" sz="1050" dirty="0"/>
          </a:p>
        </p:txBody>
      </p:sp>
      <p:pic>
        <p:nvPicPr>
          <p:cNvPr id="5" name="Image 0" descr="/home/user/adafsa-mockup/.deck-work/L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L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LAND USE &amp; STRUCTURES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L2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Structures</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What is built on the farms: structures found, farms with structures, area covered, and the main classes. Houses, sheds, water tanks, pens, roads, pump rooms. (Module 3: structure detection.)</a:t>
            </a:r>
            <a:endParaRPr lang="en-US" sz="1050" dirty="0"/>
          </a:p>
        </p:txBody>
      </p:sp>
      <p:pic>
        <p:nvPicPr>
          <p:cNvPr id="5" name="Image 0" descr="/home/user/adafsa-mockup/.deck-work/L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L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LAND USE &amp; STRUCTURES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L3</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Change tracking</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Buildings that are new and buildings that are gone: net change, new structures, structures removed, and the change in area covered. The chart runs year by year, because a building stands until somebody takes it down. (Module 3: change tracking.)</a:t>
            </a:r>
            <a:endParaRPr lang="en-US" sz="1050" dirty="0"/>
          </a:p>
        </p:txBody>
      </p:sp>
      <p:pic>
        <p:nvPicPr>
          <p:cNvPr id="5" name="Image 0" descr="/home/user/adafsa-mockup/.deck-work/L3.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L3-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5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Irrigation Efficiency</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2 screens  ·  I1 · I2</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IRRIGATION EFFICIENCY</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I1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Scores</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A water score from 0 to 100 for every farm: farms scored, the average, how many keep their subsidy at 65 or more, how many need attention, and how many are in the lowest band. (Module 4: IER score, band and subsidy list.)</a:t>
            </a:r>
            <a:endParaRPr lang="en-US" sz="1050" dirty="0"/>
          </a:p>
        </p:txBody>
      </p:sp>
      <p:pic>
        <p:nvPicPr>
          <p:cNvPr id="5" name="Image 0" descr="/home/user/adafsa-mockup/.deck-work/I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I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IRRIGATION EFFICIENCY</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I2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Trend by quarter</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Are the scores moving? The average score now, the change since last quarter or last year, how many farms got worse and how many improved. A line, and no map. (Module 4: quarter-on-quarter trend.)</a:t>
            </a:r>
            <a:endParaRPr lang="en-US" sz="1050" dirty="0"/>
          </a:p>
        </p:txBody>
      </p:sp>
      <p:pic>
        <p:nvPicPr>
          <p:cNvPr id="5" name="Image 0" descr="/home/user/adafsa-mockup/.deck-work/I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I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6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Crop Water Calculator</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2 screens  ·  W1 · W2</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WATER CALCULATOR</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W1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Monthly demand</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Water this month: how much each farm is allowed, how much it used, how many farms use too much, and how much extra they used. (Module 6: monthly water demand and over-allocation flag.)</a:t>
            </a:r>
            <a:endParaRPr lang="en-US" sz="1050" dirty="0"/>
          </a:p>
        </p:txBody>
      </p:sp>
      <p:pic>
        <p:nvPicPr>
          <p:cNvPr id="5" name="Image 0" descr="/home/user/adafsa-mockup/.deck-work/W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W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CROP WATER CALCULATOR</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W2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Season budget</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Water over a whole season: the total water needed, the harvest expected from it, the water for one kilo of food, and the area planted. (Module 6: seasonal water budget.)</a:t>
            </a:r>
            <a:endParaRPr lang="en-US" sz="1050" dirty="0"/>
          </a:p>
        </p:txBody>
      </p:sp>
      <p:pic>
        <p:nvPicPr>
          <p:cNvPr id="5" name="Image 0" descr="/home/user/adafsa-mockup/.deck-work/W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35%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W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7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Yield Optimisation</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2 screens  ·  Y1 · Y2</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YIELD OPTIMISATION</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Y1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Yield forecast</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What the harvest should be: expected tonnes, crops planted, how many farms are below the average for their crop, and how many are far below it. (Module 5: seasonal yield estimate.)</a:t>
            </a:r>
            <a:endParaRPr lang="en-US" sz="1050" dirty="0"/>
          </a:p>
        </p:txBody>
      </p:sp>
      <p:pic>
        <p:nvPicPr>
          <p:cNvPr id="5" name="Image 0" descr="/home/user/adafsa-mockup/.deck-work/Y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25%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Y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YIELD OPTIMISATION</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Y2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Crop calendar</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When each crop is in the ground: crops selected, the busiest month, the quietest month, and how many farms are planting at the busiest time.</a:t>
            </a:r>
            <a:endParaRPr lang="en-US" sz="1050" dirty="0"/>
          </a:p>
        </p:txBody>
      </p:sp>
      <p:pic>
        <p:nvPicPr>
          <p:cNvPr id="5" name="Image 0" descr="/home/user/adafsa-mockup/.deck-work/Y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80%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Y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8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Individual Farms</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3 screens  ·  F1 · F2 · F3</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INDIVIDUAL FARMS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F1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Farm register</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The list of every farm: how many, their total area, how many need attention, and how many use too much water. Search by number or owner, sort any column, open one farm.</a:t>
            </a:r>
            <a:endParaRPr lang="en-US" sz="1050" dirty="0"/>
          </a:p>
        </p:txBody>
      </p:sp>
      <p:pic>
        <p:nvPicPr>
          <p:cNvPr id="5" name="Image 0" descr="/home/user/adafsa-mockup/.deck-work/F1.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50%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F1-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INDIVIDUAL FARMS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F2</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Farm profile</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One farm on one page: the owner, the province, land in production, the tree count, and how many things need attention. Below that: crops, trees, water score and buildings. All six modules meet here.</a:t>
            </a:r>
            <a:endParaRPr lang="en-US" sz="1050" dirty="0"/>
          </a:p>
        </p:txBody>
      </p:sp>
      <p:pic>
        <p:nvPicPr>
          <p:cNvPr id="5" name="Image 0" descr="/home/user/adafsa-mockup/.deck-work/F2.jpg">    </p:cNvPr>
          <p:cNvPicPr>
            <a:picLocks noChangeAspect="1"/>
          </p:cNvPicPr>
          <p:nvPr/>
        </p:nvPicPr>
        <p:blipFill>
          <a:blip r:embed="rId1"/>
          <a:stretch>
            <a:fillRect/>
          </a:stretch>
        </p:blipFill>
        <p:spPr>
          <a:xfrm>
            <a:off x="473732" y="1753892"/>
            <a:ext cx="6843223" cy="4716735"/>
          </a:xfrm>
          <a:prstGeom prst="rect">
            <a:avLst/>
          </a:prstGeom>
        </p:spPr>
      </p:pic>
      <p:sp>
        <p:nvSpPr>
          <p:cNvPr id="6" name="Text 3"/>
          <p:cNvSpPr/>
          <p:nvPr/>
        </p:nvSpPr>
        <p:spPr>
          <a:xfrm>
            <a:off x="566928" y="6505448"/>
            <a:ext cx="6656832" cy="201168"/>
          </a:xfrm>
          <a:prstGeom prst="rect">
            <a:avLst/>
          </a:prstGeom>
          <a:noFill/>
          <a:ln/>
        </p:spPr>
        <p:txBody>
          <a:bodyPr wrap="square" lIns="0" tIns="0" rIns="0" bIns="0" rtlCol="0" anchor="ctr"/>
          <a:lstStyle/>
          <a:p>
            <a:pPr indent="0" marL="0">
              <a:buNone/>
            </a:pPr>
            <a:r>
              <a:rPr lang="en-US" sz="800" i="1" dirty="0">
                <a:solidFill>
                  <a:srgbClr val="9CA3AF"/>
                </a:solidFill>
                <a:latin typeface="Calibri" pitchFamily="34" charset="0"/>
                <a:ea typeface="Calibri" pitchFamily="34" charset="-122"/>
                <a:cs typeface="Calibri" pitchFamily="34" charset="-120"/>
              </a:rPr>
              <a:t>Scrolls · about 45% of this screen is shown above</a:t>
            </a:r>
            <a:endParaRPr lang="en-US" sz="800" dirty="0"/>
          </a:p>
        </p:txBody>
      </p:sp>
      <p:sp>
        <p:nvSpPr>
          <p:cNvPr id="7" name="Text 4"/>
          <p:cNvSpPr/>
          <p:nvPr/>
        </p:nvSpPr>
        <p:spPr>
          <a:xfrm>
            <a:off x="7790688" y="1847088"/>
            <a:ext cx="2331720" cy="182880"/>
          </a:xfrm>
          <a:prstGeom prst="rect">
            <a:avLst/>
          </a:prstGeom>
          <a:noFill/>
          <a:ln/>
        </p:spPr>
        <p:txBody>
          <a:bodyPr wrap="square" lIns="0" tIns="0" rIns="0" bIns="0" rtlCol="0" anchor="ctr"/>
          <a:lstStyle/>
          <a:p>
            <a:pPr indent="0" marL="0">
              <a:buNone/>
            </a:pPr>
            <a:r>
              <a:rPr lang="en-US" sz="800" b="1" spc="120" kern="0" dirty="0">
                <a:solidFill>
                  <a:srgbClr val="9CA3AF"/>
                </a:solidFill>
                <a:latin typeface="Calibri" pitchFamily="34" charset="0"/>
                <a:ea typeface="Calibri" pitchFamily="34" charset="-122"/>
                <a:cs typeface="Calibri" pitchFamily="34" charset="-120"/>
              </a:rPr>
              <a:t>THE REST OF THIS SCREEN</a:t>
            </a:r>
            <a:endParaRPr lang="en-US" sz="800" dirty="0"/>
          </a:p>
        </p:txBody>
      </p:sp>
      <p:pic>
        <p:nvPicPr>
          <p:cNvPr id="8" name="Image 1" descr="/home/user/adafsa-mockup/.deck-work/F2-tail.jpg">    </p:cNvPr>
          <p:cNvPicPr>
            <a:picLocks noChangeAspect="1"/>
          </p:cNvPicPr>
          <p:nvPr/>
        </p:nvPicPr>
        <p:blipFill>
          <a:blip r:embed="rId2"/>
          <a:stretch>
            <a:fillRect/>
          </a:stretch>
        </p:blipFill>
        <p:spPr>
          <a:xfrm>
            <a:off x="7758044" y="2088764"/>
            <a:ext cx="2397008" cy="1652153"/>
          </a:xfrm>
          <a:prstGeom prst="rect">
            <a:avLst/>
          </a:prstGeom>
        </p:spPr>
      </p:pic>
      <p:sp>
        <p:nvSpPr>
          <p:cNvPr id="10" name="Text 5"/>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11" name="Text 6"/>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INDIVIDUAL FARMS</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F3</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Corrective actions</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What is wrong on this farm and what to do: things to look at, and alerts that would go to the farmer. Each one is written as an action, not as a number to work out. Print it and take it to the visit.</a:t>
            </a:r>
            <a:endParaRPr lang="en-US" sz="1050" dirty="0"/>
          </a:p>
        </p:txBody>
      </p:sp>
      <p:pic>
        <p:nvPicPr>
          <p:cNvPr id="5" name="Image 0" descr="/home/user/adafsa-mockup/.deck-work/F3.jpg">    </p:cNvPr>
          <p:cNvPicPr>
            <a:picLocks noChangeAspect="1"/>
          </p:cNvPicPr>
          <p:nvPr/>
        </p:nvPicPr>
        <p:blipFill>
          <a:blip r:embed="rId1"/>
          <a:stretch>
            <a:fillRect/>
          </a:stretch>
        </p:blipFill>
        <p:spPr>
          <a:xfrm>
            <a:off x="467232" y="1747392"/>
            <a:ext cx="7320515" cy="5045711"/>
          </a:xfrm>
          <a:prstGeom prst="rect">
            <a:avLst/>
          </a:prstGeom>
        </p:spPr>
      </p:pic>
      <p:sp>
        <p:nvSpPr>
          <p:cNvPr id="7"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8"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66928" y="2743200"/>
            <a:ext cx="8229600" cy="365760"/>
          </a:xfrm>
          <a:prstGeom prst="rect">
            <a:avLst/>
          </a:prstGeom>
          <a:noFill/>
          <a:ln/>
        </p:spPr>
        <p:txBody>
          <a:bodyPr wrap="square" lIns="0" tIns="0" rIns="0" bIns="0" rtlCol="0" anchor="ctr"/>
          <a:lstStyle/>
          <a:p>
            <a:pPr indent="0" marL="0">
              <a:buNone/>
            </a:pPr>
            <a:r>
              <a:rPr lang="en-US" sz="1200" b="1" spc="220" kern="0" dirty="0">
                <a:solidFill>
                  <a:srgbClr val="BBF7D0"/>
                </a:solidFill>
                <a:latin typeface="Calibri" pitchFamily="34" charset="0"/>
                <a:ea typeface="Calibri" pitchFamily="34" charset="-122"/>
                <a:cs typeface="Calibri" pitchFamily="34" charset="-120"/>
              </a:rPr>
              <a:t>SECTION 9 OF 9</a:t>
            </a:r>
            <a:endParaRPr lang="en-US" sz="1200" dirty="0"/>
          </a:p>
        </p:txBody>
      </p:sp>
      <p:sp>
        <p:nvSpPr>
          <p:cNvPr id="3" name="Text 1"/>
          <p:cNvSpPr/>
          <p:nvPr/>
        </p:nvSpPr>
        <p:spPr>
          <a:xfrm>
            <a:off x="566928" y="3145536"/>
            <a:ext cx="91440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Support</a:t>
            </a:r>
            <a:endParaRPr lang="en-US" sz="4400" dirty="0"/>
          </a:p>
        </p:txBody>
      </p:sp>
      <p:sp>
        <p:nvSpPr>
          <p:cNvPr id="4" name="Text 2"/>
          <p:cNvSpPr/>
          <p:nvPr/>
        </p:nvSpPr>
        <p:spPr>
          <a:xfrm>
            <a:off x="566928" y="4206240"/>
            <a:ext cx="9144000" cy="365760"/>
          </a:xfrm>
          <a:prstGeom prst="rect">
            <a:avLst/>
          </a:prstGeom>
          <a:noFill/>
          <a:ln/>
        </p:spPr>
        <p:txBody>
          <a:bodyPr wrap="square" lIns="0" tIns="0" rIns="0" bIns="0" rtlCol="0" anchor="ctr"/>
          <a:lstStyle/>
          <a:p>
            <a:pPr indent="0" marL="0">
              <a:buNone/>
            </a:pPr>
            <a:r>
              <a:rPr lang="en-US" sz="1100" dirty="0">
                <a:solidFill>
                  <a:srgbClr val="BBF7D0"/>
                </a:solidFill>
                <a:latin typeface="Calibri" pitchFamily="34" charset="0"/>
                <a:ea typeface="Calibri" pitchFamily="34" charset="-122"/>
                <a:cs typeface="Calibri" pitchFamily="34" charset="-120"/>
              </a:rPr>
              <a:t>1 screen  ·  S1</a:t>
            </a:r>
            <a:endParaRPr lang="en-US" sz="1100" dirty="0"/>
          </a:p>
        </p:txBody>
      </p:sp>
      <p:sp>
        <p:nvSpPr>
          <p:cNvPr id="5"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BBF7D0"/>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6"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BBF7D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7315200" cy="237744"/>
          </a:xfrm>
          <a:prstGeom prst="rect">
            <a:avLst/>
          </a:prstGeom>
          <a:noFill/>
          <a:ln/>
        </p:spPr>
        <p:txBody>
          <a:bodyPr wrap="square" lIns="0" tIns="0" rIns="0" bIns="0" rtlCol="0" anchor="ctr"/>
          <a:lstStyle/>
          <a:p>
            <a:pPr indent="0" marL="0">
              <a:buNone/>
            </a:pPr>
            <a:r>
              <a:rPr lang="en-US" sz="1000" b="1" spc="160" kern="0" dirty="0">
                <a:solidFill>
                  <a:srgbClr val="15803D"/>
                </a:solidFill>
                <a:latin typeface="Calibri" pitchFamily="34" charset="0"/>
                <a:ea typeface="Calibri" pitchFamily="34" charset="-122"/>
                <a:cs typeface="Calibri" pitchFamily="34" charset="-120"/>
              </a:rPr>
              <a:t>SUPPORT</a:t>
            </a:r>
            <a:endParaRPr lang="en-US" sz="1000" dirty="0"/>
          </a:p>
        </p:txBody>
      </p:sp>
      <p:sp>
        <p:nvSpPr>
          <p:cNvPr id="3" name="Text 1"/>
          <p:cNvSpPr/>
          <p:nvPr/>
        </p:nvSpPr>
        <p:spPr>
          <a:xfrm>
            <a:off x="566928" y="676656"/>
            <a:ext cx="8686800" cy="45720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S1</a:t>
            </a:r>
            <a:pPr indent="0" marL="0">
              <a:buNone/>
            </a:pPr>
            <a:r>
              <a:rPr lang="en-US" sz="2400" dirty="0">
                <a:solidFill>
                  <a:srgbClr val="9CA3AF"/>
                </a:solidFill>
                <a:latin typeface="Calibri" pitchFamily="34" charset="0"/>
                <a:ea typeface="Calibri" pitchFamily="34" charset="-122"/>
                <a:cs typeface="Calibri" pitchFamily="34" charset="-120"/>
              </a:rPr>
              <a:t>  ·  </a:t>
            </a:r>
            <a:pPr indent="0" marL="0">
              <a:buNone/>
            </a:pPr>
            <a:r>
              <a:rPr lang="en-US" sz="2400" b="1" dirty="0">
                <a:solidFill>
                  <a:srgbClr val="111827"/>
                </a:solidFill>
                <a:latin typeface="Calibri" pitchFamily="34" charset="0"/>
                <a:ea typeface="Calibri" pitchFamily="34" charset="-122"/>
                <a:cs typeface="Calibri" pitchFamily="34" charset="-120"/>
              </a:rPr>
              <a:t>Support</a:t>
            </a:r>
            <a:endParaRPr lang="en-US" sz="2400" dirty="0"/>
          </a:p>
        </p:txBody>
      </p:sp>
      <p:sp>
        <p:nvSpPr>
          <p:cNvPr id="4" name="Text 2"/>
          <p:cNvSpPr/>
          <p:nvPr/>
        </p:nvSpPr>
        <p:spPr>
          <a:xfrm>
            <a:off x="566928" y="1170432"/>
            <a:ext cx="8138160" cy="603504"/>
          </a:xfrm>
          <a:prstGeom prst="rect">
            <a:avLst/>
          </a:prstGeom>
          <a:noFill/>
          <a:ln/>
        </p:spPr>
        <p:txBody>
          <a:bodyPr wrap="square" lIns="0" tIns="0" rIns="0" bIns="0" rtlCol="0" anchor="t"/>
          <a:lstStyle/>
          <a:p>
            <a:pPr indent="0" marL="0">
              <a:lnSpc>
                <a:spcPts val="1400"/>
              </a:lnSpc>
              <a:buNone/>
            </a:pPr>
            <a:r>
              <a:rPr lang="en-US" sz="1050" dirty="0">
                <a:solidFill>
                  <a:srgbClr val="4B5563"/>
                </a:solidFill>
                <a:latin typeface="Calibri" pitchFamily="34" charset="0"/>
                <a:ea typeface="Calibri" pitchFamily="34" charset="-122"/>
                <a:cs typeface="Calibri" pitchFamily="34" charset="-120"/>
              </a:rPr>
              <a:t>How to reach a person: telephone, WhatsApp and email, when someone answers, and how to send the exact screen you are looking at. Also who builds the platform, and a note on what is real data and what is made up. One page — in the old platform, more than half the menu was support and settings.</a:t>
            </a:r>
            <a:endParaRPr lang="en-US" sz="1050" dirty="0"/>
          </a:p>
        </p:txBody>
      </p:sp>
      <p:pic>
        <p:nvPicPr>
          <p:cNvPr id="5" name="Image 0" descr="/home/user/adafsa-mockup/.deck-work/S1.jpg">    </p:cNvPr>
          <p:cNvPicPr>
            <a:picLocks noChangeAspect="1"/>
          </p:cNvPicPr>
          <p:nvPr/>
        </p:nvPicPr>
        <p:blipFill>
          <a:blip r:embed="rId1"/>
          <a:stretch>
            <a:fillRect/>
          </a:stretch>
        </p:blipFill>
        <p:spPr>
          <a:xfrm>
            <a:off x="467232" y="1747392"/>
            <a:ext cx="7320515" cy="5045711"/>
          </a:xfrm>
          <a:prstGeom prst="rect">
            <a:avLst/>
          </a:prstGeom>
        </p:spPr>
      </p:pic>
      <p:sp>
        <p:nvSpPr>
          <p:cNvPr id="7" name="Text 3"/>
          <p:cNvSpPr/>
          <p:nvPr/>
        </p:nvSpPr>
        <p:spPr>
          <a:xfrm>
            <a:off x="566928" y="7059168"/>
            <a:ext cx="5943600" cy="237744"/>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ADAFSA Agricultural Monitoring Platform  ·  design mockup</a:t>
            </a:r>
            <a:endParaRPr lang="en-US" sz="900" dirty="0"/>
          </a:p>
        </p:txBody>
      </p:sp>
      <p:sp>
        <p:nvSpPr>
          <p:cNvPr id="8" name="Text 4"/>
          <p:cNvSpPr/>
          <p:nvPr/>
        </p:nvSpPr>
        <p:spPr>
          <a:xfrm>
            <a:off x="9025128" y="7059168"/>
            <a:ext cx="1097280" cy="237744"/>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ADAFSA Agricultural Monitoring Platform — screens</dc:title>
  <dc:subject>PptxGenJS Presentation</dc:subject>
  <dc:creator>Wafra Greentech</dc:creator>
  <cp:lastModifiedBy>Wafra Greentech</cp:lastModifiedBy>
  <cp:revision>1</cp:revision>
  <dcterms:created xsi:type="dcterms:W3CDTF">2026-09-08T11:02:55Z</dcterms:created>
  <dcterms:modified xsi:type="dcterms:W3CDTF">2026-09-08T11:02:55Z</dcterms:modified>
</cp:coreProperties>
</file>