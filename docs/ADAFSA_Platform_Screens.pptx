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 — Overview
The landing page, and an inventory rather than a verdict. A ministry tracks production capacity; whether one farm is struggling is a local question and belongs at farm level. Count bubbles, no scoring, and the two distribution tables already shown to ADAFSA from the pilot.
1. Region — Narrows every figure on the page to one province
2. Choose crops in Cereals — Opens the crops inside this group, one tick box each
3. Choose individual crops — Opens the whole crop list, every group expanded
4. Switch to the street map — Swaps the satellite view for a street map
5. Fit to the region — Frames the whole selection again after zooming
6. Show the crops inside Cereals — Opens a group into the crops it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Crops and area
What is growing and on how much land. The map colours each farm by the crop group covering most of it; the two tables underneath open from a group down to the individual crop.
1. Region — Narrows every figure on the page to one province
2. Choose crops in Cereals — Opens the crops inside this group, one tick box each
3. Choose individual crops — Opens the whole crop list, every group expanded
4. Switch to the street map — Swaps the satellite view for a street map
5. Fit to the region — Frames the whole selection again after zooming
6. Show the crops inside Cereals — Opens a group into the crops it is made of
The screenshot shows 48%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Seasonal change
What moved since the comparison quarter. Gains and losses are reported apart from each other, and the four tabs answer the question the page exists for: who started, who stopped, who grew and who shrank.
1. vs last quarter — Compares against last quarter or against last year
2. Region — Narrows every figure on the page to one province
3. Choose crops in Cereals — Opens the crops inside this group, one tick box each
4. Choose individual crops — Opens the whole crop list, every group expanded
5. Started (21) — Started, increased, decreased or stopped — pick one to list those farms
6. Sort by Farm — Any column heading sorts the table, either way
The screenshot shows 57%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Fallow land
Land that has fallen out of production. The figure that matters operationally is the last one — farms planting less than before, because that is what generates a message to the farmer.
1. vs last quarter — Compares against last quarter or against last year
2. Region — Narrows every figure on the page to one province
3. Switch to the street map — Swaps the satellite view for a street map
4. Fit to the region — Frames the whole selection again after zooming
5. Sort by Farm — Any column heading sorts the table, either way
The screenshot shows 56%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 Trees and species
Date palms, fruit trees and forest stands. The largest module by contract share, and the one to show first. Species and varieties break down underneath the map.
1. Region — Narrows every figure on the page to one province
2. Choose crops in Fruit Trees — Opens the crops inside this group, one tick box each
3. Choose individual crops — Opens the whole crop list, every group expanded
4. Switch to the street map — Swaps the satellite view for a street map
5. Fit to the region — Frames the whole selection again after zooming
6. Show the crops inside Date Palm — Opens a group into the crops it is made of
The screenshot shows 40%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 — Tree health
Tree health scored per farm rather than per tree. The holdings here are small, share one water source and are managed as a unit, so the farm is the cluster. One score for palms, one for fruit trees.
1. Region — Narrows every figure on the page to one province
2. Switch to the street map — Swaps the satellite view for a street map
3. Fit to the region — Frames the whole selection again after zooming
4. Sort by Farm — Any column heading sorts the table, either way
The screenshot shows 49%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 — Annual change
Trees planted and trees removed, as numbers. No map — the review was explicit that this question needs hard data, and the table names the farms instead.
1. vs last quarter — Compares against last quarter or against last year
2. Region — Narrows every figure on the page to one province
3. Choose crops in Fruit Trees — Opens the crops inside this group, one tick box each
4. Choose individual crops — Opens the whole crop list, every group expanded
5. Started (0) — Started, increased, decreased or stopped — pick one to list those farms
6. Sort by Farm — Any column heading sorts the table, either way
The screenshot shows 59%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 Land use
The standing inventory of how ground is used. Zoom in and the map draws the real parcel outlines; before that each holding is a dot coloured by the class covering most of it.
1. Region — Narrows every figure on the page to one province
2. Switch to the street map — Swaps the satellite view for a street map
3. Fit to the region — Frames the whole selection again after zooming
4. Show the crops inside Open Agriculture — Opens a group into the crops it is made of
The screenshot shows 45%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L2 — Structures
What is built on the land. Tier 2 — the type of each structure — is what the survey delivers and what the October rollout targets. The page says plainly that tier 3 is not available yet.
1. Region — Narrows every figure on the page to one province
2. Switch to the street map — Swaps the satellite view for a street map
3. Fit to the region — Frames the whole selection again after zooming
4. Show the crops inside Structures — Opens a group into the crops it is made of
5. Sort by Farm — Any column heading sorts the table, either way
The screenshot shows 38%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L3 — Change tracking
Structures appearing and disappearing. Formally a second-version item, built now so the alert is wired the day two quarters of history exist.
1. vs last quarter — Compares against last quarter or against last year
2. Region — Narrows every figure on the page to one province
3. Started (0) — Started, increased, decreased or stopped — pick one to list those farms
4. Sort by Farm — Any column heading sorts the table, either way
5. Export CSV — Downloads every row the search and sort produced, not the page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 — Scores
How efficiently each farm irrigates, measured against its own province rather than the emirate. The table answers the question as it was asked: every farm in Al Ain flagged for attention.
1. Region — Narrows every figure on the page to one province
2. Choose crops in Cereals — Opens the crops inside this group, one tick box each
3. Choose individual crops — Opens the whole crop list, every group expanded
4. Switch to the street map — Swaps the satellite view for a street map
5. Fit to the region — Frames the whole selection again after zooming
6. Sort by Farm — Any column heading sorts the table, either way
The screenshot shows 55%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I2 — Trend by quarter
Whether scores are moving. A trend line and hard numbers, and deliberately no map — a map of who improved was considered and rejected as confusing.
1. vs last quarter — Compares against last quarter or against last year
2. Region — Narrows every figure on the page to one province
3. Sort by Farm — Any column heading sorts the table, either way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Monthly demand
What each farm is allowed this month and what it actually used. The over-allocation flag is raised against the month, never the season: by the time a season closes there is nothing left to do about it.
1. How this is worked out — Shows the model inputs behind these figures
2. Region — Narrows every figure on the page to one province
3. Choose crops in Cereals — Opens the crops inside this group, one tick box each
4. Choose individual crops — Opens the whole crop list, every group expanded
5. Sort by Farm — Any column heading sorts the table, either way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Season budget
What a crop costs the emirate in water over a full growing season, and what it returns. Cubic metres per kilo is the number worth quoting in a policy conversation.
1. How this is worked out — Shows the model inputs behind these figures
2. Region — Narrows every figure on the page to one province
3. Choose crops in Cereals — Opens the crops inside this group, one tick box each
4. Choose individual crops — Opens the whole crop list, every group expanded
5. Sort by Crop — Any column heading sorts the table, either way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Y1 — Yield forecast
Expected production by crop, the average yield, and how many farms sit below it. No map here either — it was dropped in review and can come back if ADAFSA asks.
1. Region — Narrows every figure on the page to one province
2. Choose crops in Cereals — Opens the crops inside this group, one tick box each
3. Choose individual crops — Opens the whole crop list, every group expanded
4. Sort by Crop — Any column heading sorts the table, either way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Y2 — Crop calendar
When each crop is in the ground. The curve comes from each holding planting on its own schedule, which is why it rises and falls rather than switching on and off.
1. Region — Narrows every figure on the page to one province
2. Choose crops in Cereals — Opens the crops inside this group, one tick box each
3. Choose individual crops — Opens the whole crop list, every group expanded
The screenshot shows 50%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Farm register
Every farm, searchable by number or owner and sortable on any column. Paged, because the survey holds five hundred and the emirate holds tens of thousands.
1. Region — Narrows every figure on the page to one province
2. Choose crops in Cereals — Opens the crops inside this group, one tick box each
3. Choose individual crops — Opens the whole crop list, every group expanded
4. Switch to the street map — Swaps the satellite view for a street map
5. Fit to the region — Frames the whole selection again after zooming
6. Sort by Farm — Any column heading sorts the table, either way
The screenshot shows 58%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Farm profile
Page one of two for a farm: what it grows, its trees, its structures, its efficiency score and its water. What is absent matters as much — no weather, no soil moisture, no scheduler. Those belong in the farmer’s own application.
1. Register → F1
2. What to do (1) → F3
3. Switch to the street map — Swaps the satellite view for a street map
4. Fit to the region — Frames the whole selection again after zooming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Corrective actions
Page two: every finding stated as something to do rather than a reading to interpret, and an ending that is an action — print it and take it to the visit.
1. Farm profile → F2
2. Print for a visit — Prints this sheet to carry to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Support
One page, reached from one entry in the menu. In the platform this replaces, more than half the menu was support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adafsa-mockup/.deck-work/brand.png">    </p:cNvPr>
          <p:cNvPicPr>
            <a:picLocks noChangeAspect="1"/>
          </p:cNvPicPr>
          <p:nvPr/>
        </p:nvPicPr>
        <p:blipFill>
          <a:blip r:embed="rId1"/>
          <a:stretch>
            <a:fillRect/>
          </a:stretch>
        </p:blipFill>
        <p:spPr>
          <a:xfrm>
            <a:off x="566928" y="960120"/>
            <a:ext cx="2337924" cy="841248"/>
          </a:xfrm>
          <a:prstGeom prst="rect">
            <a:avLst/>
          </a:prstGeom>
        </p:spPr>
      </p:pic>
      <p:sp>
        <p:nvSpPr>
          <p:cNvPr id="3" name="Text 0"/>
          <p:cNvSpPr/>
          <p:nvPr/>
        </p:nvSpPr>
        <p:spPr>
          <a:xfrm>
            <a:off x="566928" y="2487168"/>
            <a:ext cx="9555480" cy="868680"/>
          </a:xfrm>
          <a:prstGeom prst="rect">
            <a:avLst/>
          </a:prstGeom>
          <a:noFill/>
          <a:ln/>
        </p:spPr>
        <p:txBody>
          <a:bodyPr wrap="square" lIns="0" tIns="0" rIns="0" bIns="0" rtlCol="0" anchor="t"/>
          <a:lstStyle/>
          <a:p>
            <a:pPr indent="0" marL="0">
              <a:buNone/>
            </a:pPr>
            <a:r>
              <a:rPr lang="en-US" sz="4000" b="1" dirty="0">
                <a:solidFill>
                  <a:srgbClr val="111827"/>
                </a:solidFill>
                <a:latin typeface="Calibri" pitchFamily="34" charset="0"/>
                <a:ea typeface="Calibri" pitchFamily="34" charset="-122"/>
                <a:cs typeface="Calibri" pitchFamily="34" charset="-120"/>
              </a:rPr>
              <a:t>The platform, screen by screen</a:t>
            </a:r>
            <a:endParaRPr lang="en-US" sz="4000" dirty="0"/>
          </a:p>
        </p:txBody>
      </p:sp>
      <p:sp>
        <p:nvSpPr>
          <p:cNvPr id="4" name="Text 1"/>
          <p:cNvSpPr/>
          <p:nvPr/>
        </p:nvSpPr>
        <p:spPr>
          <a:xfrm>
            <a:off x="5669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20</a:t>
            </a:r>
            <a:endParaRPr lang="en-US" sz="5000" dirty="0"/>
          </a:p>
        </p:txBody>
      </p:sp>
      <p:sp>
        <p:nvSpPr>
          <p:cNvPr id="5" name="Text 2"/>
          <p:cNvSpPr/>
          <p:nvPr/>
        </p:nvSpPr>
        <p:spPr>
          <a:xfrm>
            <a:off x="5669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SCREENS</a:t>
            </a:r>
            <a:endParaRPr lang="en-US" sz="1100" dirty="0"/>
          </a:p>
        </p:txBody>
      </p:sp>
      <p:sp>
        <p:nvSpPr>
          <p:cNvPr id="6" name="Text 3"/>
          <p:cNvSpPr/>
          <p:nvPr/>
        </p:nvSpPr>
        <p:spPr>
          <a:xfrm>
            <a:off x="30815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9</a:t>
            </a:r>
            <a:endParaRPr lang="en-US" sz="5000" dirty="0"/>
          </a:p>
        </p:txBody>
      </p:sp>
      <p:sp>
        <p:nvSpPr>
          <p:cNvPr id="7" name="Text 4"/>
          <p:cNvSpPr/>
          <p:nvPr/>
        </p:nvSpPr>
        <p:spPr>
          <a:xfrm>
            <a:off x="30815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SECTIONS</a:t>
            </a:r>
            <a:endParaRPr lang="en-US" sz="1100" dirty="0"/>
          </a:p>
        </p:txBody>
      </p:sp>
      <p:sp>
        <p:nvSpPr>
          <p:cNvPr id="8" name="Text 5"/>
          <p:cNvSpPr/>
          <p:nvPr/>
        </p:nvSpPr>
        <p:spPr>
          <a:xfrm>
            <a:off x="55961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31</a:t>
            </a:r>
            <a:endParaRPr lang="en-US" sz="5000" dirty="0"/>
          </a:p>
        </p:txBody>
      </p:sp>
      <p:sp>
        <p:nvSpPr>
          <p:cNvPr id="9" name="Text 6"/>
          <p:cNvSpPr/>
          <p:nvPr/>
        </p:nvSpPr>
        <p:spPr>
          <a:xfrm>
            <a:off x="55961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PAGES</a:t>
            </a:r>
            <a:endParaRPr lang="en-US" sz="1100" dirty="0"/>
          </a:p>
        </p:txBody>
      </p:sp>
      <p:pic>
        <p:nvPicPr>
          <p:cNvPr id="10" name="Image 1" descr="/home/user/adafsa-mockup/assets/brand/wafra-logo.png">    </p:cNvPr>
          <p:cNvPicPr>
            <a:picLocks noChangeAspect="1"/>
          </p:cNvPicPr>
          <p:nvPr/>
        </p:nvPicPr>
        <p:blipFill>
          <a:blip r:embed="rId2"/>
          <a:stretch>
            <a:fillRect/>
          </a:stretch>
        </p:blipFill>
        <p:spPr>
          <a:xfrm>
            <a:off x="8522208" y="6144768"/>
            <a:ext cx="1600200" cy="511602"/>
          </a:xfrm>
          <a:prstGeom prst="rect">
            <a:avLst/>
          </a:prstGeom>
        </p:spPr>
      </p:pic>
      <p:sp>
        <p:nvSpPr>
          <p:cNvPr id="11" name="Text 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2" name="Text 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66928"/>
            <a:ext cx="54864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Contents</a:t>
            </a:r>
            <a:endParaRPr lang="en-US" sz="2400" dirty="0"/>
          </a:p>
        </p:txBody>
      </p:sp>
      <p:sp>
        <p:nvSpPr>
          <p:cNvPr id="3" name="Text 1"/>
          <p:cNvSpPr/>
          <p:nvPr/>
        </p:nvSpPr>
        <p:spPr>
          <a:xfrm>
            <a:off x="56692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OVERVIEW</a:t>
            </a:r>
            <a:endParaRPr lang="en-US" sz="800" dirty="0"/>
          </a:p>
        </p:txBody>
      </p:sp>
      <p:sp>
        <p:nvSpPr>
          <p:cNvPr id="4" name="Text 2"/>
          <p:cNvSpPr/>
          <p:nvPr/>
        </p:nvSpPr>
        <p:spPr>
          <a:xfrm>
            <a:off x="56692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OV</a:t>
            </a:r>
            <a:endParaRPr lang="en-US" sz="850" dirty="0"/>
          </a:p>
        </p:txBody>
      </p:sp>
      <p:sp>
        <p:nvSpPr>
          <p:cNvPr id="5" name="Text 3"/>
          <p:cNvSpPr/>
          <p:nvPr/>
        </p:nvSpPr>
        <p:spPr>
          <a:xfrm>
            <a:off x="96926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Overview</a:t>
            </a:r>
            <a:endParaRPr lang="en-US" sz="850" dirty="0"/>
          </a:p>
        </p:txBody>
      </p:sp>
      <p:sp>
        <p:nvSpPr>
          <p:cNvPr id="6" name="Text 4"/>
          <p:cNvSpPr/>
          <p:nvPr/>
        </p:nvSpPr>
        <p:spPr>
          <a:xfrm>
            <a:off x="311200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4</a:t>
            </a:r>
            <a:endParaRPr lang="en-US" sz="850" dirty="0"/>
          </a:p>
        </p:txBody>
      </p:sp>
      <p:sp>
        <p:nvSpPr>
          <p:cNvPr id="7" name="Text 5"/>
          <p:cNvSpPr/>
          <p:nvPr/>
        </p:nvSpPr>
        <p:spPr>
          <a:xfrm>
            <a:off x="566928" y="174650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MONITORING</a:t>
            </a:r>
            <a:endParaRPr lang="en-US" sz="800" dirty="0"/>
          </a:p>
        </p:txBody>
      </p:sp>
      <p:sp>
        <p:nvSpPr>
          <p:cNvPr id="8" name="Text 6"/>
          <p:cNvSpPr/>
          <p:nvPr/>
        </p:nvSpPr>
        <p:spPr>
          <a:xfrm>
            <a:off x="56692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C1</a:t>
            </a:r>
            <a:endParaRPr lang="en-US" sz="850" dirty="0"/>
          </a:p>
        </p:txBody>
      </p:sp>
      <p:sp>
        <p:nvSpPr>
          <p:cNvPr id="9" name="Text 7"/>
          <p:cNvSpPr/>
          <p:nvPr/>
        </p:nvSpPr>
        <p:spPr>
          <a:xfrm>
            <a:off x="96926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Crops and area</a:t>
            </a:r>
            <a:endParaRPr lang="en-US" sz="850" dirty="0"/>
          </a:p>
        </p:txBody>
      </p:sp>
      <p:sp>
        <p:nvSpPr>
          <p:cNvPr id="10" name="Text 8"/>
          <p:cNvSpPr/>
          <p:nvPr/>
        </p:nvSpPr>
        <p:spPr>
          <a:xfrm>
            <a:off x="311200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6</a:t>
            </a:r>
            <a:endParaRPr lang="en-US" sz="850" dirty="0"/>
          </a:p>
        </p:txBody>
      </p:sp>
      <p:sp>
        <p:nvSpPr>
          <p:cNvPr id="11" name="Text 9"/>
          <p:cNvSpPr/>
          <p:nvPr/>
        </p:nvSpPr>
        <p:spPr>
          <a:xfrm>
            <a:off x="56692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C2</a:t>
            </a:r>
            <a:endParaRPr lang="en-US" sz="850" dirty="0"/>
          </a:p>
        </p:txBody>
      </p:sp>
      <p:sp>
        <p:nvSpPr>
          <p:cNvPr id="12" name="Text 10"/>
          <p:cNvSpPr/>
          <p:nvPr/>
        </p:nvSpPr>
        <p:spPr>
          <a:xfrm>
            <a:off x="96926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Seasonal change</a:t>
            </a:r>
            <a:endParaRPr lang="en-US" sz="850" dirty="0"/>
          </a:p>
        </p:txBody>
      </p:sp>
      <p:sp>
        <p:nvSpPr>
          <p:cNvPr id="13" name="Text 11"/>
          <p:cNvSpPr/>
          <p:nvPr/>
        </p:nvSpPr>
        <p:spPr>
          <a:xfrm>
            <a:off x="311200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7</a:t>
            </a:r>
            <a:endParaRPr lang="en-US" sz="850" dirty="0"/>
          </a:p>
        </p:txBody>
      </p:sp>
      <p:sp>
        <p:nvSpPr>
          <p:cNvPr id="14" name="Text 12"/>
          <p:cNvSpPr/>
          <p:nvPr/>
        </p:nvSpPr>
        <p:spPr>
          <a:xfrm>
            <a:off x="56692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C3</a:t>
            </a:r>
            <a:endParaRPr lang="en-US" sz="850" dirty="0"/>
          </a:p>
        </p:txBody>
      </p:sp>
      <p:sp>
        <p:nvSpPr>
          <p:cNvPr id="15" name="Text 13"/>
          <p:cNvSpPr/>
          <p:nvPr/>
        </p:nvSpPr>
        <p:spPr>
          <a:xfrm>
            <a:off x="96926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Fallow land</a:t>
            </a:r>
            <a:endParaRPr lang="en-US" sz="850" dirty="0"/>
          </a:p>
        </p:txBody>
      </p:sp>
      <p:sp>
        <p:nvSpPr>
          <p:cNvPr id="16" name="Text 14"/>
          <p:cNvSpPr/>
          <p:nvPr/>
        </p:nvSpPr>
        <p:spPr>
          <a:xfrm>
            <a:off x="311200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8</a:t>
            </a:r>
            <a:endParaRPr lang="en-US" sz="850" dirty="0"/>
          </a:p>
        </p:txBody>
      </p:sp>
      <p:sp>
        <p:nvSpPr>
          <p:cNvPr id="17" name="Text 15"/>
          <p:cNvSpPr/>
          <p:nvPr/>
        </p:nvSpPr>
        <p:spPr>
          <a:xfrm>
            <a:off x="566928" y="2606040"/>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TREE MONITORING</a:t>
            </a:r>
            <a:endParaRPr lang="en-US" sz="800" dirty="0"/>
          </a:p>
        </p:txBody>
      </p:sp>
      <p:sp>
        <p:nvSpPr>
          <p:cNvPr id="18" name="Text 16"/>
          <p:cNvSpPr/>
          <p:nvPr/>
        </p:nvSpPr>
        <p:spPr>
          <a:xfrm>
            <a:off x="56692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T1</a:t>
            </a:r>
            <a:endParaRPr lang="en-US" sz="850" dirty="0"/>
          </a:p>
        </p:txBody>
      </p:sp>
      <p:sp>
        <p:nvSpPr>
          <p:cNvPr id="19" name="Text 17"/>
          <p:cNvSpPr/>
          <p:nvPr/>
        </p:nvSpPr>
        <p:spPr>
          <a:xfrm>
            <a:off x="96926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Trees and species</a:t>
            </a:r>
            <a:endParaRPr lang="en-US" sz="850" dirty="0"/>
          </a:p>
        </p:txBody>
      </p:sp>
      <p:sp>
        <p:nvSpPr>
          <p:cNvPr id="20" name="Text 18"/>
          <p:cNvSpPr/>
          <p:nvPr/>
        </p:nvSpPr>
        <p:spPr>
          <a:xfrm>
            <a:off x="311200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10</a:t>
            </a:r>
            <a:endParaRPr lang="en-US" sz="850" dirty="0"/>
          </a:p>
        </p:txBody>
      </p:sp>
      <p:sp>
        <p:nvSpPr>
          <p:cNvPr id="21" name="Text 19"/>
          <p:cNvSpPr/>
          <p:nvPr/>
        </p:nvSpPr>
        <p:spPr>
          <a:xfrm>
            <a:off x="56692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T2</a:t>
            </a:r>
            <a:endParaRPr lang="en-US" sz="850" dirty="0"/>
          </a:p>
        </p:txBody>
      </p:sp>
      <p:sp>
        <p:nvSpPr>
          <p:cNvPr id="22" name="Text 20"/>
          <p:cNvSpPr/>
          <p:nvPr/>
        </p:nvSpPr>
        <p:spPr>
          <a:xfrm>
            <a:off x="96926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 health</a:t>
            </a:r>
            <a:endParaRPr lang="en-US" sz="850" dirty="0"/>
          </a:p>
        </p:txBody>
      </p:sp>
      <p:sp>
        <p:nvSpPr>
          <p:cNvPr id="23" name="Text 21"/>
          <p:cNvSpPr/>
          <p:nvPr/>
        </p:nvSpPr>
        <p:spPr>
          <a:xfrm>
            <a:off x="311200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11</a:t>
            </a:r>
            <a:endParaRPr lang="en-US" sz="850" dirty="0"/>
          </a:p>
        </p:txBody>
      </p:sp>
      <p:sp>
        <p:nvSpPr>
          <p:cNvPr id="24" name="Text 22"/>
          <p:cNvSpPr/>
          <p:nvPr/>
        </p:nvSpPr>
        <p:spPr>
          <a:xfrm>
            <a:off x="56692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T3</a:t>
            </a:r>
            <a:endParaRPr lang="en-US" sz="850" dirty="0"/>
          </a:p>
        </p:txBody>
      </p:sp>
      <p:sp>
        <p:nvSpPr>
          <p:cNvPr id="25" name="Text 23"/>
          <p:cNvSpPr/>
          <p:nvPr/>
        </p:nvSpPr>
        <p:spPr>
          <a:xfrm>
            <a:off x="96926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Annual change</a:t>
            </a:r>
            <a:endParaRPr lang="en-US" sz="850" dirty="0"/>
          </a:p>
        </p:txBody>
      </p:sp>
      <p:sp>
        <p:nvSpPr>
          <p:cNvPr id="26" name="Text 24"/>
          <p:cNvSpPr/>
          <p:nvPr/>
        </p:nvSpPr>
        <p:spPr>
          <a:xfrm>
            <a:off x="311200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12</a:t>
            </a:r>
            <a:endParaRPr lang="en-US" sz="850" dirty="0"/>
          </a:p>
        </p:txBody>
      </p:sp>
      <p:sp>
        <p:nvSpPr>
          <p:cNvPr id="27" name="Text 25"/>
          <p:cNvSpPr/>
          <p:nvPr/>
        </p:nvSpPr>
        <p:spPr>
          <a:xfrm>
            <a:off x="388924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LAND USE &amp; STRUCTURES</a:t>
            </a:r>
            <a:endParaRPr lang="en-US" sz="800" dirty="0"/>
          </a:p>
        </p:txBody>
      </p:sp>
      <p:sp>
        <p:nvSpPr>
          <p:cNvPr id="28" name="Text 26"/>
          <p:cNvSpPr/>
          <p:nvPr/>
        </p:nvSpPr>
        <p:spPr>
          <a:xfrm>
            <a:off x="388924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L1</a:t>
            </a:r>
            <a:endParaRPr lang="en-US" sz="850" dirty="0"/>
          </a:p>
        </p:txBody>
      </p:sp>
      <p:sp>
        <p:nvSpPr>
          <p:cNvPr id="29" name="Text 27"/>
          <p:cNvSpPr/>
          <p:nvPr/>
        </p:nvSpPr>
        <p:spPr>
          <a:xfrm>
            <a:off x="429158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Land use</a:t>
            </a:r>
            <a:endParaRPr lang="en-US" sz="850" dirty="0"/>
          </a:p>
        </p:txBody>
      </p:sp>
      <p:sp>
        <p:nvSpPr>
          <p:cNvPr id="30" name="Text 28"/>
          <p:cNvSpPr/>
          <p:nvPr/>
        </p:nvSpPr>
        <p:spPr>
          <a:xfrm>
            <a:off x="643432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14</a:t>
            </a:r>
            <a:endParaRPr lang="en-US" sz="850" dirty="0"/>
          </a:p>
        </p:txBody>
      </p:sp>
      <p:sp>
        <p:nvSpPr>
          <p:cNvPr id="31" name="Text 29"/>
          <p:cNvSpPr/>
          <p:nvPr/>
        </p:nvSpPr>
        <p:spPr>
          <a:xfrm>
            <a:off x="388924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L2</a:t>
            </a:r>
            <a:endParaRPr lang="en-US" sz="850" dirty="0"/>
          </a:p>
        </p:txBody>
      </p:sp>
      <p:sp>
        <p:nvSpPr>
          <p:cNvPr id="32" name="Text 30"/>
          <p:cNvSpPr/>
          <p:nvPr/>
        </p:nvSpPr>
        <p:spPr>
          <a:xfrm>
            <a:off x="429158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Structures</a:t>
            </a:r>
            <a:endParaRPr lang="en-US" sz="850" dirty="0"/>
          </a:p>
        </p:txBody>
      </p:sp>
      <p:sp>
        <p:nvSpPr>
          <p:cNvPr id="33" name="Text 31"/>
          <p:cNvSpPr/>
          <p:nvPr/>
        </p:nvSpPr>
        <p:spPr>
          <a:xfrm>
            <a:off x="643432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15</a:t>
            </a:r>
            <a:endParaRPr lang="en-US" sz="850" dirty="0"/>
          </a:p>
        </p:txBody>
      </p:sp>
      <p:sp>
        <p:nvSpPr>
          <p:cNvPr id="34" name="Text 32"/>
          <p:cNvSpPr/>
          <p:nvPr/>
        </p:nvSpPr>
        <p:spPr>
          <a:xfrm>
            <a:off x="388924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L3</a:t>
            </a:r>
            <a:endParaRPr lang="en-US" sz="850" dirty="0"/>
          </a:p>
        </p:txBody>
      </p:sp>
      <p:sp>
        <p:nvSpPr>
          <p:cNvPr id="35" name="Text 33"/>
          <p:cNvSpPr/>
          <p:nvPr/>
        </p:nvSpPr>
        <p:spPr>
          <a:xfrm>
            <a:off x="429158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Change tracking</a:t>
            </a:r>
            <a:endParaRPr lang="en-US" sz="850" dirty="0"/>
          </a:p>
        </p:txBody>
      </p:sp>
      <p:sp>
        <p:nvSpPr>
          <p:cNvPr id="36" name="Text 34"/>
          <p:cNvSpPr/>
          <p:nvPr/>
        </p:nvSpPr>
        <p:spPr>
          <a:xfrm>
            <a:off x="643432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16</a:t>
            </a:r>
            <a:endParaRPr lang="en-US" sz="850" dirty="0"/>
          </a:p>
        </p:txBody>
      </p:sp>
      <p:sp>
        <p:nvSpPr>
          <p:cNvPr id="37" name="Text 35"/>
          <p:cNvSpPr/>
          <p:nvPr/>
        </p:nvSpPr>
        <p:spPr>
          <a:xfrm>
            <a:off x="3889248" y="217627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IRRIGATION EFFICIENCY</a:t>
            </a:r>
            <a:endParaRPr lang="en-US" sz="800" dirty="0"/>
          </a:p>
        </p:txBody>
      </p:sp>
      <p:sp>
        <p:nvSpPr>
          <p:cNvPr id="38" name="Text 36"/>
          <p:cNvSpPr/>
          <p:nvPr/>
        </p:nvSpPr>
        <p:spPr>
          <a:xfrm>
            <a:off x="388924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I1</a:t>
            </a:r>
            <a:endParaRPr lang="en-US" sz="850" dirty="0"/>
          </a:p>
        </p:txBody>
      </p:sp>
      <p:sp>
        <p:nvSpPr>
          <p:cNvPr id="39" name="Text 37"/>
          <p:cNvSpPr/>
          <p:nvPr/>
        </p:nvSpPr>
        <p:spPr>
          <a:xfrm>
            <a:off x="429158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Scores</a:t>
            </a:r>
            <a:endParaRPr lang="en-US" sz="850" dirty="0"/>
          </a:p>
        </p:txBody>
      </p:sp>
      <p:sp>
        <p:nvSpPr>
          <p:cNvPr id="40" name="Text 38"/>
          <p:cNvSpPr/>
          <p:nvPr/>
        </p:nvSpPr>
        <p:spPr>
          <a:xfrm>
            <a:off x="643432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18</a:t>
            </a:r>
            <a:endParaRPr lang="en-US" sz="850" dirty="0"/>
          </a:p>
        </p:txBody>
      </p:sp>
      <p:sp>
        <p:nvSpPr>
          <p:cNvPr id="41" name="Text 39"/>
          <p:cNvSpPr/>
          <p:nvPr/>
        </p:nvSpPr>
        <p:spPr>
          <a:xfrm>
            <a:off x="388924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I2</a:t>
            </a:r>
            <a:endParaRPr lang="en-US" sz="850" dirty="0"/>
          </a:p>
        </p:txBody>
      </p:sp>
      <p:sp>
        <p:nvSpPr>
          <p:cNvPr id="42" name="Text 40"/>
          <p:cNvSpPr/>
          <p:nvPr/>
        </p:nvSpPr>
        <p:spPr>
          <a:xfrm>
            <a:off x="429158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Trend by quarter</a:t>
            </a:r>
            <a:endParaRPr lang="en-US" sz="850" dirty="0"/>
          </a:p>
        </p:txBody>
      </p:sp>
      <p:sp>
        <p:nvSpPr>
          <p:cNvPr id="43" name="Text 41"/>
          <p:cNvSpPr/>
          <p:nvPr/>
        </p:nvSpPr>
        <p:spPr>
          <a:xfrm>
            <a:off x="643432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19</a:t>
            </a:r>
            <a:endParaRPr lang="en-US" sz="850" dirty="0"/>
          </a:p>
        </p:txBody>
      </p:sp>
      <p:sp>
        <p:nvSpPr>
          <p:cNvPr id="44" name="Text 42"/>
          <p:cNvSpPr/>
          <p:nvPr/>
        </p:nvSpPr>
        <p:spPr>
          <a:xfrm>
            <a:off x="388924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WATER CALCULATOR</a:t>
            </a:r>
            <a:endParaRPr lang="en-US" sz="800" dirty="0"/>
          </a:p>
        </p:txBody>
      </p:sp>
      <p:sp>
        <p:nvSpPr>
          <p:cNvPr id="45" name="Text 43"/>
          <p:cNvSpPr/>
          <p:nvPr/>
        </p:nvSpPr>
        <p:spPr>
          <a:xfrm>
            <a:off x="388924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W1</a:t>
            </a:r>
            <a:endParaRPr lang="en-US" sz="850" dirty="0"/>
          </a:p>
        </p:txBody>
      </p:sp>
      <p:sp>
        <p:nvSpPr>
          <p:cNvPr id="46" name="Text 44"/>
          <p:cNvSpPr/>
          <p:nvPr/>
        </p:nvSpPr>
        <p:spPr>
          <a:xfrm>
            <a:off x="429158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Monthly demand</a:t>
            </a:r>
            <a:endParaRPr lang="en-US" sz="850" dirty="0"/>
          </a:p>
        </p:txBody>
      </p:sp>
      <p:sp>
        <p:nvSpPr>
          <p:cNvPr id="47" name="Text 45"/>
          <p:cNvSpPr/>
          <p:nvPr/>
        </p:nvSpPr>
        <p:spPr>
          <a:xfrm>
            <a:off x="643432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21</a:t>
            </a:r>
            <a:endParaRPr lang="en-US" sz="850" dirty="0"/>
          </a:p>
        </p:txBody>
      </p:sp>
      <p:sp>
        <p:nvSpPr>
          <p:cNvPr id="48" name="Text 46"/>
          <p:cNvSpPr/>
          <p:nvPr/>
        </p:nvSpPr>
        <p:spPr>
          <a:xfrm>
            <a:off x="388924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W2</a:t>
            </a:r>
            <a:endParaRPr lang="en-US" sz="850" dirty="0"/>
          </a:p>
        </p:txBody>
      </p:sp>
      <p:sp>
        <p:nvSpPr>
          <p:cNvPr id="49" name="Text 47"/>
          <p:cNvSpPr/>
          <p:nvPr/>
        </p:nvSpPr>
        <p:spPr>
          <a:xfrm>
            <a:off x="429158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 budget</a:t>
            </a:r>
            <a:endParaRPr lang="en-US" sz="850" dirty="0"/>
          </a:p>
        </p:txBody>
      </p:sp>
      <p:sp>
        <p:nvSpPr>
          <p:cNvPr id="50" name="Text 48"/>
          <p:cNvSpPr/>
          <p:nvPr/>
        </p:nvSpPr>
        <p:spPr>
          <a:xfrm>
            <a:off x="643432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22</a:t>
            </a:r>
            <a:endParaRPr lang="en-US" sz="850" dirty="0"/>
          </a:p>
        </p:txBody>
      </p:sp>
      <p:sp>
        <p:nvSpPr>
          <p:cNvPr id="51" name="Text 49"/>
          <p:cNvSpPr/>
          <p:nvPr/>
        </p:nvSpPr>
        <p:spPr>
          <a:xfrm>
            <a:off x="721156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YIELD OPTIMISATION</a:t>
            </a:r>
            <a:endParaRPr lang="en-US" sz="800" dirty="0"/>
          </a:p>
        </p:txBody>
      </p:sp>
      <p:sp>
        <p:nvSpPr>
          <p:cNvPr id="52" name="Text 50"/>
          <p:cNvSpPr/>
          <p:nvPr/>
        </p:nvSpPr>
        <p:spPr>
          <a:xfrm>
            <a:off x="721156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Y1</a:t>
            </a:r>
            <a:endParaRPr lang="en-US" sz="850" dirty="0"/>
          </a:p>
        </p:txBody>
      </p:sp>
      <p:sp>
        <p:nvSpPr>
          <p:cNvPr id="53" name="Text 51"/>
          <p:cNvSpPr/>
          <p:nvPr/>
        </p:nvSpPr>
        <p:spPr>
          <a:xfrm>
            <a:off x="761390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Yield forecast</a:t>
            </a:r>
            <a:endParaRPr lang="en-US" sz="850" dirty="0"/>
          </a:p>
        </p:txBody>
      </p:sp>
      <p:sp>
        <p:nvSpPr>
          <p:cNvPr id="54" name="Text 52"/>
          <p:cNvSpPr/>
          <p:nvPr/>
        </p:nvSpPr>
        <p:spPr>
          <a:xfrm>
            <a:off x="975664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24</a:t>
            </a:r>
            <a:endParaRPr lang="en-US" sz="850" dirty="0"/>
          </a:p>
        </p:txBody>
      </p:sp>
      <p:sp>
        <p:nvSpPr>
          <p:cNvPr id="55" name="Text 53"/>
          <p:cNvSpPr/>
          <p:nvPr/>
        </p:nvSpPr>
        <p:spPr>
          <a:xfrm>
            <a:off x="721156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Y2</a:t>
            </a:r>
            <a:endParaRPr lang="en-US" sz="850" dirty="0"/>
          </a:p>
        </p:txBody>
      </p:sp>
      <p:sp>
        <p:nvSpPr>
          <p:cNvPr id="56" name="Text 54"/>
          <p:cNvSpPr/>
          <p:nvPr/>
        </p:nvSpPr>
        <p:spPr>
          <a:xfrm>
            <a:off x="761390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 calendar</a:t>
            </a:r>
            <a:endParaRPr lang="en-US" sz="850" dirty="0"/>
          </a:p>
        </p:txBody>
      </p:sp>
      <p:sp>
        <p:nvSpPr>
          <p:cNvPr id="57" name="Text 55"/>
          <p:cNvSpPr/>
          <p:nvPr/>
        </p:nvSpPr>
        <p:spPr>
          <a:xfrm>
            <a:off x="975664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25</a:t>
            </a:r>
            <a:endParaRPr lang="en-US" sz="850" dirty="0"/>
          </a:p>
        </p:txBody>
      </p:sp>
      <p:sp>
        <p:nvSpPr>
          <p:cNvPr id="58" name="Text 56"/>
          <p:cNvSpPr/>
          <p:nvPr/>
        </p:nvSpPr>
        <p:spPr>
          <a:xfrm>
            <a:off x="7211568" y="196138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INDIVIDUAL FARMS</a:t>
            </a:r>
            <a:endParaRPr lang="en-US" sz="800" dirty="0"/>
          </a:p>
        </p:txBody>
      </p:sp>
      <p:sp>
        <p:nvSpPr>
          <p:cNvPr id="59" name="Text 57"/>
          <p:cNvSpPr/>
          <p:nvPr/>
        </p:nvSpPr>
        <p:spPr>
          <a:xfrm>
            <a:off x="721156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F1</a:t>
            </a:r>
            <a:endParaRPr lang="en-US" sz="850" dirty="0"/>
          </a:p>
        </p:txBody>
      </p:sp>
      <p:sp>
        <p:nvSpPr>
          <p:cNvPr id="60" name="Text 58"/>
          <p:cNvSpPr/>
          <p:nvPr/>
        </p:nvSpPr>
        <p:spPr>
          <a:xfrm>
            <a:off x="761390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register</a:t>
            </a:r>
            <a:endParaRPr lang="en-US" sz="850" dirty="0"/>
          </a:p>
        </p:txBody>
      </p:sp>
      <p:sp>
        <p:nvSpPr>
          <p:cNvPr id="61" name="Text 59"/>
          <p:cNvSpPr/>
          <p:nvPr/>
        </p:nvSpPr>
        <p:spPr>
          <a:xfrm>
            <a:off x="975664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27</a:t>
            </a:r>
            <a:endParaRPr lang="en-US" sz="850" dirty="0"/>
          </a:p>
        </p:txBody>
      </p:sp>
      <p:sp>
        <p:nvSpPr>
          <p:cNvPr id="62" name="Text 60"/>
          <p:cNvSpPr/>
          <p:nvPr/>
        </p:nvSpPr>
        <p:spPr>
          <a:xfrm>
            <a:off x="721156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F2</a:t>
            </a:r>
            <a:endParaRPr lang="en-US" sz="850" dirty="0"/>
          </a:p>
        </p:txBody>
      </p:sp>
      <p:sp>
        <p:nvSpPr>
          <p:cNvPr id="63" name="Text 61"/>
          <p:cNvSpPr/>
          <p:nvPr/>
        </p:nvSpPr>
        <p:spPr>
          <a:xfrm>
            <a:off x="761390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profile</a:t>
            </a:r>
            <a:endParaRPr lang="en-US" sz="850" dirty="0"/>
          </a:p>
        </p:txBody>
      </p:sp>
      <p:sp>
        <p:nvSpPr>
          <p:cNvPr id="64" name="Text 62"/>
          <p:cNvSpPr/>
          <p:nvPr/>
        </p:nvSpPr>
        <p:spPr>
          <a:xfrm>
            <a:off x="975664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28</a:t>
            </a:r>
            <a:endParaRPr lang="en-US" sz="850" dirty="0"/>
          </a:p>
        </p:txBody>
      </p:sp>
      <p:sp>
        <p:nvSpPr>
          <p:cNvPr id="65" name="Text 63"/>
          <p:cNvSpPr/>
          <p:nvPr/>
        </p:nvSpPr>
        <p:spPr>
          <a:xfrm>
            <a:off x="721156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F3</a:t>
            </a:r>
            <a:endParaRPr lang="en-US" sz="850" dirty="0"/>
          </a:p>
        </p:txBody>
      </p:sp>
      <p:sp>
        <p:nvSpPr>
          <p:cNvPr id="66" name="Text 64"/>
          <p:cNvSpPr/>
          <p:nvPr/>
        </p:nvSpPr>
        <p:spPr>
          <a:xfrm>
            <a:off x="761390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Corrective actions</a:t>
            </a:r>
            <a:endParaRPr lang="en-US" sz="850" dirty="0"/>
          </a:p>
        </p:txBody>
      </p:sp>
      <p:sp>
        <p:nvSpPr>
          <p:cNvPr id="67" name="Text 65"/>
          <p:cNvSpPr/>
          <p:nvPr/>
        </p:nvSpPr>
        <p:spPr>
          <a:xfrm>
            <a:off x="975664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29</a:t>
            </a:r>
            <a:endParaRPr lang="en-US" sz="850" dirty="0"/>
          </a:p>
        </p:txBody>
      </p:sp>
      <p:sp>
        <p:nvSpPr>
          <p:cNvPr id="68" name="Text 66"/>
          <p:cNvSpPr/>
          <p:nvPr/>
        </p:nvSpPr>
        <p:spPr>
          <a:xfrm>
            <a:off x="721156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SUPPORT</a:t>
            </a:r>
            <a:endParaRPr lang="en-US" sz="800" dirty="0"/>
          </a:p>
        </p:txBody>
      </p:sp>
      <p:sp>
        <p:nvSpPr>
          <p:cNvPr id="69" name="Text 67"/>
          <p:cNvSpPr/>
          <p:nvPr/>
        </p:nvSpPr>
        <p:spPr>
          <a:xfrm>
            <a:off x="721156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S1</a:t>
            </a:r>
            <a:endParaRPr lang="en-US" sz="850" dirty="0"/>
          </a:p>
        </p:txBody>
      </p:sp>
      <p:sp>
        <p:nvSpPr>
          <p:cNvPr id="70" name="Text 68"/>
          <p:cNvSpPr/>
          <p:nvPr/>
        </p:nvSpPr>
        <p:spPr>
          <a:xfrm>
            <a:off x="761390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Support</a:t>
            </a:r>
            <a:endParaRPr lang="en-US" sz="850" dirty="0"/>
          </a:p>
        </p:txBody>
      </p:sp>
      <p:sp>
        <p:nvSpPr>
          <p:cNvPr id="71" name="Text 69"/>
          <p:cNvSpPr/>
          <p:nvPr/>
        </p:nvSpPr>
        <p:spPr>
          <a:xfrm>
            <a:off x="975664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31</a:t>
            </a:r>
            <a:endParaRPr lang="en-US" sz="850" dirty="0"/>
          </a:p>
        </p:txBody>
      </p:sp>
      <p:sp>
        <p:nvSpPr>
          <p:cNvPr id="72" name="Text 7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3" name="Text 7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1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Overview</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OV</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OVERVIEW</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OV</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Overview</a:t>
            </a:r>
            <a:endParaRPr lang="en-US" sz="2400" dirty="0"/>
          </a:p>
        </p:txBody>
      </p:sp>
      <p:pic>
        <p:nvPicPr>
          <p:cNvPr id="4" name="Image 0" descr="/home/user/adafsa-mockup/.deck-work/OV.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6" name="Text 3"/>
          <p:cNvSpPr/>
          <p:nvPr/>
        </p:nvSpPr>
        <p:spPr>
          <a:xfrm>
            <a:off x="286429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7" name="Text 4"/>
          <p:cNvSpPr/>
          <p:nvPr/>
        </p:nvSpPr>
        <p:spPr>
          <a:xfrm>
            <a:off x="60004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8" name="Text 5"/>
          <p:cNvSpPr/>
          <p:nvPr/>
        </p:nvSpPr>
        <p:spPr>
          <a:xfrm>
            <a:off x="6885432" y="2666851"/>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9" name="Text 6"/>
          <p:cNvSpPr/>
          <p:nvPr/>
        </p:nvSpPr>
        <p:spPr>
          <a:xfrm>
            <a:off x="6885432" y="3129766"/>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0" name="Text 7"/>
          <p:cNvSpPr/>
          <p:nvPr/>
        </p:nvSpPr>
        <p:spPr>
          <a:xfrm>
            <a:off x="6885432" y="4869984"/>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a:t>
            </a:r>
            <a:endParaRPr lang="en-US" sz="850" dirty="0"/>
          </a:p>
        </p:txBody>
      </p:sp>
      <p:sp>
        <p:nvSpPr>
          <p:cNvPr id="11" name="Text 8"/>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2" name="Text 9"/>
          <p:cNvSpPr/>
          <p:nvPr/>
        </p:nvSpPr>
        <p:spPr>
          <a:xfrm>
            <a:off x="7342632" y="193852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3" name="Text 10"/>
          <p:cNvSpPr/>
          <p:nvPr/>
        </p:nvSpPr>
        <p:spPr>
          <a:xfrm>
            <a:off x="7598664" y="192024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4" name="Text 11"/>
          <p:cNvSpPr/>
          <p:nvPr/>
        </p:nvSpPr>
        <p:spPr>
          <a:xfrm>
            <a:off x="7342632" y="235915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5" name="Text 12"/>
          <p:cNvSpPr/>
          <p:nvPr/>
        </p:nvSpPr>
        <p:spPr>
          <a:xfrm>
            <a:off x="7598664" y="234086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16" name="Text 13"/>
          <p:cNvSpPr/>
          <p:nvPr/>
        </p:nvSpPr>
        <p:spPr>
          <a:xfrm>
            <a:off x="7342632" y="277977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7" name="Text 14"/>
          <p:cNvSpPr/>
          <p:nvPr/>
        </p:nvSpPr>
        <p:spPr>
          <a:xfrm>
            <a:off x="7598664" y="276148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18" name="Text 15"/>
          <p:cNvSpPr/>
          <p:nvPr/>
        </p:nvSpPr>
        <p:spPr>
          <a:xfrm>
            <a:off x="7342632" y="3200400"/>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19" name="Text 16"/>
          <p:cNvSpPr/>
          <p:nvPr/>
        </p:nvSpPr>
        <p:spPr>
          <a:xfrm>
            <a:off x="7598664" y="3182112"/>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20" name="Text 17"/>
          <p:cNvSpPr/>
          <p:nvPr/>
        </p:nvSpPr>
        <p:spPr>
          <a:xfrm>
            <a:off x="7342632" y="362102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1" name="Text 18"/>
          <p:cNvSpPr/>
          <p:nvPr/>
        </p:nvSpPr>
        <p:spPr>
          <a:xfrm>
            <a:off x="7598664" y="360273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2" name="Text 19"/>
          <p:cNvSpPr/>
          <p:nvPr/>
        </p:nvSpPr>
        <p:spPr>
          <a:xfrm>
            <a:off x="7342632" y="404164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3" name="Text 20"/>
          <p:cNvSpPr/>
          <p:nvPr/>
        </p:nvSpPr>
        <p:spPr>
          <a:xfrm>
            <a:off x="7598664" y="402336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Show the crops inside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a group into the crops it is made of</a:t>
            </a:r>
            <a:endParaRPr lang="en-US" sz="750" dirty="0"/>
          </a:p>
        </p:txBody>
      </p:sp>
      <p:sp>
        <p:nvSpPr>
          <p:cNvPr id="25" name="Text 21"/>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6" name="Text 22"/>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2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C1 · C2 · C3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Crops and area</a:t>
            </a:r>
            <a:endParaRPr lang="en-US" sz="2400" dirty="0"/>
          </a:p>
        </p:txBody>
      </p:sp>
      <p:pic>
        <p:nvPicPr>
          <p:cNvPr id="4" name="Image 0" descr="/home/user/adafsa-mockup/.deck-work/C1.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C1-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286429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4322089"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2737574"/>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3200489"/>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6885432" y="4940707"/>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a:t>
            </a:r>
            <a:endParaRPr lang="en-US" sz="850" dirty="0"/>
          </a:p>
        </p:txBody>
      </p:sp>
      <p:sp>
        <p:nvSpPr>
          <p:cNvPr id="14" name="Text 10"/>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5" name="Text 11"/>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6" name="Text 12"/>
          <p:cNvSpPr/>
          <p:nvPr/>
        </p:nvSpPr>
        <p:spPr>
          <a:xfrm>
            <a:off x="7598664" y="4506976"/>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7" name="Text 13"/>
          <p:cNvSpPr/>
          <p:nvPr/>
        </p:nvSpPr>
        <p:spPr>
          <a:xfrm>
            <a:off x="7342632" y="4926245"/>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8" name="Text 14"/>
          <p:cNvSpPr/>
          <p:nvPr/>
        </p:nvSpPr>
        <p:spPr>
          <a:xfrm>
            <a:off x="7598664" y="4907957"/>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19" name="Text 15"/>
          <p:cNvSpPr/>
          <p:nvPr/>
        </p:nvSpPr>
        <p:spPr>
          <a:xfrm>
            <a:off x="7342632" y="5327227"/>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0" name="Text 16"/>
          <p:cNvSpPr/>
          <p:nvPr/>
        </p:nvSpPr>
        <p:spPr>
          <a:xfrm>
            <a:off x="7598664" y="5308939"/>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1" name="Text 17"/>
          <p:cNvSpPr/>
          <p:nvPr/>
        </p:nvSpPr>
        <p:spPr>
          <a:xfrm>
            <a:off x="7342632" y="572820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2" name="Text 18"/>
          <p:cNvSpPr/>
          <p:nvPr/>
        </p:nvSpPr>
        <p:spPr>
          <a:xfrm>
            <a:off x="7598664" y="5709920"/>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23" name="Text 19"/>
          <p:cNvSpPr/>
          <p:nvPr/>
        </p:nvSpPr>
        <p:spPr>
          <a:xfrm>
            <a:off x="7342632" y="6129189"/>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4" name="Text 20"/>
          <p:cNvSpPr/>
          <p:nvPr/>
        </p:nvSpPr>
        <p:spPr>
          <a:xfrm>
            <a:off x="7598664" y="6110901"/>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5" name="Text 21"/>
          <p:cNvSpPr/>
          <p:nvPr/>
        </p:nvSpPr>
        <p:spPr>
          <a:xfrm>
            <a:off x="7342632" y="6530171"/>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6" name="Text 22"/>
          <p:cNvSpPr/>
          <p:nvPr/>
        </p:nvSpPr>
        <p:spPr>
          <a:xfrm>
            <a:off x="7598664" y="6511883"/>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Show the crops inside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a group into the crops it is made of</a:t>
            </a:r>
            <a:endParaRPr lang="en-US" sz="750" dirty="0"/>
          </a:p>
        </p:txBody>
      </p:sp>
      <p:sp>
        <p:nvSpPr>
          <p:cNvPr id="28" name="Text 2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9" name="Text 2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Seasonal change</a:t>
            </a:r>
            <a:endParaRPr lang="en-US" sz="2400" dirty="0"/>
          </a:p>
        </p:txBody>
      </p:sp>
      <p:pic>
        <p:nvPicPr>
          <p:cNvPr id="4" name="Image 0" descr="/home/user/adafsa-mockup/.deck-work/C2.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C2-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583567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1099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38431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65863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424794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6885432" y="452226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a:t>
            </a:r>
            <a:endParaRPr lang="en-US" sz="850" dirty="0"/>
          </a:p>
        </p:txBody>
      </p:sp>
      <p:sp>
        <p:nvSpPr>
          <p:cNvPr id="14" name="Text 10"/>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5" name="Text 11"/>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6" name="Text 12"/>
          <p:cNvSpPr/>
          <p:nvPr/>
        </p:nvSpPr>
        <p:spPr>
          <a:xfrm>
            <a:off x="7598664" y="4506976"/>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vs last quarter</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Compares against last quarter or against last year</a:t>
            </a:r>
            <a:endParaRPr lang="en-US" sz="750" dirty="0"/>
          </a:p>
        </p:txBody>
      </p:sp>
      <p:sp>
        <p:nvSpPr>
          <p:cNvPr id="17" name="Text 13"/>
          <p:cNvSpPr/>
          <p:nvPr/>
        </p:nvSpPr>
        <p:spPr>
          <a:xfrm>
            <a:off x="7342632" y="4926245"/>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8" name="Text 14"/>
          <p:cNvSpPr/>
          <p:nvPr/>
        </p:nvSpPr>
        <p:spPr>
          <a:xfrm>
            <a:off x="7598664" y="4907957"/>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9" name="Text 15"/>
          <p:cNvSpPr/>
          <p:nvPr/>
        </p:nvSpPr>
        <p:spPr>
          <a:xfrm>
            <a:off x="7342632" y="5327227"/>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0" name="Text 16"/>
          <p:cNvSpPr/>
          <p:nvPr/>
        </p:nvSpPr>
        <p:spPr>
          <a:xfrm>
            <a:off x="7598664" y="5308939"/>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21" name="Text 17"/>
          <p:cNvSpPr/>
          <p:nvPr/>
        </p:nvSpPr>
        <p:spPr>
          <a:xfrm>
            <a:off x="7342632" y="572820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2" name="Text 18"/>
          <p:cNvSpPr/>
          <p:nvPr/>
        </p:nvSpPr>
        <p:spPr>
          <a:xfrm>
            <a:off x="7598664" y="5709920"/>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3" name="Text 19"/>
          <p:cNvSpPr/>
          <p:nvPr/>
        </p:nvSpPr>
        <p:spPr>
          <a:xfrm>
            <a:off x="7342632" y="6129189"/>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4" name="Text 20"/>
          <p:cNvSpPr/>
          <p:nvPr/>
        </p:nvSpPr>
        <p:spPr>
          <a:xfrm>
            <a:off x="7598664" y="6110901"/>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Started (21)</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Started, increased, decreased or stopped — pick one to list those farms</a:t>
            </a:r>
            <a:endParaRPr lang="en-US" sz="750" dirty="0"/>
          </a:p>
        </p:txBody>
      </p:sp>
      <p:sp>
        <p:nvSpPr>
          <p:cNvPr id="25" name="Text 21"/>
          <p:cNvSpPr/>
          <p:nvPr/>
        </p:nvSpPr>
        <p:spPr>
          <a:xfrm>
            <a:off x="7342632" y="6530171"/>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6" name="Text 22"/>
          <p:cNvSpPr/>
          <p:nvPr/>
        </p:nvSpPr>
        <p:spPr>
          <a:xfrm>
            <a:off x="7598664" y="6511883"/>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8" name="Text 2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9" name="Text 2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Fallow land</a:t>
            </a:r>
            <a:endParaRPr lang="en-US" sz="2400" dirty="0"/>
          </a:p>
        </p:txBody>
      </p:sp>
      <p:pic>
        <p:nvPicPr>
          <p:cNvPr id="4" name="Image 0" descr="/home/user/adafsa-mockup/.deck-work/C3.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C3-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583567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1099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885432" y="2990463"/>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3453378"/>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4530298"/>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4" name="Text 10"/>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5" name="Text 11"/>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vs last quarter</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Compares against last quarter or against last year</a:t>
            </a:r>
            <a:endParaRPr lang="en-US" sz="750" dirty="0"/>
          </a:p>
        </p:txBody>
      </p:sp>
      <p:sp>
        <p:nvSpPr>
          <p:cNvPr id="16" name="Text 12"/>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7" name="Text 13"/>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8" name="Text 14"/>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9" name="Text 15"/>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20" name="Text 16"/>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1" name="Text 17"/>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2" name="Text 18"/>
          <p:cNvSpPr/>
          <p:nvPr/>
        </p:nvSpPr>
        <p:spPr>
          <a:xfrm>
            <a:off x="7342632" y="6207760"/>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3" name="Text 19"/>
          <p:cNvSpPr/>
          <p:nvPr/>
        </p:nvSpPr>
        <p:spPr>
          <a:xfrm>
            <a:off x="7598664" y="6189472"/>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5" name="Text 2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6" name="Text 2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3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Tree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T1 · T2 · T3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Trees and species</a:t>
            </a:r>
            <a:endParaRPr lang="en-US" sz="2400" dirty="0"/>
          </a:p>
        </p:txBody>
      </p:sp>
      <p:pic>
        <p:nvPicPr>
          <p:cNvPr id="4" name="Image 0" descr="/home/user/adafsa-mockup/.deck-work/T1.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T1-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345519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4320348"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2737574"/>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3200489"/>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6885432" y="4940707"/>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a:t>
            </a:r>
            <a:endParaRPr lang="en-US" sz="850" dirty="0"/>
          </a:p>
        </p:txBody>
      </p:sp>
      <p:sp>
        <p:nvSpPr>
          <p:cNvPr id="14" name="Text 10"/>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5" name="Text 11"/>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6" name="Text 12"/>
          <p:cNvSpPr/>
          <p:nvPr/>
        </p:nvSpPr>
        <p:spPr>
          <a:xfrm>
            <a:off x="7598664" y="4506976"/>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7" name="Text 13"/>
          <p:cNvSpPr/>
          <p:nvPr/>
        </p:nvSpPr>
        <p:spPr>
          <a:xfrm>
            <a:off x="7342632" y="4926245"/>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8" name="Text 14"/>
          <p:cNvSpPr/>
          <p:nvPr/>
        </p:nvSpPr>
        <p:spPr>
          <a:xfrm>
            <a:off x="7598664" y="4907957"/>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Fruit Trees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19" name="Text 15"/>
          <p:cNvSpPr/>
          <p:nvPr/>
        </p:nvSpPr>
        <p:spPr>
          <a:xfrm>
            <a:off x="7342632" y="5327227"/>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0" name="Text 16"/>
          <p:cNvSpPr/>
          <p:nvPr/>
        </p:nvSpPr>
        <p:spPr>
          <a:xfrm>
            <a:off x="7598664" y="5308939"/>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1" name="Text 17"/>
          <p:cNvSpPr/>
          <p:nvPr/>
        </p:nvSpPr>
        <p:spPr>
          <a:xfrm>
            <a:off x="7342632" y="572820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2" name="Text 18"/>
          <p:cNvSpPr/>
          <p:nvPr/>
        </p:nvSpPr>
        <p:spPr>
          <a:xfrm>
            <a:off x="7598664" y="5709920"/>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23" name="Text 19"/>
          <p:cNvSpPr/>
          <p:nvPr/>
        </p:nvSpPr>
        <p:spPr>
          <a:xfrm>
            <a:off x="7342632" y="6129189"/>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4" name="Text 20"/>
          <p:cNvSpPr/>
          <p:nvPr/>
        </p:nvSpPr>
        <p:spPr>
          <a:xfrm>
            <a:off x="7598664" y="6110901"/>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5" name="Text 21"/>
          <p:cNvSpPr/>
          <p:nvPr/>
        </p:nvSpPr>
        <p:spPr>
          <a:xfrm>
            <a:off x="7342632" y="6530171"/>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6" name="Text 22"/>
          <p:cNvSpPr/>
          <p:nvPr/>
        </p:nvSpPr>
        <p:spPr>
          <a:xfrm>
            <a:off x="7598664" y="6511883"/>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Show the crops inside Date Palm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a group into the crops it is made of</a:t>
            </a:r>
            <a:endParaRPr lang="en-US" sz="750" dirty="0"/>
          </a:p>
        </p:txBody>
      </p:sp>
      <p:sp>
        <p:nvSpPr>
          <p:cNvPr id="28" name="Text 2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9" name="Text 2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 health</a:t>
            </a:r>
            <a:endParaRPr lang="en-US" sz="2400" dirty="0"/>
          </a:p>
        </p:txBody>
      </p:sp>
      <p:pic>
        <p:nvPicPr>
          <p:cNvPr id="4" name="Image 0" descr="/home/user/adafsa-mockup/.deck-work/T2.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T2-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885432" y="3808065"/>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885432" y="427098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5347901"/>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3" name="Text 9"/>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4" name="Text 10"/>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5" name="Text 11"/>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6" name="Text 12"/>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17" name="Text 13"/>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8" name="Text 14"/>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19" name="Text 15"/>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0" name="Text 16"/>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2" name="Text 1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3" name="Text 1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Annual change</a:t>
            </a:r>
            <a:endParaRPr lang="en-US" sz="2400" dirty="0"/>
          </a:p>
        </p:txBody>
      </p:sp>
      <p:pic>
        <p:nvPicPr>
          <p:cNvPr id="4" name="Image 0" descr="/home/user/adafsa-mockup/.deck-work/T3.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T3-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583567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1099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38431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65863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402539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6885432" y="429971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a:t>
            </a:r>
            <a:endParaRPr lang="en-US" sz="850" dirty="0"/>
          </a:p>
        </p:txBody>
      </p:sp>
      <p:sp>
        <p:nvSpPr>
          <p:cNvPr id="14" name="Text 10"/>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5" name="Text 11"/>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6" name="Text 12"/>
          <p:cNvSpPr/>
          <p:nvPr/>
        </p:nvSpPr>
        <p:spPr>
          <a:xfrm>
            <a:off x="7598664" y="4506976"/>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vs last quarter</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Compares against last quarter or against last year</a:t>
            </a:r>
            <a:endParaRPr lang="en-US" sz="750" dirty="0"/>
          </a:p>
        </p:txBody>
      </p:sp>
      <p:sp>
        <p:nvSpPr>
          <p:cNvPr id="17" name="Text 13"/>
          <p:cNvSpPr/>
          <p:nvPr/>
        </p:nvSpPr>
        <p:spPr>
          <a:xfrm>
            <a:off x="7342632" y="4926245"/>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8" name="Text 14"/>
          <p:cNvSpPr/>
          <p:nvPr/>
        </p:nvSpPr>
        <p:spPr>
          <a:xfrm>
            <a:off x="7598664" y="4907957"/>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9" name="Text 15"/>
          <p:cNvSpPr/>
          <p:nvPr/>
        </p:nvSpPr>
        <p:spPr>
          <a:xfrm>
            <a:off x="7342632" y="5327227"/>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0" name="Text 16"/>
          <p:cNvSpPr/>
          <p:nvPr/>
        </p:nvSpPr>
        <p:spPr>
          <a:xfrm>
            <a:off x="7598664" y="5308939"/>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Fruit Trees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21" name="Text 17"/>
          <p:cNvSpPr/>
          <p:nvPr/>
        </p:nvSpPr>
        <p:spPr>
          <a:xfrm>
            <a:off x="7342632" y="572820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2" name="Text 18"/>
          <p:cNvSpPr/>
          <p:nvPr/>
        </p:nvSpPr>
        <p:spPr>
          <a:xfrm>
            <a:off x="7598664" y="5709920"/>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3" name="Text 19"/>
          <p:cNvSpPr/>
          <p:nvPr/>
        </p:nvSpPr>
        <p:spPr>
          <a:xfrm>
            <a:off x="7342632" y="6129189"/>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4" name="Text 20"/>
          <p:cNvSpPr/>
          <p:nvPr/>
        </p:nvSpPr>
        <p:spPr>
          <a:xfrm>
            <a:off x="7598664" y="6110901"/>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Started (0)</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Started, increased, decreased or stopped — pick one to list those farms</a:t>
            </a:r>
            <a:endParaRPr lang="en-US" sz="750" dirty="0"/>
          </a:p>
        </p:txBody>
      </p:sp>
      <p:sp>
        <p:nvSpPr>
          <p:cNvPr id="25" name="Text 21"/>
          <p:cNvSpPr/>
          <p:nvPr/>
        </p:nvSpPr>
        <p:spPr>
          <a:xfrm>
            <a:off x="7342632" y="6530171"/>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6" name="Text 22"/>
          <p:cNvSpPr/>
          <p:nvPr/>
        </p:nvSpPr>
        <p:spPr>
          <a:xfrm>
            <a:off x="7598664" y="6511883"/>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8" name="Text 2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9" name="Text 2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4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Land Use &amp; Structures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L1 · L2 · L3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Land use</a:t>
            </a:r>
            <a:endParaRPr lang="en-US" sz="2400" dirty="0"/>
          </a:p>
        </p:txBody>
      </p:sp>
      <p:pic>
        <p:nvPicPr>
          <p:cNvPr id="4" name="Image 0" descr="/home/user/adafsa-mockup/.deck-work/L1.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L1-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885432" y="2718286"/>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885432" y="3181201"/>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5350044"/>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3" name="Text 9"/>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4" name="Text 10"/>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5" name="Text 11"/>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6" name="Text 12"/>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17" name="Text 13"/>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8" name="Text 14"/>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19" name="Text 15"/>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0" name="Text 16"/>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Show the crops inside Open Agriculture</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a group into the crops it is made of</a:t>
            </a:r>
            <a:endParaRPr lang="en-US" sz="750" dirty="0"/>
          </a:p>
        </p:txBody>
      </p:sp>
      <p:sp>
        <p:nvSpPr>
          <p:cNvPr id="22" name="Text 1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3" name="Text 1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Structures</a:t>
            </a:r>
            <a:endParaRPr lang="en-US" sz="2400" dirty="0"/>
          </a:p>
        </p:txBody>
      </p:sp>
      <p:pic>
        <p:nvPicPr>
          <p:cNvPr id="4" name="Image 0" descr="/home/user/adafsa-mockup/.deck-work/L2.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L2-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885432" y="2990463"/>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885432" y="3453378"/>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4679246"/>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5390763"/>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4" name="Text 10"/>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5" name="Text 11"/>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6" name="Text 12"/>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7" name="Text 13"/>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18" name="Text 14"/>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9" name="Text 15"/>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0" name="Text 16"/>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1" name="Text 17"/>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Show the crops inside Structures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a group into the crops it is made of</a:t>
            </a:r>
            <a:endParaRPr lang="en-US" sz="750" dirty="0"/>
          </a:p>
        </p:txBody>
      </p:sp>
      <p:sp>
        <p:nvSpPr>
          <p:cNvPr id="22" name="Text 18"/>
          <p:cNvSpPr/>
          <p:nvPr/>
        </p:nvSpPr>
        <p:spPr>
          <a:xfrm>
            <a:off x="7342632" y="6207760"/>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3" name="Text 19"/>
          <p:cNvSpPr/>
          <p:nvPr/>
        </p:nvSpPr>
        <p:spPr>
          <a:xfrm>
            <a:off x="7598664" y="6189472"/>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5" name="Text 2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6" name="Text 2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Change tracking</a:t>
            </a:r>
            <a:endParaRPr lang="en-US" sz="2400" dirty="0"/>
          </a:p>
        </p:txBody>
      </p:sp>
      <p:pic>
        <p:nvPicPr>
          <p:cNvPr id="4" name="Image 0" descr="/home/user/adafsa-mockup/.deck-work/L3.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83567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6" name="Text 3"/>
          <p:cNvSpPr/>
          <p:nvPr/>
        </p:nvSpPr>
        <p:spPr>
          <a:xfrm>
            <a:off x="61099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7" name="Text 4"/>
          <p:cNvSpPr/>
          <p:nvPr/>
        </p:nvSpPr>
        <p:spPr>
          <a:xfrm>
            <a:off x="6885432" y="458153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8" name="Text 5"/>
          <p:cNvSpPr/>
          <p:nvPr/>
        </p:nvSpPr>
        <p:spPr>
          <a:xfrm>
            <a:off x="6885432" y="485585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9" name="Text 6"/>
          <p:cNvSpPr/>
          <p:nvPr/>
        </p:nvSpPr>
        <p:spPr>
          <a:xfrm>
            <a:off x="6885432" y="513017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0" name="Text 7"/>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1" name="Text 8"/>
          <p:cNvSpPr/>
          <p:nvPr/>
        </p:nvSpPr>
        <p:spPr>
          <a:xfrm>
            <a:off x="7342632" y="193852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2" name="Text 9"/>
          <p:cNvSpPr/>
          <p:nvPr/>
        </p:nvSpPr>
        <p:spPr>
          <a:xfrm>
            <a:off x="7598664" y="192024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vs last quarter</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Compares against last quarter or against last year</a:t>
            </a:r>
            <a:endParaRPr lang="en-US" sz="750" dirty="0"/>
          </a:p>
        </p:txBody>
      </p:sp>
      <p:sp>
        <p:nvSpPr>
          <p:cNvPr id="13" name="Text 10"/>
          <p:cNvSpPr/>
          <p:nvPr/>
        </p:nvSpPr>
        <p:spPr>
          <a:xfrm>
            <a:off x="7342632" y="235915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4" name="Text 11"/>
          <p:cNvSpPr/>
          <p:nvPr/>
        </p:nvSpPr>
        <p:spPr>
          <a:xfrm>
            <a:off x="7598664" y="234086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5" name="Text 12"/>
          <p:cNvSpPr/>
          <p:nvPr/>
        </p:nvSpPr>
        <p:spPr>
          <a:xfrm>
            <a:off x="7342632" y="277977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6" name="Text 13"/>
          <p:cNvSpPr/>
          <p:nvPr/>
        </p:nvSpPr>
        <p:spPr>
          <a:xfrm>
            <a:off x="7598664" y="276148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Started (0)</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Started, increased, decreased or stopped — pick one to list those farms</a:t>
            </a:r>
            <a:endParaRPr lang="en-US" sz="750" dirty="0"/>
          </a:p>
        </p:txBody>
      </p:sp>
      <p:sp>
        <p:nvSpPr>
          <p:cNvPr id="17" name="Text 14"/>
          <p:cNvSpPr/>
          <p:nvPr/>
        </p:nvSpPr>
        <p:spPr>
          <a:xfrm>
            <a:off x="7342632" y="3200400"/>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18" name="Text 15"/>
          <p:cNvSpPr/>
          <p:nvPr/>
        </p:nvSpPr>
        <p:spPr>
          <a:xfrm>
            <a:off x="7598664" y="3182112"/>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19" name="Text 16"/>
          <p:cNvSpPr/>
          <p:nvPr/>
        </p:nvSpPr>
        <p:spPr>
          <a:xfrm>
            <a:off x="7342632" y="362102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0" name="Text 17"/>
          <p:cNvSpPr/>
          <p:nvPr/>
        </p:nvSpPr>
        <p:spPr>
          <a:xfrm>
            <a:off x="7598664" y="360273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Export CSV</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Downloads every row the search and sort produced, not the page on screen</a:t>
            </a:r>
            <a:endParaRPr lang="en-US" sz="750" dirty="0"/>
          </a:p>
        </p:txBody>
      </p:sp>
      <p:sp>
        <p:nvSpPr>
          <p:cNvPr id="22" name="Text 18"/>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3" name="Text 19"/>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5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Irrigation Efficiency</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I1 · I2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Scores</a:t>
            </a:r>
            <a:endParaRPr lang="en-US" sz="2400" dirty="0"/>
          </a:p>
        </p:txBody>
      </p:sp>
      <p:pic>
        <p:nvPicPr>
          <p:cNvPr id="4" name="Image 0" descr="/home/user/adafsa-mockup/.deck-work/I1.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I1-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286429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0004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3009751"/>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3472666"/>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6885432" y="4549586"/>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a:t>
            </a:r>
            <a:endParaRPr lang="en-US" sz="850" dirty="0"/>
          </a:p>
        </p:txBody>
      </p:sp>
      <p:sp>
        <p:nvSpPr>
          <p:cNvPr id="14" name="Text 10"/>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5" name="Text 11"/>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6" name="Text 12"/>
          <p:cNvSpPr/>
          <p:nvPr/>
        </p:nvSpPr>
        <p:spPr>
          <a:xfrm>
            <a:off x="7598664" y="4506976"/>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7" name="Text 13"/>
          <p:cNvSpPr/>
          <p:nvPr/>
        </p:nvSpPr>
        <p:spPr>
          <a:xfrm>
            <a:off x="7342632" y="4926245"/>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8" name="Text 14"/>
          <p:cNvSpPr/>
          <p:nvPr/>
        </p:nvSpPr>
        <p:spPr>
          <a:xfrm>
            <a:off x="7598664" y="4907957"/>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19" name="Text 15"/>
          <p:cNvSpPr/>
          <p:nvPr/>
        </p:nvSpPr>
        <p:spPr>
          <a:xfrm>
            <a:off x="7342632" y="5327227"/>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0" name="Text 16"/>
          <p:cNvSpPr/>
          <p:nvPr/>
        </p:nvSpPr>
        <p:spPr>
          <a:xfrm>
            <a:off x="7598664" y="5308939"/>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1" name="Text 17"/>
          <p:cNvSpPr/>
          <p:nvPr/>
        </p:nvSpPr>
        <p:spPr>
          <a:xfrm>
            <a:off x="7342632" y="572820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2" name="Text 18"/>
          <p:cNvSpPr/>
          <p:nvPr/>
        </p:nvSpPr>
        <p:spPr>
          <a:xfrm>
            <a:off x="7598664" y="5709920"/>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23" name="Text 19"/>
          <p:cNvSpPr/>
          <p:nvPr/>
        </p:nvSpPr>
        <p:spPr>
          <a:xfrm>
            <a:off x="7342632" y="6129189"/>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4" name="Text 20"/>
          <p:cNvSpPr/>
          <p:nvPr/>
        </p:nvSpPr>
        <p:spPr>
          <a:xfrm>
            <a:off x="7598664" y="6110901"/>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5" name="Text 21"/>
          <p:cNvSpPr/>
          <p:nvPr/>
        </p:nvSpPr>
        <p:spPr>
          <a:xfrm>
            <a:off x="7342632" y="6530171"/>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6" name="Text 22"/>
          <p:cNvSpPr/>
          <p:nvPr/>
        </p:nvSpPr>
        <p:spPr>
          <a:xfrm>
            <a:off x="7598664" y="6511883"/>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8" name="Text 2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9" name="Text 2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Trend by quarter</a:t>
            </a:r>
            <a:endParaRPr lang="en-US" sz="2400" dirty="0"/>
          </a:p>
        </p:txBody>
      </p:sp>
      <p:pic>
        <p:nvPicPr>
          <p:cNvPr id="4" name="Image 0" descr="/home/user/adafsa-mockup/.deck-work/I2.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I2-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583567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1099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885432" y="4799595"/>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2" name="Text 8"/>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3" name="Text 9"/>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vs last quarter</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Compares against last quarter or against last year</a:t>
            </a:r>
            <a:endParaRPr lang="en-US" sz="750" dirty="0"/>
          </a:p>
        </p:txBody>
      </p:sp>
      <p:sp>
        <p:nvSpPr>
          <p:cNvPr id="14" name="Text 10"/>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5" name="Text 11"/>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6" name="Text 12"/>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7" name="Text 13"/>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19" name="Text 1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0" name="Text 1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6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Water Calculator</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W1 · W2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Monthly demand</a:t>
            </a:r>
            <a:endParaRPr lang="en-US" sz="2400" dirty="0"/>
          </a:p>
        </p:txBody>
      </p:sp>
      <p:pic>
        <p:nvPicPr>
          <p:cNvPr id="4" name="Image 0" descr="/home/user/adafsa-mockup/.deck-work/W1.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W1-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614193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41625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69057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96489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4618166"/>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4" name="Text 10"/>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5" name="Text 11"/>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How this is worked out</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Shows the model inputs behind these figures</a:t>
            </a:r>
            <a:endParaRPr lang="en-US" sz="750" dirty="0"/>
          </a:p>
        </p:txBody>
      </p:sp>
      <p:sp>
        <p:nvSpPr>
          <p:cNvPr id="16" name="Text 12"/>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7" name="Text 13"/>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8" name="Text 14"/>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9" name="Text 15"/>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20" name="Text 16"/>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1" name="Text 17"/>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2" name="Text 18"/>
          <p:cNvSpPr/>
          <p:nvPr/>
        </p:nvSpPr>
        <p:spPr>
          <a:xfrm>
            <a:off x="7342632" y="6207760"/>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3" name="Text 19"/>
          <p:cNvSpPr/>
          <p:nvPr/>
        </p:nvSpPr>
        <p:spPr>
          <a:xfrm>
            <a:off x="7598664" y="6189472"/>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5" name="Text 2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6" name="Text 2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 budget</a:t>
            </a:r>
            <a:endParaRPr lang="en-US" sz="2400" dirty="0"/>
          </a:p>
        </p:txBody>
      </p:sp>
      <p:pic>
        <p:nvPicPr>
          <p:cNvPr id="4" name="Image 0" descr="/home/user/adafsa-mockup/.deck-work/W2.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W2-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614193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41625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69057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96489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268828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4" name="Text 10"/>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5" name="Text 11"/>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How this is worked out</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Shows the model inputs behind these figures</a:t>
            </a:r>
            <a:endParaRPr lang="en-US" sz="750" dirty="0"/>
          </a:p>
        </p:txBody>
      </p:sp>
      <p:sp>
        <p:nvSpPr>
          <p:cNvPr id="16" name="Text 12"/>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7" name="Text 13"/>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8" name="Text 14"/>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9" name="Text 15"/>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20" name="Text 16"/>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1" name="Text 17"/>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2" name="Text 18"/>
          <p:cNvSpPr/>
          <p:nvPr/>
        </p:nvSpPr>
        <p:spPr>
          <a:xfrm>
            <a:off x="7342632" y="6207760"/>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3" name="Text 19"/>
          <p:cNvSpPr/>
          <p:nvPr/>
        </p:nvSpPr>
        <p:spPr>
          <a:xfrm>
            <a:off x="7598664" y="6189472"/>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Crop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5" name="Text 2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6" name="Text 2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7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Yield Optimisation</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Y1 · Y2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Yield forecast</a:t>
            </a:r>
            <a:endParaRPr lang="en-US" sz="2400" dirty="0"/>
          </a:p>
        </p:txBody>
      </p:sp>
      <p:pic>
        <p:nvPicPr>
          <p:cNvPr id="4" name="Image 0" descr="/home/user/adafsa-mockup/.deck-work/Y1.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Y1-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286429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0004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268828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3" name="Text 9"/>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4" name="Text 10"/>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5" name="Text 11"/>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6" name="Text 12"/>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17" name="Text 13"/>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8" name="Text 14"/>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19" name="Text 15"/>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0" name="Text 16"/>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Crop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2" name="Text 1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3" name="Text 1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 calendar</a:t>
            </a:r>
            <a:endParaRPr lang="en-US" sz="2400" dirty="0"/>
          </a:p>
        </p:txBody>
      </p:sp>
      <p:pic>
        <p:nvPicPr>
          <p:cNvPr id="4" name="Image 0" descr="/home/user/adafsa-mockup/.deck-work/Y2.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Y2-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286429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0004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2" name="Text 8"/>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3" name="Text 9"/>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4" name="Text 10"/>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5" name="Text 11"/>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16" name="Text 12"/>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7" name="Text 13"/>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19" name="Text 1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0" name="Text 1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8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Individual Farms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F1 · F2 · F3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register</a:t>
            </a:r>
            <a:endParaRPr lang="en-US" sz="2400" dirty="0"/>
          </a:p>
        </p:txBody>
      </p:sp>
      <p:pic>
        <p:nvPicPr>
          <p:cNvPr id="4" name="Image 0" descr="/home/user/adafsa-mockup/.deck-work/F1.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F1-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286429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0004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2737574"/>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3200489"/>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6885432" y="427741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a:t>
            </a:r>
            <a:endParaRPr lang="en-US" sz="850" dirty="0"/>
          </a:p>
        </p:txBody>
      </p:sp>
      <p:sp>
        <p:nvSpPr>
          <p:cNvPr id="14" name="Text 10"/>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5" name="Text 11"/>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6" name="Text 12"/>
          <p:cNvSpPr/>
          <p:nvPr/>
        </p:nvSpPr>
        <p:spPr>
          <a:xfrm>
            <a:off x="7598664" y="4506976"/>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7" name="Text 13"/>
          <p:cNvSpPr/>
          <p:nvPr/>
        </p:nvSpPr>
        <p:spPr>
          <a:xfrm>
            <a:off x="7342632" y="4926245"/>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8" name="Text 14"/>
          <p:cNvSpPr/>
          <p:nvPr/>
        </p:nvSpPr>
        <p:spPr>
          <a:xfrm>
            <a:off x="7598664" y="4907957"/>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19" name="Text 15"/>
          <p:cNvSpPr/>
          <p:nvPr/>
        </p:nvSpPr>
        <p:spPr>
          <a:xfrm>
            <a:off x="7342632" y="5327227"/>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0" name="Text 16"/>
          <p:cNvSpPr/>
          <p:nvPr/>
        </p:nvSpPr>
        <p:spPr>
          <a:xfrm>
            <a:off x="7598664" y="5308939"/>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1" name="Text 17"/>
          <p:cNvSpPr/>
          <p:nvPr/>
        </p:nvSpPr>
        <p:spPr>
          <a:xfrm>
            <a:off x="7342632" y="572820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2" name="Text 18"/>
          <p:cNvSpPr/>
          <p:nvPr/>
        </p:nvSpPr>
        <p:spPr>
          <a:xfrm>
            <a:off x="7598664" y="5709920"/>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23" name="Text 19"/>
          <p:cNvSpPr/>
          <p:nvPr/>
        </p:nvSpPr>
        <p:spPr>
          <a:xfrm>
            <a:off x="7342632" y="6129189"/>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4" name="Text 20"/>
          <p:cNvSpPr/>
          <p:nvPr/>
        </p:nvSpPr>
        <p:spPr>
          <a:xfrm>
            <a:off x="7598664" y="6110901"/>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5" name="Text 21"/>
          <p:cNvSpPr/>
          <p:nvPr/>
        </p:nvSpPr>
        <p:spPr>
          <a:xfrm>
            <a:off x="7342632" y="6530171"/>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6" name="Text 22"/>
          <p:cNvSpPr/>
          <p:nvPr/>
        </p:nvSpPr>
        <p:spPr>
          <a:xfrm>
            <a:off x="7598664" y="6511883"/>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8" name="Text 2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9" name="Text 2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profile</a:t>
            </a:r>
            <a:endParaRPr lang="en-US" sz="2400" dirty="0"/>
          </a:p>
        </p:txBody>
      </p:sp>
      <p:pic>
        <p:nvPicPr>
          <p:cNvPr id="4" name="Image 0" descr="/home/user/adafsa-mockup/.deck-work/F2.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F2-tail.jpg">    </p:cNvPr>
          <p:cNvPicPr>
            <a:picLocks noChangeAspect="1"/>
          </p:cNvPicPr>
          <p:nvPr/>
        </p:nvPicPr>
        <p:blipFill>
          <a:blip r:embed="rId2"/>
          <a:stretch>
            <a:fillRect/>
          </a:stretch>
        </p:blipFill>
        <p:spPr>
          <a:xfrm>
            <a:off x="7303715" y="1863035"/>
            <a:ext cx="2857610" cy="1969626"/>
          </a:xfrm>
          <a:prstGeom prst="rect">
            <a:avLst/>
          </a:prstGeom>
        </p:spPr>
      </p:pic>
      <p:sp>
        <p:nvSpPr>
          <p:cNvPr id="8" name="Text 4"/>
          <p:cNvSpPr/>
          <p:nvPr/>
        </p:nvSpPr>
        <p:spPr>
          <a:xfrm>
            <a:off x="567138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22059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885432" y="2876877"/>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333979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3" name="Text 9"/>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4" name="Text 10"/>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Register</a:t>
            </a:r>
            <a:pPr indent="0" marL="0">
              <a:lnSpc>
                <a:spcPts val="900"/>
              </a:lnSpc>
              <a:buNone/>
            </a:pPr>
            <a:r>
              <a:rPr lang="en-US" sz="750" b="1" dirty="0">
                <a:solidFill>
                  <a:srgbClr val="15803D"/>
                </a:solidFill>
                <a:latin typeface="Calibri" pitchFamily="34" charset="0"/>
                <a:ea typeface="Calibri" pitchFamily="34" charset="-122"/>
                <a:cs typeface="Calibri" pitchFamily="34" charset="-120"/>
              </a:rPr>
              <a:t>  →  F1 Farm register</a:t>
            </a:r>
            <a:pPr indent="0" marL="0">
              <a:lnSpc>
                <a:spcPts val="900"/>
              </a:lnSpc>
              <a:buNone/>
            </a:pPr>
            <a:r>
              <a:rPr lang="en-US" sz="750" dirty="0">
                <a:solidFill>
                  <a:srgbClr val="9CA3AF"/>
                </a:solidFill>
                <a:latin typeface="Calibri" pitchFamily="34" charset="0"/>
                <a:ea typeface="Calibri" pitchFamily="34" charset="-122"/>
                <a:cs typeface="Calibri" pitchFamily="34" charset="-120"/>
              </a:rPr>
              <a:t>  (page 27)</a:t>
            </a:r>
            <a:endParaRPr lang="en-US" sz="750" dirty="0"/>
          </a:p>
        </p:txBody>
      </p:sp>
      <p:sp>
        <p:nvSpPr>
          <p:cNvPr id="15" name="Text 11"/>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6" name="Text 12"/>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What to do (1)</a:t>
            </a:r>
            <a:pPr indent="0" marL="0">
              <a:lnSpc>
                <a:spcPts val="900"/>
              </a:lnSpc>
              <a:buNone/>
            </a:pPr>
            <a:r>
              <a:rPr lang="en-US" sz="750" b="1" dirty="0">
                <a:solidFill>
                  <a:srgbClr val="15803D"/>
                </a:solidFill>
                <a:latin typeface="Calibri" pitchFamily="34" charset="0"/>
                <a:ea typeface="Calibri" pitchFamily="34" charset="-122"/>
                <a:cs typeface="Calibri" pitchFamily="34" charset="-120"/>
              </a:rPr>
              <a:t>  →  F3 Corrective actions</a:t>
            </a:r>
            <a:pPr indent="0" marL="0">
              <a:lnSpc>
                <a:spcPts val="900"/>
              </a:lnSpc>
              <a:buNone/>
            </a:pPr>
            <a:r>
              <a:rPr lang="en-US" sz="750" dirty="0">
                <a:solidFill>
                  <a:srgbClr val="9CA3AF"/>
                </a:solidFill>
                <a:latin typeface="Calibri" pitchFamily="34" charset="0"/>
                <a:ea typeface="Calibri" pitchFamily="34" charset="-122"/>
                <a:cs typeface="Calibri" pitchFamily="34" charset="-120"/>
              </a:rPr>
              <a:t>  (page 29)</a:t>
            </a:r>
            <a:endParaRPr lang="en-US" sz="750" dirty="0"/>
          </a:p>
        </p:txBody>
      </p:sp>
      <p:sp>
        <p:nvSpPr>
          <p:cNvPr id="17" name="Text 13"/>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8" name="Text 14"/>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19" name="Text 15"/>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0" name="Text 16"/>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2" name="Text 1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3" name="Text 1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Corrective actions</a:t>
            </a:r>
            <a:endParaRPr lang="en-US" sz="2400" dirty="0"/>
          </a:p>
        </p:txBody>
      </p:sp>
      <p:pic>
        <p:nvPicPr>
          <p:cNvPr id="4" name="Image 0" descr="/home/user/adafsa-mockup/.deck-work/F3.jpg">    </p:cNvPr>
          <p:cNvPicPr>
            <a:picLocks noChangeAspect="1"/>
          </p:cNvPicPr>
          <p:nvPr/>
        </p:nvPicPr>
        <p:blipFill>
          <a:blip r:embed="rId1"/>
          <a:stretch>
            <a:fillRect/>
          </a:stretch>
        </p:blipFill>
        <p:spPr>
          <a:xfrm>
            <a:off x="480517" y="1541221"/>
            <a:ext cx="6345022" cy="4373347"/>
          </a:xfrm>
          <a:prstGeom prst="rect">
            <a:avLst/>
          </a:prstGeom>
        </p:spPr>
      </p:pic>
      <p:sp>
        <p:nvSpPr>
          <p:cNvPr id="5" name="Text 2"/>
          <p:cNvSpPr/>
          <p:nvPr/>
        </p:nvSpPr>
        <p:spPr>
          <a:xfrm>
            <a:off x="561757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6" name="Text 3"/>
          <p:cNvSpPr/>
          <p:nvPr/>
        </p:nvSpPr>
        <p:spPr>
          <a:xfrm>
            <a:off x="6219090"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7" name="Text 4"/>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8" name="Text 5"/>
          <p:cNvSpPr/>
          <p:nvPr/>
        </p:nvSpPr>
        <p:spPr>
          <a:xfrm>
            <a:off x="7342632" y="193852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9" name="Text 6"/>
          <p:cNvSpPr/>
          <p:nvPr/>
        </p:nvSpPr>
        <p:spPr>
          <a:xfrm>
            <a:off x="7598664" y="192024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Farm profile</a:t>
            </a:r>
            <a:pPr indent="0" marL="0">
              <a:lnSpc>
                <a:spcPts val="900"/>
              </a:lnSpc>
              <a:buNone/>
            </a:pPr>
            <a:r>
              <a:rPr lang="en-US" sz="750" b="1" dirty="0">
                <a:solidFill>
                  <a:srgbClr val="15803D"/>
                </a:solidFill>
                <a:latin typeface="Calibri" pitchFamily="34" charset="0"/>
                <a:ea typeface="Calibri" pitchFamily="34" charset="-122"/>
                <a:cs typeface="Calibri" pitchFamily="34" charset="-120"/>
              </a:rPr>
              <a:t>  →  F2 Farm profile</a:t>
            </a:r>
            <a:pPr indent="0" marL="0">
              <a:lnSpc>
                <a:spcPts val="900"/>
              </a:lnSpc>
              <a:buNone/>
            </a:pPr>
            <a:r>
              <a:rPr lang="en-US" sz="750" dirty="0">
                <a:solidFill>
                  <a:srgbClr val="9CA3AF"/>
                </a:solidFill>
                <a:latin typeface="Calibri" pitchFamily="34" charset="0"/>
                <a:ea typeface="Calibri" pitchFamily="34" charset="-122"/>
                <a:cs typeface="Calibri" pitchFamily="34" charset="-120"/>
              </a:rPr>
              <a:t>  (page 28)</a:t>
            </a:r>
            <a:endParaRPr lang="en-US" sz="750" dirty="0"/>
          </a:p>
        </p:txBody>
      </p:sp>
      <p:sp>
        <p:nvSpPr>
          <p:cNvPr id="10" name="Text 7"/>
          <p:cNvSpPr/>
          <p:nvPr/>
        </p:nvSpPr>
        <p:spPr>
          <a:xfrm>
            <a:off x="7342632" y="235915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1" name="Text 8"/>
          <p:cNvSpPr/>
          <p:nvPr/>
        </p:nvSpPr>
        <p:spPr>
          <a:xfrm>
            <a:off x="7598664" y="234086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Print for a visit</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Prints this sheet to carry to the farm</a:t>
            </a:r>
            <a:endParaRPr lang="en-US" sz="750" dirty="0"/>
          </a:p>
        </p:txBody>
      </p:sp>
      <p:sp>
        <p:nvSpPr>
          <p:cNvPr id="13" name="Text 9"/>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4" name="Text 10"/>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9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Support</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S1</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SUPPORT</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S1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Support</a:t>
            </a:r>
            <a:endParaRPr lang="en-US" sz="2400" dirty="0"/>
          </a:p>
        </p:txBody>
      </p:sp>
      <p:pic>
        <p:nvPicPr>
          <p:cNvPr id="4" name="Image 0" descr="/home/user/adafsa-mockup/.deck-work/S1.jpg">    </p:cNvPr>
          <p:cNvPicPr>
            <a:picLocks noChangeAspect="1"/>
          </p:cNvPicPr>
          <p:nvPr/>
        </p:nvPicPr>
        <p:blipFill>
          <a:blip r:embed="rId1"/>
          <a:stretch>
            <a:fillRect/>
          </a:stretch>
        </p:blipFill>
        <p:spPr>
          <a:xfrm>
            <a:off x="480517" y="1541221"/>
            <a:ext cx="6345022" cy="4373347"/>
          </a:xfrm>
          <a:prstGeom prst="rect">
            <a:avLst/>
          </a:prstGeom>
        </p:spPr>
      </p:pic>
      <p:sp>
        <p:nvSpPr>
          <p:cNvPr id="6" name="Text 2"/>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 name="Text 3"/>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ADAFSA Agricultural Monitoring Platform — screens</dc:title>
  <dc:subject>PptxGenJS Presentation</dc:subject>
  <dc:creator>Wafra Greentech</dc:creator>
  <cp:lastModifiedBy>Wafra Greentech</cp:lastModifiedBy>
  <cp:revision>1</cp:revision>
  <dcterms:created xsi:type="dcterms:W3CDTF">2026-09-05T22:57:44Z</dcterms:created>
  <dcterms:modified xsi:type="dcterms:W3CDTF">2026-09-05T22:57:44Z</dcterms:modified>
</cp:coreProperties>
</file>