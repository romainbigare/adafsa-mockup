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summary
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Cereals and fodder
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Open field crops
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
The screenshot shows 39%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Fallow land
Land that can be farmed, in three states: under cultivation, resting less than a year and waiting for a crop, and resting more than a year and not being used. Six quarters, stacked, with the year-on-year movement beside it. (Module 1: fallow land detection.)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 count
Counts the trees: the total, date palms, fruit trees, forest trees, and how many palm varieties were found. The map counts farms until you zoom into one, and then draws every tree in the colour of its variety. (Module 2: tree location, count, species and variety.)
The smaller shot beside it is the same screen zoomed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Canopy health
The canopy health index, read from the satellite and scored for each farm: the average for palms, the average for fruit trees, farms with stressed trees, and farms in the lowest band. Zoom in and the map reads the index closer in.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year by year over three years, following whichever group is selected. Beside it, the three varieties that grew most and the three that shrank most in the last twelve months. The table lists varieties, not farms. (Module 2: annual change detection.)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How the land is used: land mapped, open farmland, buildings and greenhouses, fallow land and bare ground.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farms: structures found, farms with structures, area covered, and the main classes. Houses, sheds, water tanks, pens, roads, pump rooms. (Module 3: structure detection.)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Buildings that are new and buildings that are gone: net change, new structures, structures removed, and the change in area covered. It needs two quarters of data first.
The screenshot shows 41%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A water score from 0 to 100 for every farm: farms scored, the average, how many keep their subsidy at 65 or more, how many need attention, and how many are in the lowest band.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Are the scores moving? The average score now, the change since last quarter or last year, how many farms got worse and how many improved. A line, and no map. (Module 4: quarter-on-quarter trend.)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Water this month: how much each farm is allowed, how much it used, how many farms use too much, and how much extra they used.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Water over a whole season: the total water needed, the harvest expected from it, the water for one kilo of food, and the area planted.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What the harvest should be: expected tonnes, crops planted, how many farms are below the average for their crop, and how many are far below it. (Module 5: seasonal yield estimate.)
The screenshot shows 27%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crops selected, the busiest month, the quietest month, and how many farms are planting at the busiest time.
The screenshot shows 82%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how many, their total area, how many need attention, and how many use too much water. Search by number or owner, sort any column, open one farm.
The screenshot shows 51%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the owner, the province, land in production, the tree count, and how many things need attention. Below that: crops, trees, water score and buildings. All six modules meet here.
The screenshot shows 46%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What is wrong on this farm and what to do: things to look at, and alerts that would go to the farmer. Each one is written as an action, not as a number to work out.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omainbigare.github.io/adafsa-mockup"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21</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0.0.3</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VERSION</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157984"/>
            <a:ext cx="8778240" cy="292608"/>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AN INTERACTIVE MOCKUP IS AVAILABLE</a:t>
            </a:r>
            <a:endParaRPr lang="en-US" sz="1200" dirty="0"/>
          </a:p>
        </p:txBody>
      </p:sp>
      <p:sp>
        <p:nvSpPr>
          <p:cNvPr id="3" name="Text 1"/>
          <p:cNvSpPr/>
          <p:nvPr/>
        </p:nvSpPr>
        <p:spPr>
          <a:xfrm>
            <a:off x="566928" y="2615184"/>
            <a:ext cx="9555480" cy="658368"/>
          </a:xfrm>
          <a:prstGeom prst="rect">
            <a:avLst/>
          </a:prstGeom>
          <a:noFill/>
          <a:ln/>
        </p:spPr>
        <p:txBody>
          <a:bodyPr wrap="square" lIns="0" tIns="0" rIns="0" bIns="0" rtlCol="0" anchor="t"/>
          <a:lstStyle/>
          <a:p>
            <a:pPr indent="0" marL="0">
              <a:buNone/>
            </a:pPr>
            <a:r>
              <a:rPr lang="en-US" sz="2700" b="1" dirty="0">
                <a:solidFill>
                  <a:srgbClr val="FFFFFF"/>
                </a:solidFill>
                <a:latin typeface="Calibri" pitchFamily="34" charset="0"/>
                <a:ea typeface="Calibri" pitchFamily="34" charset="-122"/>
                <a:cs typeface="Calibri" pitchFamily="34" charset="-120"/>
              </a:rPr>
              <a:t>This mockup exists as an interactive website</a:t>
            </a:r>
            <a:endParaRPr lang="en-US" sz="2700" dirty="0"/>
          </a:p>
        </p:txBody>
      </p:sp>
      <p:sp>
        <p:nvSpPr>
          <p:cNvPr id="4" name="Text 2">
            <a:hlinkClick r:id="rId1" tooltip="Open the live mockup"/>
          </p:cNvPr>
          <p:cNvSpPr/>
          <p:nvPr/>
        </p:nvSpPr>
        <p:spPr>
          <a:xfrm>
            <a:off x="566928" y="3602736"/>
            <a:ext cx="9555480" cy="786384"/>
          </a:xfrm>
          <a:prstGeom prst="rect">
            <a:avLst/>
          </a:prstGeom>
          <a:noFill/>
          <a:ln/>
        </p:spPr>
        <p:txBody>
          <a:bodyPr wrap="square" lIns="0" tIns="0" rIns="0" bIns="0" rtlCol="0" anchor="t"/>
          <a:lstStyle/>
          <a:p>
            <a:pPr indent="0" marL="0">
              <a:buNone/>
            </a:pPr>
            <a:r>
              <a:rPr lang="en-US" sz="3000" b="1" u="sng" dirty="0">
                <a:solidFill>
                  <a:srgbClr val="BBF7D0"/>
                </a:solidFill>
                <a:latin typeface="Calibri" pitchFamily="34" charset="0"/>
                <a:ea typeface="Calibri" pitchFamily="34" charset="-122"/>
                <a:cs typeface="Calibri" pitchFamily="34" charset="-120"/>
                <a:hlinkClick r:id="rId1"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3000" dirty="0"/>
          </a:p>
        </p:txBody>
      </p:sp>
      <p:sp>
        <p:nvSpPr>
          <p:cNvPr id="5" name="Text 3"/>
          <p:cNvSpPr/>
          <p:nvPr/>
        </p:nvSpPr>
        <p:spPr>
          <a:xfrm>
            <a:off x="566928" y="4590288"/>
            <a:ext cx="6949440" cy="548640"/>
          </a:xfrm>
          <a:prstGeom prst="rect">
            <a:avLst/>
          </a:prstGeom>
          <a:noFill/>
          <a:ln/>
        </p:spPr>
        <p:txBody>
          <a:bodyPr wrap="square" lIns="0" tIns="0" rIns="0" bIns="0" rtlCol="0" anchor="ctr"/>
          <a:lstStyle/>
          <a:p>
            <a:pPr indent="0" marL="0">
              <a:lnSpc>
                <a:spcPts val="1800"/>
              </a:lnSpc>
              <a:buNone/>
            </a:pPr>
            <a:r>
              <a:rPr lang="en-US" sz="1300" dirty="0">
                <a:solidFill>
                  <a:srgbClr val="BBF7D0"/>
                </a:solidFill>
                <a:latin typeface="Calibri" pitchFamily="34" charset="0"/>
                <a:ea typeface="Calibri" pitchFamily="34" charset="-122"/>
                <a:cs typeface="Calibri" pitchFamily="34" charset="-120"/>
              </a:rPr>
              <a:t>Every screen in this deck is a screenshot of the live, interactive mockup available at the url above.</a:t>
            </a:r>
            <a:endParaRPr lang="en-US" sz="1300" dirty="0"/>
          </a:p>
        </p:txBody>
      </p:sp>
      <p:sp>
        <p:nvSpPr>
          <p:cNvPr id="6"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5</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 summary</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Cereals and fodder</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Open field crops</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9</a:t>
            </a:r>
            <a:endParaRPr lang="en-US" sz="850" dirty="0"/>
          </a:p>
        </p:txBody>
      </p:sp>
      <p:sp>
        <p:nvSpPr>
          <p:cNvPr id="17" name="Text 15"/>
          <p:cNvSpPr/>
          <p:nvPr/>
        </p:nvSpPr>
        <p:spPr>
          <a:xfrm>
            <a:off x="56692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C4</a:t>
            </a:r>
            <a:endParaRPr lang="en-US" sz="850" dirty="0"/>
          </a:p>
        </p:txBody>
      </p:sp>
      <p:sp>
        <p:nvSpPr>
          <p:cNvPr id="18" name="Text 16"/>
          <p:cNvSpPr/>
          <p:nvPr/>
        </p:nvSpPr>
        <p:spPr>
          <a:xfrm>
            <a:off x="96926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9" name="Text 17"/>
          <p:cNvSpPr/>
          <p:nvPr/>
        </p:nvSpPr>
        <p:spPr>
          <a:xfrm>
            <a:off x="311200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0" name="Text 18"/>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21" name="Text 19"/>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22" name="Text 20"/>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count</a:t>
            </a:r>
            <a:endParaRPr lang="en-US" sz="850" dirty="0"/>
          </a:p>
        </p:txBody>
      </p:sp>
      <p:sp>
        <p:nvSpPr>
          <p:cNvPr id="23" name="Text 21"/>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4" name="Text 22"/>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5" name="Text 23"/>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Canopy health</a:t>
            </a:r>
            <a:endParaRPr lang="en-US" sz="850" dirty="0"/>
          </a:p>
        </p:txBody>
      </p:sp>
      <p:sp>
        <p:nvSpPr>
          <p:cNvPr id="26" name="Text 24"/>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13</a:t>
            </a:r>
            <a:endParaRPr lang="en-US" sz="850" dirty="0"/>
          </a:p>
        </p:txBody>
      </p:sp>
      <p:sp>
        <p:nvSpPr>
          <p:cNvPr id="27" name="Text 25"/>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8" name="Text 26"/>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9" name="Text 27"/>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0" name="Text 28"/>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31" name="Text 29"/>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32" name="Text 30"/>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3" name="Text 31"/>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4" name="Text 32"/>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5" name="Text 33"/>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6" name="Text 34"/>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17</a:t>
            </a:r>
            <a:endParaRPr lang="en-US" sz="850" dirty="0"/>
          </a:p>
        </p:txBody>
      </p:sp>
      <p:sp>
        <p:nvSpPr>
          <p:cNvPr id="37" name="Text 35"/>
          <p:cNvSpPr/>
          <p:nvPr/>
        </p:nvSpPr>
        <p:spPr>
          <a:xfrm>
            <a:off x="388924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8" name="Text 36"/>
          <p:cNvSpPr/>
          <p:nvPr/>
        </p:nvSpPr>
        <p:spPr>
          <a:xfrm>
            <a:off x="429158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9" name="Text 37"/>
          <p:cNvSpPr/>
          <p:nvPr/>
        </p:nvSpPr>
        <p:spPr>
          <a:xfrm>
            <a:off x="643432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0" name="Text 38"/>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41" name="Text 39"/>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42" name="Text 40"/>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3" name="Text 41"/>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20</a:t>
            </a:r>
            <a:endParaRPr lang="en-US" sz="850" dirty="0"/>
          </a:p>
        </p:txBody>
      </p:sp>
      <p:sp>
        <p:nvSpPr>
          <p:cNvPr id="44" name="Text 42"/>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5" name="Text 43"/>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6" name="Text 44"/>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7" name="Text 45"/>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8" name="Text 46"/>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9" name="Text 47"/>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50" name="Text 48"/>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23</a:t>
            </a:r>
            <a:endParaRPr lang="en-US" sz="850" dirty="0"/>
          </a:p>
        </p:txBody>
      </p:sp>
      <p:sp>
        <p:nvSpPr>
          <p:cNvPr id="51" name="Text 49"/>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52" name="Text 50"/>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3" name="Text 51"/>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4" name="Text 52"/>
          <p:cNvSpPr/>
          <p:nvPr/>
        </p:nvSpPr>
        <p:spPr>
          <a:xfrm>
            <a:off x="721156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5" name="Text 53"/>
          <p:cNvSpPr/>
          <p:nvPr/>
        </p:nvSpPr>
        <p:spPr>
          <a:xfrm>
            <a:off x="721156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6" name="Text 54"/>
          <p:cNvSpPr/>
          <p:nvPr/>
        </p:nvSpPr>
        <p:spPr>
          <a:xfrm>
            <a:off x="761390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7" name="Text 55"/>
          <p:cNvSpPr/>
          <p:nvPr/>
        </p:nvSpPr>
        <p:spPr>
          <a:xfrm>
            <a:off x="975664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26</a:t>
            </a:r>
            <a:endParaRPr lang="en-US" sz="850" dirty="0"/>
          </a:p>
        </p:txBody>
      </p:sp>
      <p:sp>
        <p:nvSpPr>
          <p:cNvPr id="58" name="Text 56"/>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9" name="Text 57"/>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60" name="Text 58"/>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1" name="Text 59"/>
          <p:cNvSpPr/>
          <p:nvPr/>
        </p:nvSpPr>
        <p:spPr>
          <a:xfrm>
            <a:off x="7211568" y="325069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62" name="Text 60"/>
          <p:cNvSpPr/>
          <p:nvPr/>
        </p:nvSpPr>
        <p:spPr>
          <a:xfrm>
            <a:off x="7211568" y="342900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3" name="Text 61"/>
          <p:cNvSpPr/>
          <p:nvPr/>
        </p:nvSpPr>
        <p:spPr>
          <a:xfrm>
            <a:off x="7613904" y="342900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4" name="Text 62"/>
          <p:cNvSpPr/>
          <p:nvPr/>
        </p:nvSpPr>
        <p:spPr>
          <a:xfrm>
            <a:off x="9756648" y="342900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5" name="Text 63"/>
          <p:cNvSpPr/>
          <p:nvPr/>
        </p:nvSpPr>
        <p:spPr>
          <a:xfrm>
            <a:off x="7211568" y="364388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6" name="Text 64"/>
          <p:cNvSpPr/>
          <p:nvPr/>
        </p:nvSpPr>
        <p:spPr>
          <a:xfrm>
            <a:off x="7613904" y="364388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7" name="Text 65"/>
          <p:cNvSpPr/>
          <p:nvPr/>
        </p:nvSpPr>
        <p:spPr>
          <a:xfrm>
            <a:off x="9756648" y="364388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30</a:t>
            </a:r>
            <a:endParaRPr lang="en-US" sz="850" dirty="0"/>
          </a:p>
        </p:txBody>
      </p:sp>
      <p:sp>
        <p:nvSpPr>
          <p:cNvPr id="68" name="Text 66"/>
          <p:cNvSpPr/>
          <p:nvPr/>
        </p:nvSpPr>
        <p:spPr>
          <a:xfrm>
            <a:off x="7211568" y="385876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9" name="Text 67"/>
          <p:cNvSpPr/>
          <p:nvPr/>
        </p:nvSpPr>
        <p:spPr>
          <a:xfrm>
            <a:off x="7613904" y="385876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70" name="Text 68"/>
          <p:cNvSpPr/>
          <p:nvPr/>
        </p:nvSpPr>
        <p:spPr>
          <a:xfrm>
            <a:off x="9756648" y="385876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1" name="Text 69"/>
          <p:cNvSpPr/>
          <p:nvPr/>
        </p:nvSpPr>
        <p:spPr>
          <a:xfrm>
            <a:off x="7211568" y="411022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72" name="Text 70"/>
          <p:cNvSpPr/>
          <p:nvPr/>
        </p:nvSpPr>
        <p:spPr>
          <a:xfrm>
            <a:off x="7211568" y="428853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3" name="Text 71"/>
          <p:cNvSpPr/>
          <p:nvPr/>
        </p:nvSpPr>
        <p:spPr>
          <a:xfrm>
            <a:off x="7613904" y="428853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4" name="Text 72"/>
          <p:cNvSpPr/>
          <p:nvPr/>
        </p:nvSpPr>
        <p:spPr>
          <a:xfrm>
            <a:off x="9756648" y="428853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33</a:t>
            </a:r>
            <a:endParaRPr lang="en-US" sz="850" dirty="0"/>
          </a:p>
        </p:txBody>
      </p:sp>
      <p:sp>
        <p:nvSpPr>
          <p:cNvPr id="75" name="Text 7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6" name="Text 7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4 screens  ·  C1 · C2 · C3 · C4</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 summary</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Cereals and fodder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Open field crops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C4</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Land that can be farmed, in three states: under cultivation, resting less than a year and waiting for a crop, and resting more than a year and not being used. Six quarters, stacked, with the year-on-year movement beside it. (Module 1: fallow land detection.)</a:t>
            </a:r>
            <a:endParaRPr lang="en-US" sz="1050" dirty="0"/>
          </a:p>
        </p:txBody>
      </p:sp>
      <p:pic>
        <p:nvPicPr>
          <p:cNvPr id="5" name="Image 0" descr="/home/user/adafsa-mockup/.deck-work/C4.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4-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count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the total, date palms, fruit trees, forest trees, and how many palm varieties were found. The map counts farms until you zoom into one, and then draws every tree in the colour of its variety. (Module 2: tree location,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ZOOMED IN</a:t>
            </a:r>
            <a:endParaRPr lang="en-US" sz="800" dirty="0"/>
          </a:p>
        </p:txBody>
      </p:sp>
      <p:pic>
        <p:nvPicPr>
          <p:cNvPr id="7" name="Image 1" descr="/home/user/adafsa-mockup/.deck-work/T1-inset.jpg">    </p:cNvPr>
          <p:cNvPicPr>
            <a:picLocks noChangeAspect="1"/>
          </p:cNvPicPr>
          <p:nvPr/>
        </p:nvPicPr>
        <p:blipFill>
          <a:blip r:embed="rId2"/>
          <a:stretch>
            <a:fillRect/>
          </a:stretch>
        </p:blipFill>
        <p:spPr>
          <a:xfrm>
            <a:off x="7758044" y="208876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Canopy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canopy health index, read from the satellite and scored for each farm: the average for palms, the average for fruit trees, farms with stressed trees, and farms in the lowest band. Zoom in and the map reads the index closer in.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Trees year by year over three years, following whichever group is selected. Beside it, the three varieties that grew most and the three that shrank most in the last twelve months. The table lists varieties, not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the land is used: land mapped, open farmland, buildings and greenhouses, fallow land and bare ground.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built on the farms: structures found, farms with structures, area covered, and the main classes. Houses, sheds, water tanks, pens, roads, pump rooms.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Buildings that are new and buildings that are gone: net change, new structures, structures removed, and the change in area covered. It needs two quarters of data first.</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water score from 0 to 100 for every farm: farms scored, the average, how many keep their subsidy at 65 or more, how many need attention, and how many are in the lowest band.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Are the scores moving? The average score now, the change since last quarter or last year, how many farms got worse and how many improved. A line, and no map.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this month: how much each farm is allowed, how much it used, how many farms use too much, and how much extra they used.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over a whole season: the total water needed, the harvest expected from it, the water for one kilo of food, and the area planted.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the harvest should be: expected tonnes, crops planted, how many farms are below the average for their crop, and how many are far below it.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25%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When each crop is in the ground: crops selected, the busiest month, the quietest month, and how many farms are planting at the busiest time.</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80%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how many, their total area, how many need attention, and how many use too much water. Search by number or owner, sort any column, open one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the owner, the province, land in production, the tree count, and how many things need attention. Below that: crops, trees, water score and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wrong on this farm and what to do: things to look at, and alerts that would go to the farmer. Each one is written as an action, not as a number to work out. Print it and take it to the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2026-09-08T10:23:08Z</dcterms:created>
  <dcterms:modified xsi:type="dcterms:W3CDTF">2026-09-08T10:23:08Z</dcterms:modified>
</cp:coreProperties>
</file>