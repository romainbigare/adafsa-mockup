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is growing from a handful of map layers to six analysis modules. Before building them in, I looked at how the current app is used, and what the layout should become. This is that walk-through. Everything shown is a working mockup.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menu tells you what a product thinks it is for. Read it top to bottom. Farms and Farm Monitoring sound alike, and neither says what question it answers. Then seven entries of support and settings. And the six analyses we are contracted to deliver are not here at all — the layout has no place for them. A small aside: these items are not even links, so nothing in this app can be bookmarked or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director's question on a Tuesday morning is simple: is anything wrong. Look for the answer. The counters count farms and hectares. The switches ask what you would like displayed. The tables total up categories, so no farm is named and nothing is ranked. The answer is not on this screen. The user has to assemble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 three habits. A director glances in the morning and wants one thing: is anything wrong. An operator wants a list: which farms, worst first. An inspector wants everything about one farm. Same tool, three depths. The redesign takes each one seriously and gives it its own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starts with the menu. Overview is the morning glance. The six modules are the questions, listed by name; each becomes a page, not a switch. Farm Analysis is the deep dive on one farm. The menu is the idea, and it lists exactly what the client is buying. Every level has its own address, so any view can be linked in a report or an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depth gets one page, and the three share one shape: the answer at the top or the side, the map in the middle, the detail below. Learn one and the other two feel familiar. Let us look at each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morning page. The region's numbers and the band breakdown sit in one panel. The map has a single fixed lens, overall health, so nobody chooses a layer to see trouble. Six verdict cards answer for each module with a plain word. And a filter waits under the legend: tick a crop or a tree, and the map, the panel and the cards all narrow to those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page, built. When everything is fine it stays quiet — which is what makes the red days legible.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page has the same shape. The numbers on top, one legend, the map coloured by that question, the ranked list at the bottom with an export. The full crop and tree taxonomy is here as a filter: tick date palms, and the map, the counts and the ranking all narrow to farms growing date palms. Each module filters by the taxonomy it is about. The filter drives everything at once, so the numbers and the map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Irrigation efficiency, in the product. The ranked list is a civil servant's Monday morning. The other five modules are this same page with different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farm. The map zooms to it and highlights it. The panel gives the system's conclusion in a sentence, then each module's reading for this farm. And it ends in an action: export the farm, or open the full analysis, which keeps the depth the old monitoring page offered — one level down,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farm dossier, built. The back button walks the same path in reverse. Three questions, three depths, one step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1A"/>
        </a:solidFill>
      </p:bgPr>
    </p:bg>
    <p:spTree>
      <p:nvGrpSpPr>
        <p:cNvPr id="1" name=""/>
        <p:cNvGrpSpPr/>
        <p:nvPr/>
      </p:nvGrpSpPr>
      <p:grpSpPr>
        <a:xfrm>
          <a:off x="0" y="0"/>
          <a:ext cx="0" cy="0"/>
          <a:chOff x="0" y="0"/>
          <a:chExt cx="0" cy="0"/>
        </a:xfrm>
      </p:grpSpPr>
      <p:pic>
        <p:nvPicPr>
          <p:cNvPr id="2" name="Image 0" descr="/home/user/adafsa-mockup/presentation/assets/new/alt1-situation.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12">
              <a:alpha val="84000"/>
            </a:srgbClr>
          </a:solidFill>
          <a:ln/>
        </p:spPr>
      </p:sp>
      <p:sp>
        <p:nvSpPr>
          <p:cNvPr id="4" name="Text 1"/>
          <p:cNvSpPr/>
          <p:nvPr/>
        </p:nvSpPr>
        <p:spPr>
          <a:xfrm>
            <a:off x="822960" y="2514600"/>
            <a:ext cx="111556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Farm dashboard redesign</a:t>
            </a:r>
            <a:endParaRPr lang="en-US" sz="4000" dirty="0"/>
          </a:p>
        </p:txBody>
      </p:sp>
      <p:sp>
        <p:nvSpPr>
          <p:cNvPr id="5" name="Text 2"/>
          <p:cNvSpPr/>
          <p:nvPr/>
        </p:nvSpPr>
        <p:spPr>
          <a:xfrm>
            <a:off x="822960" y="3429000"/>
            <a:ext cx="10058400" cy="457200"/>
          </a:xfrm>
          <a:prstGeom prst="rect">
            <a:avLst/>
          </a:prstGeom>
          <a:noFill/>
          <a:ln/>
        </p:spPr>
        <p:txBody>
          <a:bodyPr wrap="square" lIns="0" tIns="0" rIns="0" bIns="0" rtlCol="0" anchor="ctr"/>
          <a:lstStyle/>
          <a:p>
            <a:pPr indent="0" marL="0">
              <a:buNone/>
            </a:pPr>
            <a:r>
              <a:rPr lang="en-US" sz="1900" dirty="0">
                <a:solidFill>
                  <a:srgbClr val="DCE9DF"/>
                </a:solidFill>
                <a:latin typeface="Calibri" pitchFamily="34" charset="0"/>
                <a:ea typeface="Calibri" pitchFamily="34" charset="-122"/>
                <a:cs typeface="Calibri" pitchFamily="34" charset="-120"/>
              </a:rPr>
              <a:t>Preparing the platform for six analysis modules.</a:t>
            </a:r>
            <a:endParaRPr lang="en-US" sz="1900" dirty="0"/>
          </a:p>
        </p:txBody>
      </p:sp>
      <p:sp>
        <p:nvSpPr>
          <p:cNvPr id="6" name="Text 3"/>
          <p:cNvSpPr/>
          <p:nvPr/>
        </p:nvSpPr>
        <p:spPr>
          <a:xfrm>
            <a:off x="822960" y="6126480"/>
            <a:ext cx="4572000" cy="320040"/>
          </a:xfrm>
          <a:prstGeom prst="rect">
            <a:avLst/>
          </a:prstGeom>
          <a:noFill/>
          <a:ln/>
        </p:spPr>
        <p:txBody>
          <a:bodyPr wrap="square" lIns="0" tIns="0" rIns="0" bIns="0" rtlCol="0" anchor="ctr"/>
          <a:lstStyle/>
          <a:p>
            <a:pPr indent="0" marL="0">
              <a:buNone/>
            </a:pPr>
            <a:r>
              <a:rPr lang="en-US" sz="1200" dirty="0">
                <a:solidFill>
                  <a:srgbClr val="A9C4B0"/>
                </a:solidFill>
                <a:latin typeface="Calibri" pitchFamily="34" charset="0"/>
                <a:ea typeface="Calibri" pitchFamily="34" charset="-122"/>
                <a:cs typeface="Calibri" pitchFamily="34" charset="-120"/>
              </a:rPr>
              <a:t>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Start with the menu</a:t>
            </a:r>
            <a:endParaRPr lang="en-US" sz="2400" dirty="0"/>
          </a:p>
        </p:txBody>
      </p:sp>
      <p:pic>
        <p:nvPicPr>
          <p:cNvPr id="3" name="Image 0" descr="/home/user/adafsa-mockup/presentation/assets/current/current-app-nav-focus.jpg">    </p:cNvPr>
          <p:cNvPicPr>
            <a:picLocks noChangeAspect="1"/>
          </p:cNvPicPr>
          <p:nvPr/>
        </p:nvPicPr>
        <p:blipFill>
          <a:blip r:embed="rId1"/>
          <a:stretch>
            <a:fillRect/>
          </a:stretch>
        </p:blipFill>
        <p:spPr>
          <a:xfrm>
            <a:off x="1142326" y="1051560"/>
            <a:ext cx="9968309" cy="5532120"/>
          </a:xfrm>
          <a:prstGeom prst="rect">
            <a:avLst/>
          </a:prstGeom>
        </p:spPr>
      </p:pic>
      <p:sp>
        <p:nvSpPr>
          <p:cNvPr id="4" name="Shape 1"/>
          <p:cNvSpPr/>
          <p:nvPr/>
        </p:nvSpPr>
        <p:spPr>
          <a:xfrm flipH="1">
            <a:off x="1690583" y="1988820"/>
            <a:ext cx="1601257" cy="113843"/>
          </a:xfrm>
          <a:prstGeom prst="line">
            <a:avLst/>
          </a:prstGeom>
          <a:noFill/>
          <a:ln w="12700">
            <a:solidFill>
              <a:srgbClr val="AEB4BC"/>
            </a:solidFill>
            <a:prstDash val="solid"/>
          </a:ln>
        </p:spPr>
      </p:sp>
      <p:sp>
        <p:nvSpPr>
          <p:cNvPr id="5" name="Shape 2"/>
          <p:cNvSpPr/>
          <p:nvPr/>
        </p:nvSpPr>
        <p:spPr>
          <a:xfrm>
            <a:off x="1626575" y="2038655"/>
            <a:ext cx="128016" cy="128016"/>
          </a:xfrm>
          <a:prstGeom prst="ellipse">
            <a:avLst/>
          </a:prstGeom>
          <a:solidFill>
            <a:srgbClr val="166534"/>
          </a:solidFill>
          <a:ln/>
        </p:spPr>
      </p:sp>
      <p:sp>
        <p:nvSpPr>
          <p:cNvPr id="6" name="Shape 3"/>
          <p:cNvSpPr/>
          <p:nvPr/>
        </p:nvSpPr>
        <p:spPr>
          <a:xfrm>
            <a:off x="1664979" y="2077060"/>
            <a:ext cx="51206" cy="51206"/>
          </a:xfrm>
          <a:prstGeom prst="ellipse">
            <a:avLst/>
          </a:prstGeom>
          <a:solidFill>
            <a:srgbClr val="FFFFFF"/>
          </a:solidFill>
          <a:ln/>
        </p:spPr>
      </p:sp>
      <p:sp>
        <p:nvSpPr>
          <p:cNvPr id="7" name="Text 4"/>
          <p:cNvSpPr/>
          <p:nvPr/>
        </p:nvSpPr>
        <p:spPr>
          <a:xfrm>
            <a:off x="3291840" y="1554480"/>
            <a:ext cx="3291840" cy="868680"/>
          </a:xfrm>
          <a:prstGeom prst="roundRect">
            <a:avLst>
              <a:gd name="adj" fmla="val 9474"/>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Farms, Farm Monitoring, Violations. The names don't say which one answers a question.</a:t>
            </a:r>
            <a:endParaRPr lang="en-US" sz="1200" dirty="0"/>
          </a:p>
        </p:txBody>
      </p:sp>
      <p:sp>
        <p:nvSpPr>
          <p:cNvPr id="8" name="Shape 5"/>
          <p:cNvSpPr/>
          <p:nvPr/>
        </p:nvSpPr>
        <p:spPr>
          <a:xfrm flipH="1" flipV="1">
            <a:off x="1590899" y="3319729"/>
            <a:ext cx="1700941" cy="223571"/>
          </a:xfrm>
          <a:prstGeom prst="line">
            <a:avLst/>
          </a:prstGeom>
          <a:noFill/>
          <a:ln w="12700">
            <a:solidFill>
              <a:srgbClr val="AEB4BC"/>
            </a:solidFill>
            <a:prstDash val="solid"/>
          </a:ln>
        </p:spPr>
      </p:sp>
      <p:sp>
        <p:nvSpPr>
          <p:cNvPr id="9" name="Shape 6"/>
          <p:cNvSpPr/>
          <p:nvPr/>
        </p:nvSpPr>
        <p:spPr>
          <a:xfrm>
            <a:off x="1526891" y="3255721"/>
            <a:ext cx="128016" cy="128016"/>
          </a:xfrm>
          <a:prstGeom prst="ellipse">
            <a:avLst/>
          </a:prstGeom>
          <a:solidFill>
            <a:srgbClr val="166534"/>
          </a:solidFill>
          <a:ln/>
        </p:spPr>
      </p:sp>
      <p:sp>
        <p:nvSpPr>
          <p:cNvPr id="10" name="Shape 7"/>
          <p:cNvSpPr/>
          <p:nvPr/>
        </p:nvSpPr>
        <p:spPr>
          <a:xfrm>
            <a:off x="1565296" y="3294126"/>
            <a:ext cx="51206" cy="51206"/>
          </a:xfrm>
          <a:prstGeom prst="ellipse">
            <a:avLst/>
          </a:prstGeom>
          <a:solidFill>
            <a:srgbClr val="FFFFFF"/>
          </a:solidFill>
          <a:ln/>
        </p:spPr>
      </p:sp>
      <p:sp>
        <p:nvSpPr>
          <p:cNvPr id="11" name="Text 8"/>
          <p:cNvSpPr/>
          <p:nvPr/>
        </p:nvSpPr>
        <p:spPr>
          <a:xfrm>
            <a:off x="3291840" y="3108960"/>
            <a:ext cx="3291840" cy="868680"/>
          </a:xfrm>
          <a:prstGeom prst="roundRect">
            <a:avLst>
              <a:gd name="adj" fmla="val 9474"/>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Seven of the ten entries are support and settings. Half the menu is about the tool, not the farms.</a:t>
            </a:r>
            <a:endParaRPr lang="en-US" sz="1200" dirty="0"/>
          </a:p>
        </p:txBody>
      </p:sp>
      <p:sp>
        <p:nvSpPr>
          <p:cNvPr id="12" name="Shape 9"/>
          <p:cNvSpPr/>
          <p:nvPr/>
        </p:nvSpPr>
        <p:spPr>
          <a:xfrm flipH="1">
            <a:off x="1740424" y="5234940"/>
            <a:ext cx="1551416" cy="131674"/>
          </a:xfrm>
          <a:prstGeom prst="line">
            <a:avLst/>
          </a:prstGeom>
          <a:noFill/>
          <a:ln w="12700">
            <a:solidFill>
              <a:srgbClr val="AEB4BC"/>
            </a:solidFill>
            <a:prstDash val="solid"/>
          </a:ln>
        </p:spPr>
      </p:sp>
      <p:sp>
        <p:nvSpPr>
          <p:cNvPr id="13" name="Shape 10"/>
          <p:cNvSpPr/>
          <p:nvPr/>
        </p:nvSpPr>
        <p:spPr>
          <a:xfrm>
            <a:off x="1676416" y="5302606"/>
            <a:ext cx="128016" cy="128016"/>
          </a:xfrm>
          <a:prstGeom prst="ellipse">
            <a:avLst/>
          </a:prstGeom>
          <a:solidFill>
            <a:srgbClr val="166534"/>
          </a:solidFill>
          <a:ln/>
        </p:spPr>
      </p:sp>
      <p:sp>
        <p:nvSpPr>
          <p:cNvPr id="14" name="Shape 11"/>
          <p:cNvSpPr/>
          <p:nvPr/>
        </p:nvSpPr>
        <p:spPr>
          <a:xfrm>
            <a:off x="1714821" y="5341010"/>
            <a:ext cx="51206" cy="51206"/>
          </a:xfrm>
          <a:prstGeom prst="ellipse">
            <a:avLst/>
          </a:prstGeom>
          <a:solidFill>
            <a:srgbClr val="FFFFFF"/>
          </a:solidFill>
          <a:ln/>
        </p:spPr>
      </p:sp>
      <p:sp>
        <p:nvSpPr>
          <p:cNvPr id="15" name="Text 12"/>
          <p:cNvSpPr/>
          <p:nvPr/>
        </p:nvSpPr>
        <p:spPr>
          <a:xfrm>
            <a:off x="3291840" y="4892040"/>
            <a:ext cx="3291840" cy="685800"/>
          </a:xfrm>
          <a:prstGeom prst="roundRect">
            <a:avLst>
              <a:gd name="adj" fmla="val 12000"/>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The six analyses the client is buying appear nowhere 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Can it tell us whether anything is wrong?</a:t>
            </a:r>
            <a:endParaRPr lang="en-US" sz="2400" dirty="0"/>
          </a:p>
        </p:txBody>
      </p:sp>
      <p:pic>
        <p:nvPicPr>
          <p:cNvPr id="3" name="Image 0" descr="/home/user/adafsa-mockup/presentation/assets/current/current-app-overview.jpg">    </p:cNvPr>
          <p:cNvPicPr>
            <a:picLocks noChangeAspect="1"/>
          </p:cNvPicPr>
          <p:nvPr/>
        </p:nvPicPr>
        <p:blipFill>
          <a:blip r:embed="rId1"/>
          <a:stretch>
            <a:fillRect/>
          </a:stretch>
        </p:blipFill>
        <p:spPr>
          <a:xfrm>
            <a:off x="2926080" y="1460420"/>
            <a:ext cx="8412480" cy="4668680"/>
          </a:xfrm>
          <a:prstGeom prst="rect">
            <a:avLst/>
          </a:prstGeom>
        </p:spPr>
      </p:pic>
      <p:sp>
        <p:nvSpPr>
          <p:cNvPr id="4" name="Shape 1"/>
          <p:cNvSpPr/>
          <p:nvPr/>
        </p:nvSpPr>
        <p:spPr>
          <a:xfrm>
            <a:off x="2606040" y="2148840"/>
            <a:ext cx="2111898" cy="245316"/>
          </a:xfrm>
          <a:prstGeom prst="line">
            <a:avLst/>
          </a:prstGeom>
          <a:noFill/>
          <a:ln w="12700">
            <a:solidFill>
              <a:srgbClr val="AEB4BC"/>
            </a:solidFill>
            <a:prstDash val="solid"/>
          </a:ln>
        </p:spPr>
      </p:sp>
      <p:sp>
        <p:nvSpPr>
          <p:cNvPr id="5" name="Shape 2"/>
          <p:cNvSpPr/>
          <p:nvPr/>
        </p:nvSpPr>
        <p:spPr>
          <a:xfrm>
            <a:off x="4653930" y="2330148"/>
            <a:ext cx="128016" cy="128016"/>
          </a:xfrm>
          <a:prstGeom prst="ellipse">
            <a:avLst/>
          </a:prstGeom>
          <a:solidFill>
            <a:srgbClr val="166534"/>
          </a:solidFill>
          <a:ln/>
        </p:spPr>
      </p:sp>
      <p:sp>
        <p:nvSpPr>
          <p:cNvPr id="6" name="Shape 3"/>
          <p:cNvSpPr/>
          <p:nvPr/>
        </p:nvSpPr>
        <p:spPr>
          <a:xfrm>
            <a:off x="4692335" y="2368553"/>
            <a:ext cx="51206" cy="51206"/>
          </a:xfrm>
          <a:prstGeom prst="ellipse">
            <a:avLst/>
          </a:prstGeom>
          <a:solidFill>
            <a:srgbClr val="FFFFFF"/>
          </a:solidFill>
          <a:ln/>
        </p:spPr>
      </p:sp>
      <p:sp>
        <p:nvSpPr>
          <p:cNvPr id="7" name="Text 4"/>
          <p:cNvSpPr/>
          <p:nvPr/>
        </p:nvSpPr>
        <p:spPr>
          <a:xfrm>
            <a:off x="411480" y="1783080"/>
            <a:ext cx="2194560" cy="731520"/>
          </a:xfrm>
          <a:prstGeom prst="roundRect">
            <a:avLst>
              <a:gd name="adj" fmla="val 11250"/>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Six switches. You have to know what to ask for.</a:t>
            </a:r>
            <a:endParaRPr lang="en-US" sz="1200" dirty="0"/>
          </a:p>
        </p:txBody>
      </p:sp>
      <p:sp>
        <p:nvSpPr>
          <p:cNvPr id="8" name="Shape 5"/>
          <p:cNvSpPr/>
          <p:nvPr/>
        </p:nvSpPr>
        <p:spPr>
          <a:xfrm>
            <a:off x="2606040" y="3703320"/>
            <a:ext cx="2759659" cy="371561"/>
          </a:xfrm>
          <a:prstGeom prst="line">
            <a:avLst/>
          </a:prstGeom>
          <a:noFill/>
          <a:ln w="12700">
            <a:solidFill>
              <a:srgbClr val="AEB4BC"/>
            </a:solidFill>
            <a:prstDash val="solid"/>
          </a:ln>
        </p:spPr>
      </p:sp>
      <p:sp>
        <p:nvSpPr>
          <p:cNvPr id="9" name="Shape 6"/>
          <p:cNvSpPr/>
          <p:nvPr/>
        </p:nvSpPr>
        <p:spPr>
          <a:xfrm>
            <a:off x="5301691" y="4010873"/>
            <a:ext cx="128016" cy="128016"/>
          </a:xfrm>
          <a:prstGeom prst="ellipse">
            <a:avLst/>
          </a:prstGeom>
          <a:solidFill>
            <a:srgbClr val="166534"/>
          </a:solidFill>
          <a:ln/>
        </p:spPr>
      </p:sp>
      <p:sp>
        <p:nvSpPr>
          <p:cNvPr id="10" name="Shape 7"/>
          <p:cNvSpPr/>
          <p:nvPr/>
        </p:nvSpPr>
        <p:spPr>
          <a:xfrm>
            <a:off x="5340096" y="4049278"/>
            <a:ext cx="51206" cy="51206"/>
          </a:xfrm>
          <a:prstGeom prst="ellipse">
            <a:avLst/>
          </a:prstGeom>
          <a:solidFill>
            <a:srgbClr val="FFFFFF"/>
          </a:solidFill>
          <a:ln/>
        </p:spPr>
      </p:sp>
      <p:sp>
        <p:nvSpPr>
          <p:cNvPr id="11" name="Text 8"/>
          <p:cNvSpPr/>
          <p:nvPr/>
        </p:nvSpPr>
        <p:spPr>
          <a:xfrm>
            <a:off x="411480" y="3246120"/>
            <a:ext cx="2194560" cy="914400"/>
          </a:xfrm>
          <a:prstGeom prst="roundRect">
            <a:avLst>
              <a:gd name="adj" fmla="val 9000"/>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Three counters count the inventory. They never say whether things are fine.</a:t>
            </a:r>
            <a:endParaRPr lang="en-US" sz="1200" dirty="0"/>
          </a:p>
        </p:txBody>
      </p:sp>
      <p:sp>
        <p:nvSpPr>
          <p:cNvPr id="12" name="Shape 9"/>
          <p:cNvSpPr/>
          <p:nvPr/>
        </p:nvSpPr>
        <p:spPr>
          <a:xfrm flipH="1" flipV="1">
            <a:off x="5029200" y="5242051"/>
            <a:ext cx="1188720" cy="1113029"/>
          </a:xfrm>
          <a:prstGeom prst="line">
            <a:avLst/>
          </a:prstGeom>
          <a:noFill/>
          <a:ln w="12700">
            <a:solidFill>
              <a:srgbClr val="AEB4BC"/>
            </a:solidFill>
            <a:prstDash val="solid"/>
          </a:ln>
        </p:spPr>
      </p:sp>
      <p:sp>
        <p:nvSpPr>
          <p:cNvPr id="13" name="Shape 10"/>
          <p:cNvSpPr/>
          <p:nvPr/>
        </p:nvSpPr>
        <p:spPr>
          <a:xfrm>
            <a:off x="4965192" y="5178043"/>
            <a:ext cx="128016" cy="128016"/>
          </a:xfrm>
          <a:prstGeom prst="ellipse">
            <a:avLst/>
          </a:prstGeom>
          <a:solidFill>
            <a:srgbClr val="166534"/>
          </a:solidFill>
          <a:ln/>
        </p:spPr>
      </p:sp>
      <p:sp>
        <p:nvSpPr>
          <p:cNvPr id="14" name="Shape 11"/>
          <p:cNvSpPr/>
          <p:nvPr/>
        </p:nvSpPr>
        <p:spPr>
          <a:xfrm>
            <a:off x="5003597" y="5216448"/>
            <a:ext cx="51206" cy="51206"/>
          </a:xfrm>
          <a:prstGeom prst="ellipse">
            <a:avLst/>
          </a:prstGeom>
          <a:solidFill>
            <a:srgbClr val="FFFFFF"/>
          </a:solidFill>
          <a:ln/>
        </p:spPr>
      </p:sp>
      <p:sp>
        <p:nvSpPr>
          <p:cNvPr id="15" name="Text 12"/>
          <p:cNvSpPr/>
          <p:nvPr/>
        </p:nvSpPr>
        <p:spPr>
          <a:xfrm>
            <a:off x="4114800" y="6355080"/>
            <a:ext cx="4206240" cy="502920"/>
          </a:xfrm>
          <a:prstGeom prst="roundRect">
            <a:avLst>
              <a:gd name="adj" fmla="val 16364"/>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ctr" indent="0" marL="0">
              <a:lnSpc>
                <a:spcPct val="104000"/>
              </a:lnSpc>
              <a:buNone/>
            </a:pPr>
            <a:r>
              <a:rPr lang="en-US" sz="1200" dirty="0">
                <a:solidFill>
                  <a:srgbClr val="1F2937"/>
                </a:solidFill>
                <a:latin typeface="Calibri" pitchFamily="34" charset="0"/>
                <a:ea typeface="Calibri" pitchFamily="34" charset="-122"/>
                <a:cs typeface="Calibri" pitchFamily="34" charset="-120"/>
              </a:rPr>
              <a:t>Totals by category. No farm is named, nothing is ranked.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The user's journey</a:t>
            </a:r>
            <a:endParaRPr lang="en-US" sz="2400" dirty="0"/>
          </a:p>
        </p:txBody>
      </p:sp>
      <p:pic>
        <p:nvPicPr>
          <p:cNvPr id="3" name="Image 0" descr="/home/user/adafsa-mockup/presentation/assets/diagrams/journeys-depth.png">    </p:cNvPr>
          <p:cNvPicPr>
            <a:picLocks noChangeAspect="1"/>
          </p:cNvPicPr>
          <p:nvPr/>
        </p:nvPicPr>
        <p:blipFill>
          <a:blip r:embed="rId1"/>
          <a:stretch>
            <a:fillRect/>
          </a:stretch>
        </p:blipFill>
        <p:spPr>
          <a:xfrm>
            <a:off x="1136396" y="960120"/>
            <a:ext cx="9916160" cy="5577840"/>
          </a:xfrm>
          <a:prstGeom prst="rect">
            <a:avLst/>
          </a:prstGeom>
        </p:spPr>
      </p:pic>
      <p:sp>
        <p:nvSpPr>
          <p:cNvPr id="4" name="Text 1"/>
          <p:cNvSpPr/>
          <p:nvPr/>
        </p:nvSpPr>
        <p:spPr>
          <a:xfrm>
            <a:off x="5536692" y="1821586"/>
            <a:ext cx="4754880" cy="914400"/>
          </a:xfrm>
          <a:prstGeom prst="rect">
            <a:avLst/>
          </a:prstGeom>
          <a:noFill/>
          <a:ln/>
        </p:spPr>
        <p:txBody>
          <a:bodyPr wrap="square" lIns="0" tIns="0" rIns="0" bIns="0" rtlCol="0" anchor="t"/>
          <a:lstStyle/>
          <a:p>
            <a:pPr indent="0" marL="0">
              <a:lnSpc>
                <a:spcPct val="104000"/>
              </a:lnSpc>
              <a:spcAft>
                <a:spcPts val="200"/>
              </a:spcAft>
              <a:buNone/>
            </a:pPr>
            <a:r>
              <a:rPr lang="en-US" sz="1300" b="1" dirty="0">
                <a:solidFill>
                  <a:srgbClr val="1F2937"/>
                </a:solidFill>
                <a:latin typeface="Calibri" pitchFamily="34" charset="0"/>
                <a:ea typeface="Calibri" pitchFamily="34" charset="-122"/>
                <a:cs typeface="Calibri" pitchFamily="34" charset="-120"/>
              </a:rPr>
              <a:t>Depth 1 — the situation</a:t>
            </a:r>
            <a:endParaRPr lang="en-US" sz="1300" dirty="0"/>
          </a:p>
          <a:p>
            <a:pPr indent="0" marL="0">
              <a:lnSpc>
                <a:spcPct val="104000"/>
              </a:lnSpc>
              <a:spcAft>
                <a:spcPts val="200"/>
              </a:spcAft>
              <a:buNone/>
            </a:pPr>
            <a:r>
              <a:rPr lang="en-US" sz="1150" i="1" dirty="0">
                <a:solidFill>
                  <a:srgbClr val="166534"/>
                </a:solidFill>
                <a:latin typeface="Calibri" pitchFamily="34" charset="0"/>
                <a:ea typeface="Calibri" pitchFamily="34" charset="-122"/>
                <a:cs typeface="Calibri" pitchFamily="34" charset="-120"/>
              </a:rPr>
              <a:t>“Is anything wrong today?”</a:t>
            </a:r>
            <a:endParaRPr lang="en-US" sz="1300" dirty="0"/>
          </a:p>
          <a:p>
            <a:pPr indent="0" marL="0">
              <a:lnSpc>
                <a:spcPct val="104000"/>
              </a:lnSpc>
              <a:spcAft>
                <a:spcPts val="200"/>
              </a:spcAft>
              <a:buNone/>
            </a:pPr>
            <a:r>
              <a:rPr lang="en-US" sz="1000" dirty="0">
                <a:solidFill>
                  <a:srgbClr val="6B7280"/>
                </a:solidFill>
                <a:latin typeface="Calibri" pitchFamily="34" charset="0"/>
                <a:ea typeface="Calibri" pitchFamily="34" charset="-122"/>
                <a:cs typeface="Calibri" pitchFamily="34" charset="-120"/>
              </a:rPr>
              <a:t>A quick look, first thing in the morning.</a:t>
            </a:r>
            <a:endParaRPr lang="en-US" sz="1300" dirty="0"/>
          </a:p>
        </p:txBody>
      </p:sp>
      <p:sp>
        <p:nvSpPr>
          <p:cNvPr id="5" name="Text 2"/>
          <p:cNvSpPr/>
          <p:nvPr/>
        </p:nvSpPr>
        <p:spPr>
          <a:xfrm>
            <a:off x="5536692" y="3494938"/>
            <a:ext cx="4754880" cy="914400"/>
          </a:xfrm>
          <a:prstGeom prst="rect">
            <a:avLst/>
          </a:prstGeom>
          <a:noFill/>
          <a:ln/>
        </p:spPr>
        <p:txBody>
          <a:bodyPr wrap="square" lIns="0" tIns="0" rIns="0" bIns="0" rtlCol="0" anchor="t"/>
          <a:lstStyle/>
          <a:p>
            <a:pPr indent="0" marL="0">
              <a:lnSpc>
                <a:spcPct val="104000"/>
              </a:lnSpc>
              <a:spcAft>
                <a:spcPts val="200"/>
              </a:spcAft>
              <a:buNone/>
            </a:pPr>
            <a:r>
              <a:rPr lang="en-US" sz="1300" b="1" dirty="0">
                <a:solidFill>
                  <a:srgbClr val="1F2937"/>
                </a:solidFill>
                <a:latin typeface="Calibri" pitchFamily="34" charset="0"/>
                <a:ea typeface="Calibri" pitchFamily="34" charset="-122"/>
                <a:cs typeface="Calibri" pitchFamily="34" charset="-120"/>
              </a:rPr>
              <a:t>Depth 2 — the question</a:t>
            </a:r>
            <a:endParaRPr lang="en-US" sz="1300" dirty="0"/>
          </a:p>
          <a:p>
            <a:pPr indent="0" marL="0">
              <a:lnSpc>
                <a:spcPct val="104000"/>
              </a:lnSpc>
              <a:spcAft>
                <a:spcPts val="200"/>
              </a:spcAft>
              <a:buNone/>
            </a:pPr>
            <a:r>
              <a:rPr lang="en-US" sz="1150" i="1" dirty="0">
                <a:solidFill>
                  <a:srgbClr val="166534"/>
                </a:solidFill>
                <a:latin typeface="Calibri" pitchFamily="34" charset="0"/>
                <a:ea typeface="Calibri" pitchFamily="34" charset="-122"/>
                <a:cs typeface="Calibri" pitchFamily="34" charset="-120"/>
              </a:rPr>
              <a:t>“Which farms need attention?”</a:t>
            </a:r>
            <a:endParaRPr lang="en-US" sz="1300" dirty="0"/>
          </a:p>
          <a:p>
            <a:pPr indent="0" marL="0">
              <a:lnSpc>
                <a:spcPct val="104000"/>
              </a:lnSpc>
              <a:spcAft>
                <a:spcPts val="200"/>
              </a:spcAft>
              <a:buNone/>
            </a:pPr>
            <a:r>
              <a:rPr lang="en-US" sz="1000" dirty="0">
                <a:solidFill>
                  <a:srgbClr val="6B7280"/>
                </a:solidFill>
                <a:latin typeface="Calibri" pitchFamily="34" charset="0"/>
                <a:ea typeface="Calibri" pitchFamily="34" charset="-122"/>
                <a:cs typeface="Calibri" pitchFamily="34" charset="-120"/>
              </a:rPr>
              <a:t>A ranked list to work through during the week.</a:t>
            </a:r>
            <a:endParaRPr lang="en-US" sz="1300" dirty="0"/>
          </a:p>
        </p:txBody>
      </p:sp>
      <p:sp>
        <p:nvSpPr>
          <p:cNvPr id="6" name="Text 3"/>
          <p:cNvSpPr/>
          <p:nvPr/>
        </p:nvSpPr>
        <p:spPr>
          <a:xfrm>
            <a:off x="5536692" y="5168290"/>
            <a:ext cx="4754880" cy="914400"/>
          </a:xfrm>
          <a:prstGeom prst="rect">
            <a:avLst/>
          </a:prstGeom>
          <a:noFill/>
          <a:ln/>
        </p:spPr>
        <p:txBody>
          <a:bodyPr wrap="square" lIns="0" tIns="0" rIns="0" bIns="0" rtlCol="0" anchor="t"/>
          <a:lstStyle/>
          <a:p>
            <a:pPr indent="0" marL="0">
              <a:lnSpc>
                <a:spcPct val="104000"/>
              </a:lnSpc>
              <a:spcAft>
                <a:spcPts val="200"/>
              </a:spcAft>
              <a:buNone/>
            </a:pPr>
            <a:r>
              <a:rPr lang="en-US" sz="1300" b="1" dirty="0">
                <a:solidFill>
                  <a:srgbClr val="1F2937"/>
                </a:solidFill>
                <a:latin typeface="Calibri" pitchFamily="34" charset="0"/>
                <a:ea typeface="Calibri" pitchFamily="34" charset="-122"/>
                <a:cs typeface="Calibri" pitchFamily="34" charset="-120"/>
              </a:rPr>
              <a:t>Depth 3 — the farm</a:t>
            </a:r>
            <a:endParaRPr lang="en-US" sz="1300" dirty="0"/>
          </a:p>
          <a:p>
            <a:pPr indent="0" marL="0">
              <a:lnSpc>
                <a:spcPct val="104000"/>
              </a:lnSpc>
              <a:spcAft>
                <a:spcPts val="200"/>
              </a:spcAft>
              <a:buNone/>
            </a:pPr>
            <a:r>
              <a:rPr lang="en-US" sz="1150" i="1" dirty="0">
                <a:solidFill>
                  <a:srgbClr val="166534"/>
                </a:solidFill>
                <a:latin typeface="Calibri" pitchFamily="34" charset="0"/>
                <a:ea typeface="Calibri" pitchFamily="34" charset="-122"/>
                <a:cs typeface="Calibri" pitchFamily="34" charset="-120"/>
              </a:rPr>
              <a:t>“What is happening on this farm?”</a:t>
            </a:r>
            <a:endParaRPr lang="en-US" sz="1300" dirty="0"/>
          </a:p>
          <a:p>
            <a:pPr indent="0" marL="0">
              <a:lnSpc>
                <a:spcPct val="104000"/>
              </a:lnSpc>
              <a:spcAft>
                <a:spcPts val="200"/>
              </a:spcAft>
              <a:buNone/>
            </a:pPr>
            <a:r>
              <a:rPr lang="en-US" sz="1000" dirty="0">
                <a:solidFill>
                  <a:srgbClr val="6B7280"/>
                </a:solidFill>
                <a:latin typeface="Calibri" pitchFamily="34" charset="0"/>
                <a:ea typeface="Calibri" pitchFamily="34" charset="-122"/>
                <a:cs typeface="Calibri" pitchFamily="34" charset="-120"/>
              </a:rPr>
              <a:t>The full picture, before a visit or a call.</a:t>
            </a:r>
            <a:endParaRPr lang="en-US" sz="1300" dirty="0"/>
          </a:p>
        </p:txBody>
      </p:sp>
      <p:sp>
        <p:nvSpPr>
          <p:cNvPr id="7" name="Text 4"/>
          <p:cNvSpPr/>
          <p:nvPr/>
        </p:nvSpPr>
        <p:spPr>
          <a:xfrm>
            <a:off x="5276393" y="2856586"/>
            <a:ext cx="1554480" cy="274320"/>
          </a:xfrm>
          <a:prstGeom prst="rect">
            <a:avLst/>
          </a:prstGeom>
          <a:noFill/>
          <a:ln/>
        </p:spPr>
        <p:txBody>
          <a:bodyPr wrap="square" lIns="0" tIns="0" rIns="0" bIns="0" rtlCol="0" anchor="t"/>
          <a:lstStyle/>
          <a:p>
            <a:pPr indent="0" marL="0">
              <a:buNone/>
            </a:pPr>
            <a:r>
              <a:rPr lang="en-US" sz="900" dirty="0">
                <a:solidFill>
                  <a:srgbClr val="6B7280"/>
                </a:solidFill>
                <a:latin typeface="Calibri" pitchFamily="34" charset="0"/>
                <a:ea typeface="Calibri" pitchFamily="34" charset="-122"/>
                <a:cs typeface="Calibri" pitchFamily="34" charset="-120"/>
              </a:rPr>
              <a:t>one level deeper</a:t>
            </a:r>
            <a:endParaRPr lang="en-US" sz="900" dirty="0"/>
          </a:p>
        </p:txBody>
      </p:sp>
      <p:sp>
        <p:nvSpPr>
          <p:cNvPr id="8" name="Text 5"/>
          <p:cNvSpPr/>
          <p:nvPr/>
        </p:nvSpPr>
        <p:spPr>
          <a:xfrm>
            <a:off x="5276393" y="4529938"/>
            <a:ext cx="1554480" cy="274320"/>
          </a:xfrm>
          <a:prstGeom prst="rect">
            <a:avLst/>
          </a:prstGeom>
          <a:noFill/>
          <a:ln/>
        </p:spPr>
        <p:txBody>
          <a:bodyPr wrap="square" lIns="0" tIns="0" rIns="0" bIns="0" rtlCol="0" anchor="t"/>
          <a:lstStyle/>
          <a:p>
            <a:pPr indent="0" marL="0">
              <a:buNone/>
            </a:pPr>
            <a:r>
              <a:rPr lang="en-US" sz="900" dirty="0">
                <a:solidFill>
                  <a:srgbClr val="6B7280"/>
                </a:solidFill>
                <a:latin typeface="Calibri" pitchFamily="34" charset="0"/>
                <a:ea typeface="Calibri" pitchFamily="34" charset="-122"/>
                <a:cs typeface="Calibri" pitchFamily="34" charset="-120"/>
              </a:rPr>
              <a:t>one level deeper</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Proposed navigation</a:t>
            </a:r>
            <a:endParaRPr lang="en-US" sz="2400" dirty="0"/>
          </a:p>
        </p:txBody>
      </p:sp>
      <p:pic>
        <p:nvPicPr>
          <p:cNvPr id="3" name="Image 0" descr="/home/user/adafsa-mockup/presentation/assets/diagrams/wireframe-nav.png">    </p:cNvPr>
          <p:cNvPicPr>
            <a:picLocks noChangeAspect="1"/>
          </p:cNvPicPr>
          <p:nvPr/>
        </p:nvPicPr>
        <p:blipFill>
          <a:blip r:embed="rId1"/>
          <a:stretch>
            <a:fillRect/>
          </a:stretch>
        </p:blipFill>
        <p:spPr>
          <a:xfrm>
            <a:off x="1177036" y="1005840"/>
            <a:ext cx="9834880" cy="55321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Three pages, three depths</a:t>
            </a:r>
            <a:endParaRPr lang="en-US" sz="2400" dirty="0"/>
          </a:p>
        </p:txBody>
      </p:sp>
      <p:pic>
        <p:nvPicPr>
          <p:cNvPr id="3" name="Image 0" descr="/home/user/adafsa-mockup/presentation/assets/diagrams/wireframe-three-pages.png">    </p:cNvPr>
          <p:cNvPicPr>
            <a:picLocks noChangeAspect="1"/>
          </p:cNvPicPr>
          <p:nvPr/>
        </p:nvPicPr>
        <p:blipFill>
          <a:blip r:embed="rId1"/>
          <a:stretch>
            <a:fillRect/>
          </a:stretch>
        </p:blipFill>
        <p:spPr>
          <a:xfrm>
            <a:off x="1177036" y="1005840"/>
            <a:ext cx="9834880" cy="55321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Depth 1 · The situation at a glance</a:t>
            </a:r>
            <a:endParaRPr lang="en-US" sz="2400" dirty="0"/>
          </a:p>
        </p:txBody>
      </p:sp>
      <p:pic>
        <p:nvPicPr>
          <p:cNvPr id="3" name="Image 0" descr="/home/user/adafsa-mockup/presentation/assets/diagrams/wireframe-overview.png">    </p:cNvPr>
          <p:cNvPicPr>
            <a:picLocks noChangeAspect="1"/>
          </p:cNvPicPr>
          <p:nvPr/>
        </p:nvPicPr>
        <p:blipFill>
          <a:blip r:embed="rId1"/>
          <a:stretch>
            <a:fillRect/>
          </a:stretch>
        </p:blipFill>
        <p:spPr>
          <a:xfrm>
            <a:off x="1177036" y="1005840"/>
            <a:ext cx="9834880" cy="5532120"/>
          </a:xfrm>
          <a:prstGeom prst="rect">
            <a:avLst/>
          </a:prstGeom>
        </p:spPr>
      </p:pic>
      <p:sp>
        <p:nvSpPr>
          <p:cNvPr id="4" name="Shape 1"/>
          <p:cNvSpPr/>
          <p:nvPr/>
        </p:nvSpPr>
        <p:spPr>
          <a:xfrm flipH="1">
            <a:off x="3672637" y="2164131"/>
            <a:ext cx="3651199" cy="255473"/>
          </a:xfrm>
          <a:prstGeom prst="line">
            <a:avLst/>
          </a:prstGeom>
          <a:noFill/>
          <a:ln w="12700">
            <a:solidFill>
              <a:srgbClr val="AEB4BC"/>
            </a:solidFill>
            <a:prstDash val="solid"/>
          </a:ln>
        </p:spPr>
      </p:sp>
      <p:sp>
        <p:nvSpPr>
          <p:cNvPr id="5" name="Shape 2"/>
          <p:cNvSpPr/>
          <p:nvPr/>
        </p:nvSpPr>
        <p:spPr>
          <a:xfrm>
            <a:off x="3608629" y="2355596"/>
            <a:ext cx="128016" cy="128016"/>
          </a:xfrm>
          <a:prstGeom prst="ellipse">
            <a:avLst/>
          </a:prstGeom>
          <a:solidFill>
            <a:srgbClr val="166534"/>
          </a:solidFill>
          <a:ln/>
        </p:spPr>
      </p:sp>
      <p:sp>
        <p:nvSpPr>
          <p:cNvPr id="6" name="Shape 3"/>
          <p:cNvSpPr/>
          <p:nvPr/>
        </p:nvSpPr>
        <p:spPr>
          <a:xfrm>
            <a:off x="3647034" y="2394001"/>
            <a:ext cx="51206" cy="51206"/>
          </a:xfrm>
          <a:prstGeom prst="ellipse">
            <a:avLst/>
          </a:prstGeom>
          <a:solidFill>
            <a:srgbClr val="FFFFFF"/>
          </a:solidFill>
          <a:ln/>
        </p:spPr>
      </p:sp>
      <p:sp>
        <p:nvSpPr>
          <p:cNvPr id="7" name="Text 4"/>
          <p:cNvSpPr/>
          <p:nvPr/>
        </p:nvSpPr>
        <p:spPr>
          <a:xfrm>
            <a:off x="7323836" y="1927860"/>
            <a:ext cx="2156460" cy="472542"/>
          </a:xfrm>
          <a:prstGeom prst="roundRect">
            <a:avLst>
              <a:gd name="adj" fmla="val 17416"/>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The region's numbers and the bands, in one panel.</a:t>
            </a:r>
            <a:endParaRPr lang="en-US" sz="1050" dirty="0"/>
          </a:p>
        </p:txBody>
      </p:sp>
      <p:sp>
        <p:nvSpPr>
          <p:cNvPr id="8" name="Shape 5"/>
          <p:cNvSpPr/>
          <p:nvPr/>
        </p:nvSpPr>
        <p:spPr>
          <a:xfrm flipH="1">
            <a:off x="5910072" y="2963215"/>
            <a:ext cx="1413764" cy="194005"/>
          </a:xfrm>
          <a:prstGeom prst="line">
            <a:avLst/>
          </a:prstGeom>
          <a:noFill/>
          <a:ln w="12700">
            <a:solidFill>
              <a:srgbClr val="AEB4BC"/>
            </a:solidFill>
            <a:prstDash val="solid"/>
          </a:ln>
        </p:spPr>
      </p:sp>
      <p:sp>
        <p:nvSpPr>
          <p:cNvPr id="9" name="Shape 6"/>
          <p:cNvSpPr/>
          <p:nvPr/>
        </p:nvSpPr>
        <p:spPr>
          <a:xfrm>
            <a:off x="5846064" y="3093212"/>
            <a:ext cx="128016" cy="128016"/>
          </a:xfrm>
          <a:prstGeom prst="ellipse">
            <a:avLst/>
          </a:prstGeom>
          <a:solidFill>
            <a:srgbClr val="166534"/>
          </a:solidFill>
          <a:ln/>
        </p:spPr>
      </p:sp>
      <p:sp>
        <p:nvSpPr>
          <p:cNvPr id="10" name="Shape 7"/>
          <p:cNvSpPr/>
          <p:nvPr/>
        </p:nvSpPr>
        <p:spPr>
          <a:xfrm>
            <a:off x="5884469" y="3131617"/>
            <a:ext cx="51206" cy="51206"/>
          </a:xfrm>
          <a:prstGeom prst="ellipse">
            <a:avLst/>
          </a:prstGeom>
          <a:solidFill>
            <a:srgbClr val="FFFFFF"/>
          </a:solidFill>
          <a:ln/>
        </p:spPr>
      </p:sp>
      <p:sp>
        <p:nvSpPr>
          <p:cNvPr id="11" name="Text 8"/>
          <p:cNvSpPr/>
          <p:nvPr/>
        </p:nvSpPr>
        <p:spPr>
          <a:xfrm>
            <a:off x="7323836" y="2726944"/>
            <a:ext cx="2217928" cy="472542"/>
          </a:xfrm>
          <a:prstGeom prst="roundRect">
            <a:avLst>
              <a:gd name="adj" fmla="val 17416"/>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One fixed lens: overall health. Colour shows where the problems are.</a:t>
            </a:r>
            <a:endParaRPr lang="en-US" sz="1050" dirty="0"/>
          </a:p>
        </p:txBody>
      </p:sp>
      <p:sp>
        <p:nvSpPr>
          <p:cNvPr id="12" name="Shape 9"/>
          <p:cNvSpPr/>
          <p:nvPr/>
        </p:nvSpPr>
        <p:spPr>
          <a:xfrm flipH="1">
            <a:off x="3672637" y="3836060"/>
            <a:ext cx="3651199" cy="556666"/>
          </a:xfrm>
          <a:prstGeom prst="line">
            <a:avLst/>
          </a:prstGeom>
          <a:noFill/>
          <a:ln w="12700">
            <a:solidFill>
              <a:srgbClr val="AEB4BC"/>
            </a:solidFill>
            <a:prstDash val="solid"/>
          </a:ln>
        </p:spPr>
      </p:sp>
      <p:sp>
        <p:nvSpPr>
          <p:cNvPr id="13" name="Shape 10"/>
          <p:cNvSpPr/>
          <p:nvPr/>
        </p:nvSpPr>
        <p:spPr>
          <a:xfrm>
            <a:off x="3608629" y="4328719"/>
            <a:ext cx="128016" cy="128016"/>
          </a:xfrm>
          <a:prstGeom prst="ellipse">
            <a:avLst/>
          </a:prstGeom>
          <a:solidFill>
            <a:srgbClr val="166534"/>
          </a:solidFill>
          <a:ln/>
        </p:spPr>
      </p:sp>
      <p:sp>
        <p:nvSpPr>
          <p:cNvPr id="14" name="Shape 11"/>
          <p:cNvSpPr/>
          <p:nvPr/>
        </p:nvSpPr>
        <p:spPr>
          <a:xfrm>
            <a:off x="3647034" y="4367124"/>
            <a:ext cx="51206" cy="51206"/>
          </a:xfrm>
          <a:prstGeom prst="ellipse">
            <a:avLst/>
          </a:prstGeom>
          <a:solidFill>
            <a:srgbClr val="FFFFFF"/>
          </a:solidFill>
          <a:ln/>
        </p:spPr>
      </p:sp>
      <p:sp>
        <p:nvSpPr>
          <p:cNvPr id="15" name="Text 12"/>
          <p:cNvSpPr/>
          <p:nvPr/>
        </p:nvSpPr>
        <p:spPr>
          <a:xfrm>
            <a:off x="7323836" y="3526028"/>
            <a:ext cx="2340864" cy="620065"/>
          </a:xfrm>
          <a:prstGeom prst="roundRect">
            <a:avLst>
              <a:gd name="adj" fmla="val 13272"/>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One filter, under the legend. Pick crops or trees and the whole page narrows.</a:t>
            </a:r>
            <a:endParaRPr lang="en-US" sz="1050" dirty="0"/>
          </a:p>
        </p:txBody>
      </p:sp>
      <p:sp>
        <p:nvSpPr>
          <p:cNvPr id="16" name="Shape 13"/>
          <p:cNvSpPr/>
          <p:nvPr/>
        </p:nvSpPr>
        <p:spPr>
          <a:xfrm flipH="1" flipV="1">
            <a:off x="4711446" y="4853737"/>
            <a:ext cx="2612390" cy="14986"/>
          </a:xfrm>
          <a:prstGeom prst="line">
            <a:avLst/>
          </a:prstGeom>
          <a:noFill/>
          <a:ln w="12700">
            <a:solidFill>
              <a:srgbClr val="AEB4BC"/>
            </a:solidFill>
            <a:prstDash val="solid"/>
          </a:ln>
        </p:spPr>
      </p:sp>
      <p:sp>
        <p:nvSpPr>
          <p:cNvPr id="17" name="Shape 14"/>
          <p:cNvSpPr/>
          <p:nvPr/>
        </p:nvSpPr>
        <p:spPr>
          <a:xfrm>
            <a:off x="4647438" y="4789729"/>
            <a:ext cx="128016" cy="128016"/>
          </a:xfrm>
          <a:prstGeom prst="ellipse">
            <a:avLst/>
          </a:prstGeom>
          <a:solidFill>
            <a:srgbClr val="166534"/>
          </a:solidFill>
          <a:ln/>
        </p:spPr>
      </p:sp>
      <p:sp>
        <p:nvSpPr>
          <p:cNvPr id="18" name="Shape 15"/>
          <p:cNvSpPr/>
          <p:nvPr/>
        </p:nvSpPr>
        <p:spPr>
          <a:xfrm>
            <a:off x="4685843" y="4828134"/>
            <a:ext cx="51206" cy="51206"/>
          </a:xfrm>
          <a:prstGeom prst="ellipse">
            <a:avLst/>
          </a:prstGeom>
          <a:solidFill>
            <a:srgbClr val="FFFFFF"/>
          </a:solidFill>
          <a:ln/>
        </p:spPr>
      </p:sp>
      <p:sp>
        <p:nvSpPr>
          <p:cNvPr id="19" name="Text 16"/>
          <p:cNvSpPr/>
          <p:nvPr/>
        </p:nvSpPr>
        <p:spPr>
          <a:xfrm>
            <a:off x="7323836" y="4632452"/>
            <a:ext cx="2217928" cy="472542"/>
          </a:xfrm>
          <a:prstGeom prst="roundRect">
            <a:avLst>
              <a:gd name="adj" fmla="val 17416"/>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Six cards, one status word each. Each opens its module.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Depth 1 · Example</a:t>
            </a:r>
            <a:endParaRPr lang="en-US" sz="2400" dirty="0"/>
          </a:p>
        </p:txBody>
      </p:sp>
      <p:pic>
        <p:nvPicPr>
          <p:cNvPr id="3" name="Image 0" descr="/home/user/adafsa-mockup/presentation/assets/new/alt1-situation.jpg">    </p:cNvPr>
          <p:cNvPicPr>
            <a:picLocks noChangeAspect="1"/>
          </p:cNvPicPr>
          <p:nvPr/>
        </p:nvPicPr>
        <p:blipFill>
          <a:blip r:embed="rId1"/>
          <a:stretch>
            <a:fillRect/>
          </a:stretch>
        </p:blipFill>
        <p:spPr>
          <a:xfrm>
            <a:off x="2788920" y="1391602"/>
            <a:ext cx="8138160" cy="4577715"/>
          </a:xfrm>
          <a:prstGeom prst="rect">
            <a:avLst/>
          </a:prstGeom>
        </p:spPr>
      </p:pic>
      <p:sp>
        <p:nvSpPr>
          <p:cNvPr id="4" name="Shape 1"/>
          <p:cNvSpPr/>
          <p:nvPr/>
        </p:nvSpPr>
        <p:spPr>
          <a:xfrm>
            <a:off x="2606040" y="1828800"/>
            <a:ext cx="2136038" cy="386791"/>
          </a:xfrm>
          <a:prstGeom prst="line">
            <a:avLst/>
          </a:prstGeom>
          <a:noFill/>
          <a:ln w="12700">
            <a:solidFill>
              <a:srgbClr val="AEB4BC"/>
            </a:solidFill>
            <a:prstDash val="solid"/>
          </a:ln>
        </p:spPr>
      </p:sp>
      <p:sp>
        <p:nvSpPr>
          <p:cNvPr id="5" name="Shape 2"/>
          <p:cNvSpPr/>
          <p:nvPr/>
        </p:nvSpPr>
        <p:spPr>
          <a:xfrm>
            <a:off x="4678070" y="2151583"/>
            <a:ext cx="128016" cy="128016"/>
          </a:xfrm>
          <a:prstGeom prst="ellipse">
            <a:avLst/>
          </a:prstGeom>
          <a:solidFill>
            <a:srgbClr val="166534"/>
          </a:solidFill>
          <a:ln/>
        </p:spPr>
      </p:sp>
      <p:sp>
        <p:nvSpPr>
          <p:cNvPr id="6" name="Shape 3"/>
          <p:cNvSpPr/>
          <p:nvPr/>
        </p:nvSpPr>
        <p:spPr>
          <a:xfrm>
            <a:off x="4716475" y="2189988"/>
            <a:ext cx="51206" cy="51206"/>
          </a:xfrm>
          <a:prstGeom prst="ellipse">
            <a:avLst/>
          </a:prstGeom>
          <a:solidFill>
            <a:srgbClr val="FFFFFF"/>
          </a:solidFill>
          <a:ln/>
        </p:spPr>
      </p:sp>
      <p:sp>
        <p:nvSpPr>
          <p:cNvPr id="7" name="Text 4"/>
          <p:cNvSpPr/>
          <p:nvPr/>
        </p:nvSpPr>
        <p:spPr>
          <a:xfrm>
            <a:off x="411480" y="1463040"/>
            <a:ext cx="2194560" cy="731520"/>
          </a:xfrm>
          <a:prstGeom prst="roundRect">
            <a:avLst>
              <a:gd name="adj" fmla="val 11250"/>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The region's numbers and bands, in one panel.</a:t>
            </a:r>
            <a:endParaRPr lang="en-US" sz="1200" dirty="0"/>
          </a:p>
        </p:txBody>
      </p:sp>
      <p:sp>
        <p:nvSpPr>
          <p:cNvPr id="8" name="Shape 5"/>
          <p:cNvSpPr/>
          <p:nvPr/>
        </p:nvSpPr>
        <p:spPr>
          <a:xfrm flipV="1">
            <a:off x="2606040" y="3062468"/>
            <a:ext cx="2542946" cy="183652"/>
          </a:xfrm>
          <a:prstGeom prst="line">
            <a:avLst/>
          </a:prstGeom>
          <a:noFill/>
          <a:ln w="12700">
            <a:solidFill>
              <a:srgbClr val="AEB4BC"/>
            </a:solidFill>
            <a:prstDash val="solid"/>
          </a:ln>
        </p:spPr>
      </p:sp>
      <p:sp>
        <p:nvSpPr>
          <p:cNvPr id="9" name="Shape 6"/>
          <p:cNvSpPr/>
          <p:nvPr/>
        </p:nvSpPr>
        <p:spPr>
          <a:xfrm>
            <a:off x="5084978" y="2998460"/>
            <a:ext cx="128016" cy="128016"/>
          </a:xfrm>
          <a:prstGeom prst="ellipse">
            <a:avLst/>
          </a:prstGeom>
          <a:solidFill>
            <a:srgbClr val="166534"/>
          </a:solidFill>
          <a:ln/>
        </p:spPr>
      </p:sp>
      <p:sp>
        <p:nvSpPr>
          <p:cNvPr id="10" name="Shape 7"/>
          <p:cNvSpPr/>
          <p:nvPr/>
        </p:nvSpPr>
        <p:spPr>
          <a:xfrm>
            <a:off x="5123383" y="3036865"/>
            <a:ext cx="51206" cy="51206"/>
          </a:xfrm>
          <a:prstGeom prst="ellipse">
            <a:avLst/>
          </a:prstGeom>
          <a:solidFill>
            <a:srgbClr val="FFFFFF"/>
          </a:solidFill>
          <a:ln/>
        </p:spPr>
      </p:sp>
      <p:sp>
        <p:nvSpPr>
          <p:cNvPr id="11" name="Text 8"/>
          <p:cNvSpPr/>
          <p:nvPr/>
        </p:nvSpPr>
        <p:spPr>
          <a:xfrm>
            <a:off x="411480" y="2926080"/>
            <a:ext cx="2194560" cy="640080"/>
          </a:xfrm>
          <a:prstGeom prst="roundRect">
            <a:avLst>
              <a:gd name="adj" fmla="val 12857"/>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The filter, waiting under the legend.</a:t>
            </a:r>
            <a:endParaRPr lang="en-US" sz="1200" dirty="0"/>
          </a:p>
        </p:txBody>
      </p:sp>
      <p:sp>
        <p:nvSpPr>
          <p:cNvPr id="12" name="Shape 9"/>
          <p:cNvSpPr/>
          <p:nvPr/>
        </p:nvSpPr>
        <p:spPr>
          <a:xfrm flipV="1">
            <a:off x="6035040" y="5511546"/>
            <a:ext cx="822960" cy="752094"/>
          </a:xfrm>
          <a:prstGeom prst="line">
            <a:avLst/>
          </a:prstGeom>
          <a:noFill/>
          <a:ln w="12700">
            <a:solidFill>
              <a:srgbClr val="AEB4BC"/>
            </a:solidFill>
            <a:prstDash val="solid"/>
          </a:ln>
        </p:spPr>
      </p:sp>
      <p:sp>
        <p:nvSpPr>
          <p:cNvPr id="13" name="Shape 10"/>
          <p:cNvSpPr/>
          <p:nvPr/>
        </p:nvSpPr>
        <p:spPr>
          <a:xfrm>
            <a:off x="6793992" y="5447538"/>
            <a:ext cx="128016" cy="128016"/>
          </a:xfrm>
          <a:prstGeom prst="ellipse">
            <a:avLst/>
          </a:prstGeom>
          <a:solidFill>
            <a:srgbClr val="166534"/>
          </a:solidFill>
          <a:ln/>
        </p:spPr>
      </p:sp>
      <p:sp>
        <p:nvSpPr>
          <p:cNvPr id="14" name="Shape 11"/>
          <p:cNvSpPr/>
          <p:nvPr/>
        </p:nvSpPr>
        <p:spPr>
          <a:xfrm>
            <a:off x="6832397" y="5485943"/>
            <a:ext cx="51206" cy="51206"/>
          </a:xfrm>
          <a:prstGeom prst="ellipse">
            <a:avLst/>
          </a:prstGeom>
          <a:solidFill>
            <a:srgbClr val="FFFFFF"/>
          </a:solidFill>
          <a:ln/>
        </p:spPr>
      </p:sp>
      <p:sp>
        <p:nvSpPr>
          <p:cNvPr id="15" name="Text 12"/>
          <p:cNvSpPr/>
          <p:nvPr/>
        </p:nvSpPr>
        <p:spPr>
          <a:xfrm>
            <a:off x="4023360" y="6263640"/>
            <a:ext cx="4023360" cy="457200"/>
          </a:xfrm>
          <a:prstGeom prst="roundRect">
            <a:avLst>
              <a:gd name="adj" fmla="val 18000"/>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ctr" indent="0" marL="0">
              <a:lnSpc>
                <a:spcPct val="104000"/>
              </a:lnSpc>
              <a:buNone/>
            </a:pPr>
            <a:r>
              <a:rPr lang="en-US" sz="1200" dirty="0">
                <a:solidFill>
                  <a:srgbClr val="1F2937"/>
                </a:solidFill>
                <a:latin typeface="Calibri" pitchFamily="34" charset="0"/>
                <a:ea typeface="Calibri" pitchFamily="34" charset="-122"/>
                <a:cs typeface="Calibri" pitchFamily="34" charset="-120"/>
              </a:rPr>
              <a:t>Six cards, one status word each.</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Depth 2 · The module in detail</a:t>
            </a:r>
            <a:endParaRPr lang="en-US" sz="2400" dirty="0"/>
          </a:p>
        </p:txBody>
      </p:sp>
      <p:pic>
        <p:nvPicPr>
          <p:cNvPr id="3" name="Image 0" descr="/home/user/adafsa-mockup/presentation/assets/diagrams/wireframe-module.png">    </p:cNvPr>
          <p:cNvPicPr>
            <a:picLocks noChangeAspect="1"/>
          </p:cNvPicPr>
          <p:nvPr/>
        </p:nvPicPr>
        <p:blipFill>
          <a:blip r:embed="rId1"/>
          <a:stretch>
            <a:fillRect/>
          </a:stretch>
        </p:blipFill>
        <p:spPr>
          <a:xfrm>
            <a:off x="1177036" y="1005840"/>
            <a:ext cx="9834880" cy="5532120"/>
          </a:xfrm>
          <a:prstGeom prst="rect">
            <a:avLst/>
          </a:prstGeom>
        </p:spPr>
      </p:pic>
      <p:sp>
        <p:nvSpPr>
          <p:cNvPr id="4" name="Shape 1"/>
          <p:cNvSpPr/>
          <p:nvPr/>
        </p:nvSpPr>
        <p:spPr>
          <a:xfrm flipH="1">
            <a:off x="6819798" y="2096516"/>
            <a:ext cx="504038" cy="132537"/>
          </a:xfrm>
          <a:prstGeom prst="line">
            <a:avLst/>
          </a:prstGeom>
          <a:noFill/>
          <a:ln w="12700">
            <a:solidFill>
              <a:srgbClr val="AEB4BC"/>
            </a:solidFill>
            <a:prstDash val="solid"/>
          </a:ln>
        </p:spPr>
      </p:sp>
      <p:sp>
        <p:nvSpPr>
          <p:cNvPr id="5" name="Shape 2"/>
          <p:cNvSpPr/>
          <p:nvPr/>
        </p:nvSpPr>
        <p:spPr>
          <a:xfrm>
            <a:off x="6755790" y="2165045"/>
            <a:ext cx="128016" cy="128016"/>
          </a:xfrm>
          <a:prstGeom prst="ellipse">
            <a:avLst/>
          </a:prstGeom>
          <a:solidFill>
            <a:srgbClr val="166534"/>
          </a:solidFill>
          <a:ln/>
        </p:spPr>
      </p:sp>
      <p:sp>
        <p:nvSpPr>
          <p:cNvPr id="6" name="Shape 3"/>
          <p:cNvSpPr/>
          <p:nvPr/>
        </p:nvSpPr>
        <p:spPr>
          <a:xfrm>
            <a:off x="6794195" y="2203450"/>
            <a:ext cx="51206" cy="51206"/>
          </a:xfrm>
          <a:prstGeom prst="ellipse">
            <a:avLst/>
          </a:prstGeom>
          <a:solidFill>
            <a:srgbClr val="FFFFFF"/>
          </a:solidFill>
          <a:ln/>
        </p:spPr>
      </p:sp>
      <p:sp>
        <p:nvSpPr>
          <p:cNvPr id="7" name="Text 4"/>
          <p:cNvSpPr/>
          <p:nvPr/>
        </p:nvSpPr>
        <p:spPr>
          <a:xfrm>
            <a:off x="7323836" y="1921713"/>
            <a:ext cx="1972056" cy="349606"/>
          </a:xfrm>
          <a:prstGeom prst="roundRect">
            <a:avLst>
              <a:gd name="adj" fmla="val 23540"/>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The numbers for this question.</a:t>
            </a:r>
            <a:endParaRPr lang="en-US" sz="1050" dirty="0"/>
          </a:p>
        </p:txBody>
      </p:sp>
      <p:sp>
        <p:nvSpPr>
          <p:cNvPr id="8" name="Shape 5"/>
          <p:cNvSpPr/>
          <p:nvPr/>
        </p:nvSpPr>
        <p:spPr>
          <a:xfrm flipH="1">
            <a:off x="4348785" y="2827985"/>
            <a:ext cx="2975051" cy="206299"/>
          </a:xfrm>
          <a:prstGeom prst="line">
            <a:avLst/>
          </a:prstGeom>
          <a:noFill/>
          <a:ln w="12700">
            <a:solidFill>
              <a:srgbClr val="AEB4BC"/>
            </a:solidFill>
            <a:prstDash val="solid"/>
          </a:ln>
        </p:spPr>
      </p:sp>
      <p:sp>
        <p:nvSpPr>
          <p:cNvPr id="9" name="Shape 6"/>
          <p:cNvSpPr/>
          <p:nvPr/>
        </p:nvSpPr>
        <p:spPr>
          <a:xfrm>
            <a:off x="4284777" y="2970276"/>
            <a:ext cx="128016" cy="128016"/>
          </a:xfrm>
          <a:prstGeom prst="ellipse">
            <a:avLst/>
          </a:prstGeom>
          <a:solidFill>
            <a:srgbClr val="166534"/>
          </a:solidFill>
          <a:ln/>
        </p:spPr>
      </p:sp>
      <p:sp>
        <p:nvSpPr>
          <p:cNvPr id="10" name="Shape 7"/>
          <p:cNvSpPr/>
          <p:nvPr/>
        </p:nvSpPr>
        <p:spPr>
          <a:xfrm>
            <a:off x="4323182" y="3008681"/>
            <a:ext cx="51206" cy="51206"/>
          </a:xfrm>
          <a:prstGeom prst="ellipse">
            <a:avLst/>
          </a:prstGeom>
          <a:solidFill>
            <a:srgbClr val="FFFFFF"/>
          </a:solidFill>
          <a:ln/>
        </p:spPr>
      </p:sp>
      <p:sp>
        <p:nvSpPr>
          <p:cNvPr id="11" name="Text 8"/>
          <p:cNvSpPr/>
          <p:nvPr/>
        </p:nvSpPr>
        <p:spPr>
          <a:xfrm>
            <a:off x="7323836" y="2585568"/>
            <a:ext cx="1972056" cy="484835"/>
          </a:xfrm>
          <a:prstGeom prst="roundRect">
            <a:avLst>
              <a:gd name="adj" fmla="val 16974"/>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One legend. The same colours everywhere.</a:t>
            </a:r>
            <a:endParaRPr lang="en-US" sz="1050" dirty="0"/>
          </a:p>
        </p:txBody>
      </p:sp>
      <p:sp>
        <p:nvSpPr>
          <p:cNvPr id="12" name="Shape 9"/>
          <p:cNvSpPr/>
          <p:nvPr/>
        </p:nvSpPr>
        <p:spPr>
          <a:xfrm flipH="1">
            <a:off x="4348785" y="3577895"/>
            <a:ext cx="2975051" cy="304648"/>
          </a:xfrm>
          <a:prstGeom prst="line">
            <a:avLst/>
          </a:prstGeom>
          <a:noFill/>
          <a:ln w="12700">
            <a:solidFill>
              <a:srgbClr val="AEB4BC"/>
            </a:solidFill>
            <a:prstDash val="solid"/>
          </a:ln>
        </p:spPr>
      </p:sp>
      <p:sp>
        <p:nvSpPr>
          <p:cNvPr id="13" name="Shape 10"/>
          <p:cNvSpPr/>
          <p:nvPr/>
        </p:nvSpPr>
        <p:spPr>
          <a:xfrm>
            <a:off x="4284777" y="3818534"/>
            <a:ext cx="128016" cy="128016"/>
          </a:xfrm>
          <a:prstGeom prst="ellipse">
            <a:avLst/>
          </a:prstGeom>
          <a:solidFill>
            <a:srgbClr val="166534"/>
          </a:solidFill>
          <a:ln/>
        </p:spPr>
      </p:sp>
      <p:sp>
        <p:nvSpPr>
          <p:cNvPr id="14" name="Shape 11"/>
          <p:cNvSpPr/>
          <p:nvPr/>
        </p:nvSpPr>
        <p:spPr>
          <a:xfrm>
            <a:off x="4323182" y="3856939"/>
            <a:ext cx="51206" cy="51206"/>
          </a:xfrm>
          <a:prstGeom prst="ellipse">
            <a:avLst/>
          </a:prstGeom>
          <a:solidFill>
            <a:srgbClr val="FFFFFF"/>
          </a:solidFill>
          <a:ln/>
        </p:spPr>
      </p:sp>
      <p:sp>
        <p:nvSpPr>
          <p:cNvPr id="15" name="Text 12"/>
          <p:cNvSpPr/>
          <p:nvPr/>
        </p:nvSpPr>
        <p:spPr>
          <a:xfrm>
            <a:off x="7323836" y="3261716"/>
            <a:ext cx="2094992" cy="632358"/>
          </a:xfrm>
          <a:prstGeom prst="roundRect">
            <a:avLst>
              <a:gd name="adj" fmla="val 13014"/>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Tick a crop or a tree type. The map and every number narrow together.</a:t>
            </a:r>
            <a:endParaRPr lang="en-US" sz="1050" dirty="0"/>
          </a:p>
        </p:txBody>
      </p:sp>
      <p:sp>
        <p:nvSpPr>
          <p:cNvPr id="16" name="Shape 13"/>
          <p:cNvSpPr/>
          <p:nvPr/>
        </p:nvSpPr>
        <p:spPr>
          <a:xfrm flipH="1" flipV="1">
            <a:off x="6340348" y="4214470"/>
            <a:ext cx="983488" cy="39573"/>
          </a:xfrm>
          <a:prstGeom prst="line">
            <a:avLst/>
          </a:prstGeom>
          <a:noFill/>
          <a:ln w="12700">
            <a:solidFill>
              <a:srgbClr val="AEB4BC"/>
            </a:solidFill>
            <a:prstDash val="solid"/>
          </a:ln>
        </p:spPr>
      </p:sp>
      <p:sp>
        <p:nvSpPr>
          <p:cNvPr id="17" name="Shape 14"/>
          <p:cNvSpPr/>
          <p:nvPr/>
        </p:nvSpPr>
        <p:spPr>
          <a:xfrm>
            <a:off x="6276340" y="4150462"/>
            <a:ext cx="128016" cy="128016"/>
          </a:xfrm>
          <a:prstGeom prst="ellipse">
            <a:avLst/>
          </a:prstGeom>
          <a:solidFill>
            <a:srgbClr val="166534"/>
          </a:solidFill>
          <a:ln/>
        </p:spPr>
      </p:sp>
      <p:sp>
        <p:nvSpPr>
          <p:cNvPr id="18" name="Shape 15"/>
          <p:cNvSpPr/>
          <p:nvPr/>
        </p:nvSpPr>
        <p:spPr>
          <a:xfrm>
            <a:off x="6314745" y="4188866"/>
            <a:ext cx="51206" cy="51206"/>
          </a:xfrm>
          <a:prstGeom prst="ellipse">
            <a:avLst/>
          </a:prstGeom>
          <a:solidFill>
            <a:srgbClr val="FFFFFF"/>
          </a:solidFill>
          <a:ln/>
        </p:spPr>
      </p:sp>
      <p:sp>
        <p:nvSpPr>
          <p:cNvPr id="19" name="Text 16"/>
          <p:cNvSpPr/>
          <p:nvPr/>
        </p:nvSpPr>
        <p:spPr>
          <a:xfrm>
            <a:off x="7323836" y="4011625"/>
            <a:ext cx="1849120" cy="484835"/>
          </a:xfrm>
          <a:prstGeom prst="roundRect">
            <a:avLst>
              <a:gd name="adj" fmla="val 16974"/>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The map, coloured by this question only.</a:t>
            </a:r>
            <a:endParaRPr lang="en-US" sz="1050" dirty="0"/>
          </a:p>
        </p:txBody>
      </p:sp>
      <p:sp>
        <p:nvSpPr>
          <p:cNvPr id="20" name="Shape 17"/>
          <p:cNvSpPr/>
          <p:nvPr/>
        </p:nvSpPr>
        <p:spPr>
          <a:xfrm flipH="1" flipV="1">
            <a:off x="6733743" y="4779975"/>
            <a:ext cx="590093" cy="113335"/>
          </a:xfrm>
          <a:prstGeom prst="line">
            <a:avLst/>
          </a:prstGeom>
          <a:noFill/>
          <a:ln w="12700">
            <a:solidFill>
              <a:srgbClr val="AEB4BC"/>
            </a:solidFill>
            <a:prstDash val="solid"/>
          </a:ln>
        </p:spPr>
      </p:sp>
      <p:sp>
        <p:nvSpPr>
          <p:cNvPr id="21" name="Shape 18"/>
          <p:cNvSpPr/>
          <p:nvPr/>
        </p:nvSpPr>
        <p:spPr>
          <a:xfrm>
            <a:off x="6669735" y="4715967"/>
            <a:ext cx="128016" cy="128016"/>
          </a:xfrm>
          <a:prstGeom prst="ellipse">
            <a:avLst/>
          </a:prstGeom>
          <a:solidFill>
            <a:srgbClr val="166534"/>
          </a:solidFill>
          <a:ln/>
        </p:spPr>
      </p:sp>
      <p:sp>
        <p:nvSpPr>
          <p:cNvPr id="22" name="Shape 19"/>
          <p:cNvSpPr/>
          <p:nvPr/>
        </p:nvSpPr>
        <p:spPr>
          <a:xfrm>
            <a:off x="6708140" y="4754372"/>
            <a:ext cx="51206" cy="51206"/>
          </a:xfrm>
          <a:prstGeom prst="ellipse">
            <a:avLst/>
          </a:prstGeom>
          <a:solidFill>
            <a:srgbClr val="FFFFFF"/>
          </a:solidFill>
          <a:ln/>
        </p:spPr>
      </p:sp>
      <p:sp>
        <p:nvSpPr>
          <p:cNvPr id="23" name="Text 20"/>
          <p:cNvSpPr/>
          <p:nvPr/>
        </p:nvSpPr>
        <p:spPr>
          <a:xfrm>
            <a:off x="7323836" y="4650892"/>
            <a:ext cx="1849120" cy="484835"/>
          </a:xfrm>
          <a:prstGeom prst="roundRect">
            <a:avLst>
              <a:gd name="adj" fmla="val 16974"/>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The list can leave the app as a file.</a:t>
            </a:r>
            <a:endParaRPr lang="en-US" sz="1050" dirty="0"/>
          </a:p>
        </p:txBody>
      </p:sp>
      <p:sp>
        <p:nvSpPr>
          <p:cNvPr id="24" name="Shape 21"/>
          <p:cNvSpPr/>
          <p:nvPr/>
        </p:nvSpPr>
        <p:spPr>
          <a:xfrm flipH="1" flipV="1">
            <a:off x="6832092" y="5222545"/>
            <a:ext cx="491744" cy="334620"/>
          </a:xfrm>
          <a:prstGeom prst="line">
            <a:avLst/>
          </a:prstGeom>
          <a:noFill/>
          <a:ln w="12700">
            <a:solidFill>
              <a:srgbClr val="AEB4BC"/>
            </a:solidFill>
            <a:prstDash val="solid"/>
          </a:ln>
        </p:spPr>
      </p:sp>
      <p:sp>
        <p:nvSpPr>
          <p:cNvPr id="25" name="Shape 22"/>
          <p:cNvSpPr/>
          <p:nvPr/>
        </p:nvSpPr>
        <p:spPr>
          <a:xfrm>
            <a:off x="6768084" y="5158537"/>
            <a:ext cx="128016" cy="128016"/>
          </a:xfrm>
          <a:prstGeom prst="ellipse">
            <a:avLst/>
          </a:prstGeom>
          <a:solidFill>
            <a:srgbClr val="166534"/>
          </a:solidFill>
          <a:ln/>
        </p:spPr>
      </p:sp>
      <p:sp>
        <p:nvSpPr>
          <p:cNvPr id="26" name="Shape 23"/>
          <p:cNvSpPr/>
          <p:nvPr/>
        </p:nvSpPr>
        <p:spPr>
          <a:xfrm>
            <a:off x="6806489" y="5196942"/>
            <a:ext cx="51206" cy="51206"/>
          </a:xfrm>
          <a:prstGeom prst="ellipse">
            <a:avLst/>
          </a:prstGeom>
          <a:solidFill>
            <a:srgbClr val="FFFFFF"/>
          </a:solidFill>
          <a:ln/>
        </p:spPr>
      </p:sp>
      <p:sp>
        <p:nvSpPr>
          <p:cNvPr id="27" name="Text 24"/>
          <p:cNvSpPr/>
          <p:nvPr/>
        </p:nvSpPr>
        <p:spPr>
          <a:xfrm>
            <a:off x="7323836" y="5382362"/>
            <a:ext cx="1972056" cy="349606"/>
          </a:xfrm>
          <a:prstGeom prst="roundRect">
            <a:avLst>
              <a:gd name="adj" fmla="val 23540"/>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Farms ranked worst first.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Depth 2 · Example</a:t>
            </a:r>
            <a:endParaRPr lang="en-US" sz="2400" dirty="0"/>
          </a:p>
        </p:txBody>
      </p:sp>
      <p:pic>
        <p:nvPicPr>
          <p:cNvPr id="3" name="Image 0" descr="/home/user/adafsa-mockup/presentation/assets/new/alt2-module-ier.jpg">    </p:cNvPr>
          <p:cNvPicPr>
            <a:picLocks noChangeAspect="1"/>
          </p:cNvPicPr>
          <p:nvPr/>
        </p:nvPicPr>
        <p:blipFill>
          <a:blip r:embed="rId1"/>
          <a:stretch>
            <a:fillRect/>
          </a:stretch>
        </p:blipFill>
        <p:spPr>
          <a:xfrm>
            <a:off x="2788920" y="1391602"/>
            <a:ext cx="8138160" cy="4577715"/>
          </a:xfrm>
          <a:prstGeom prst="rect">
            <a:avLst/>
          </a:prstGeom>
        </p:spPr>
      </p:pic>
      <p:sp>
        <p:nvSpPr>
          <p:cNvPr id="4" name="Shape 1"/>
          <p:cNvSpPr/>
          <p:nvPr/>
        </p:nvSpPr>
        <p:spPr>
          <a:xfrm flipV="1">
            <a:off x="2606040" y="1620488"/>
            <a:ext cx="4414723" cy="71152"/>
          </a:xfrm>
          <a:prstGeom prst="line">
            <a:avLst/>
          </a:prstGeom>
          <a:noFill/>
          <a:ln w="12700">
            <a:solidFill>
              <a:srgbClr val="AEB4BC"/>
            </a:solidFill>
            <a:prstDash val="solid"/>
          </a:ln>
        </p:spPr>
      </p:sp>
      <p:sp>
        <p:nvSpPr>
          <p:cNvPr id="5" name="Shape 2"/>
          <p:cNvSpPr/>
          <p:nvPr/>
        </p:nvSpPr>
        <p:spPr>
          <a:xfrm>
            <a:off x="6956755" y="1556480"/>
            <a:ext cx="128016" cy="128016"/>
          </a:xfrm>
          <a:prstGeom prst="ellipse">
            <a:avLst/>
          </a:prstGeom>
          <a:solidFill>
            <a:srgbClr val="166534"/>
          </a:solidFill>
          <a:ln/>
        </p:spPr>
      </p:sp>
      <p:sp>
        <p:nvSpPr>
          <p:cNvPr id="6" name="Shape 3"/>
          <p:cNvSpPr/>
          <p:nvPr/>
        </p:nvSpPr>
        <p:spPr>
          <a:xfrm>
            <a:off x="6995160" y="1594885"/>
            <a:ext cx="51206" cy="51206"/>
          </a:xfrm>
          <a:prstGeom prst="ellipse">
            <a:avLst/>
          </a:prstGeom>
          <a:solidFill>
            <a:srgbClr val="FFFFFF"/>
          </a:solidFill>
          <a:ln/>
        </p:spPr>
      </p:sp>
      <p:sp>
        <p:nvSpPr>
          <p:cNvPr id="7" name="Text 4"/>
          <p:cNvSpPr/>
          <p:nvPr/>
        </p:nvSpPr>
        <p:spPr>
          <a:xfrm>
            <a:off x="411480" y="1371600"/>
            <a:ext cx="2194560" cy="640080"/>
          </a:xfrm>
          <a:prstGeom prst="roundRect">
            <a:avLst>
              <a:gd name="adj" fmla="val 12857"/>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One question. These are its numbers.</a:t>
            </a:r>
            <a:endParaRPr lang="en-US" sz="1200" dirty="0"/>
          </a:p>
        </p:txBody>
      </p:sp>
      <p:sp>
        <p:nvSpPr>
          <p:cNvPr id="8" name="Shape 5"/>
          <p:cNvSpPr/>
          <p:nvPr/>
        </p:nvSpPr>
        <p:spPr>
          <a:xfrm flipV="1">
            <a:off x="2606040" y="3108246"/>
            <a:ext cx="817656" cy="137874"/>
          </a:xfrm>
          <a:prstGeom prst="line">
            <a:avLst/>
          </a:prstGeom>
          <a:noFill/>
          <a:ln w="12700">
            <a:solidFill>
              <a:srgbClr val="AEB4BC"/>
            </a:solidFill>
            <a:prstDash val="solid"/>
          </a:ln>
        </p:spPr>
      </p:sp>
      <p:sp>
        <p:nvSpPr>
          <p:cNvPr id="9" name="Shape 6"/>
          <p:cNvSpPr/>
          <p:nvPr/>
        </p:nvSpPr>
        <p:spPr>
          <a:xfrm>
            <a:off x="3359688" y="3044238"/>
            <a:ext cx="128016" cy="128016"/>
          </a:xfrm>
          <a:prstGeom prst="ellipse">
            <a:avLst/>
          </a:prstGeom>
          <a:solidFill>
            <a:srgbClr val="166534"/>
          </a:solidFill>
          <a:ln/>
        </p:spPr>
      </p:sp>
      <p:sp>
        <p:nvSpPr>
          <p:cNvPr id="10" name="Shape 7"/>
          <p:cNvSpPr/>
          <p:nvPr/>
        </p:nvSpPr>
        <p:spPr>
          <a:xfrm>
            <a:off x="3398093" y="3082642"/>
            <a:ext cx="51206" cy="51206"/>
          </a:xfrm>
          <a:prstGeom prst="ellipse">
            <a:avLst/>
          </a:prstGeom>
          <a:solidFill>
            <a:srgbClr val="FFFFFF"/>
          </a:solidFill>
          <a:ln/>
        </p:spPr>
      </p:sp>
      <p:sp>
        <p:nvSpPr>
          <p:cNvPr id="11" name="Text 8"/>
          <p:cNvSpPr/>
          <p:nvPr/>
        </p:nvSpPr>
        <p:spPr>
          <a:xfrm>
            <a:off x="411480" y="2880360"/>
            <a:ext cx="2194560" cy="731520"/>
          </a:xfrm>
          <a:prstGeom prst="roundRect">
            <a:avLst>
              <a:gd name="adj" fmla="val 11250"/>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Switch module; the map stays where it was.</a:t>
            </a:r>
            <a:endParaRPr lang="en-US" sz="1200" dirty="0"/>
          </a:p>
        </p:txBody>
      </p:sp>
      <p:sp>
        <p:nvSpPr>
          <p:cNvPr id="12" name="Shape 9"/>
          <p:cNvSpPr/>
          <p:nvPr/>
        </p:nvSpPr>
        <p:spPr>
          <a:xfrm flipV="1">
            <a:off x="6035040" y="5374215"/>
            <a:ext cx="822960" cy="889425"/>
          </a:xfrm>
          <a:prstGeom prst="line">
            <a:avLst/>
          </a:prstGeom>
          <a:noFill/>
          <a:ln w="12700">
            <a:solidFill>
              <a:srgbClr val="AEB4BC"/>
            </a:solidFill>
            <a:prstDash val="solid"/>
          </a:ln>
        </p:spPr>
      </p:sp>
      <p:sp>
        <p:nvSpPr>
          <p:cNvPr id="13" name="Shape 10"/>
          <p:cNvSpPr/>
          <p:nvPr/>
        </p:nvSpPr>
        <p:spPr>
          <a:xfrm>
            <a:off x="6793992" y="5310207"/>
            <a:ext cx="128016" cy="128016"/>
          </a:xfrm>
          <a:prstGeom prst="ellipse">
            <a:avLst/>
          </a:prstGeom>
          <a:solidFill>
            <a:srgbClr val="166534"/>
          </a:solidFill>
          <a:ln/>
        </p:spPr>
      </p:sp>
      <p:sp>
        <p:nvSpPr>
          <p:cNvPr id="14" name="Shape 11"/>
          <p:cNvSpPr/>
          <p:nvPr/>
        </p:nvSpPr>
        <p:spPr>
          <a:xfrm>
            <a:off x="6832397" y="5348611"/>
            <a:ext cx="51206" cy="51206"/>
          </a:xfrm>
          <a:prstGeom prst="ellipse">
            <a:avLst/>
          </a:prstGeom>
          <a:solidFill>
            <a:srgbClr val="FFFFFF"/>
          </a:solidFill>
          <a:ln/>
        </p:spPr>
      </p:sp>
      <p:sp>
        <p:nvSpPr>
          <p:cNvPr id="15" name="Text 12"/>
          <p:cNvSpPr/>
          <p:nvPr/>
        </p:nvSpPr>
        <p:spPr>
          <a:xfrm>
            <a:off x="4023360" y="6263640"/>
            <a:ext cx="4023360" cy="457200"/>
          </a:xfrm>
          <a:prstGeom prst="roundRect">
            <a:avLst>
              <a:gd name="adj" fmla="val 18000"/>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ctr" indent="0" marL="0">
              <a:lnSpc>
                <a:spcPct val="104000"/>
              </a:lnSpc>
              <a:buNone/>
            </a:pPr>
            <a:r>
              <a:rPr lang="en-US" sz="1200" dirty="0">
                <a:solidFill>
                  <a:srgbClr val="1F2937"/>
                </a:solidFill>
                <a:latin typeface="Calibri" pitchFamily="34" charset="0"/>
                <a:ea typeface="Calibri" pitchFamily="34" charset="-122"/>
                <a:cs typeface="Calibri" pitchFamily="34" charset="-120"/>
              </a:rPr>
              <a:t>Farms ranked worst first, ready to export.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Depth 3 · The farm in detail</a:t>
            </a:r>
            <a:endParaRPr lang="en-US" sz="2400" dirty="0"/>
          </a:p>
        </p:txBody>
      </p:sp>
      <p:pic>
        <p:nvPicPr>
          <p:cNvPr id="3" name="Image 0" descr="/home/user/adafsa-mockup/presentation/assets/diagrams/wireframe-farm.png">    </p:cNvPr>
          <p:cNvPicPr>
            <a:picLocks noChangeAspect="1"/>
          </p:cNvPicPr>
          <p:nvPr/>
        </p:nvPicPr>
        <p:blipFill>
          <a:blip r:embed="rId1"/>
          <a:stretch>
            <a:fillRect/>
          </a:stretch>
        </p:blipFill>
        <p:spPr>
          <a:xfrm>
            <a:off x="1177036" y="1005840"/>
            <a:ext cx="9834880" cy="5532120"/>
          </a:xfrm>
          <a:prstGeom prst="rect">
            <a:avLst/>
          </a:prstGeom>
        </p:spPr>
      </p:pic>
      <p:sp>
        <p:nvSpPr>
          <p:cNvPr id="4" name="Shape 1"/>
          <p:cNvSpPr/>
          <p:nvPr/>
        </p:nvSpPr>
        <p:spPr>
          <a:xfrm flipH="1">
            <a:off x="3857041" y="1632052"/>
            <a:ext cx="211531" cy="1525168"/>
          </a:xfrm>
          <a:prstGeom prst="line">
            <a:avLst/>
          </a:prstGeom>
          <a:noFill/>
          <a:ln w="12700">
            <a:solidFill>
              <a:srgbClr val="AEB4BC"/>
            </a:solidFill>
            <a:prstDash val="solid"/>
          </a:ln>
        </p:spPr>
      </p:sp>
      <p:sp>
        <p:nvSpPr>
          <p:cNvPr id="5" name="Shape 2"/>
          <p:cNvSpPr/>
          <p:nvPr/>
        </p:nvSpPr>
        <p:spPr>
          <a:xfrm>
            <a:off x="3793033" y="3093212"/>
            <a:ext cx="128016" cy="128016"/>
          </a:xfrm>
          <a:prstGeom prst="ellipse">
            <a:avLst/>
          </a:prstGeom>
          <a:solidFill>
            <a:srgbClr val="166534"/>
          </a:solidFill>
          <a:ln/>
        </p:spPr>
      </p:sp>
      <p:sp>
        <p:nvSpPr>
          <p:cNvPr id="6" name="Shape 3"/>
          <p:cNvSpPr/>
          <p:nvPr/>
        </p:nvSpPr>
        <p:spPr>
          <a:xfrm>
            <a:off x="3831438" y="3131617"/>
            <a:ext cx="51206" cy="51206"/>
          </a:xfrm>
          <a:prstGeom prst="ellipse">
            <a:avLst/>
          </a:prstGeom>
          <a:solidFill>
            <a:srgbClr val="FFFFFF"/>
          </a:solidFill>
          <a:ln/>
        </p:spPr>
      </p:sp>
      <p:sp>
        <p:nvSpPr>
          <p:cNvPr id="7" name="Text 4"/>
          <p:cNvSpPr/>
          <p:nvPr/>
        </p:nvSpPr>
        <p:spPr>
          <a:xfrm>
            <a:off x="2898140" y="1282446"/>
            <a:ext cx="2340864" cy="349606"/>
          </a:xfrm>
          <a:prstGeom prst="roundRect">
            <a:avLst>
              <a:gd name="adj" fmla="val 23540"/>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The farm, highlighted on the map.</a:t>
            </a:r>
            <a:endParaRPr lang="en-US" sz="1050" dirty="0"/>
          </a:p>
        </p:txBody>
      </p:sp>
      <p:sp>
        <p:nvSpPr>
          <p:cNvPr id="8" name="Shape 5"/>
          <p:cNvSpPr/>
          <p:nvPr/>
        </p:nvSpPr>
        <p:spPr>
          <a:xfrm flipH="1">
            <a:off x="7151726" y="2354682"/>
            <a:ext cx="540918" cy="237033"/>
          </a:xfrm>
          <a:prstGeom prst="line">
            <a:avLst/>
          </a:prstGeom>
          <a:noFill/>
          <a:ln w="12700">
            <a:solidFill>
              <a:srgbClr val="AEB4BC"/>
            </a:solidFill>
            <a:prstDash val="solid"/>
          </a:ln>
        </p:spPr>
      </p:sp>
      <p:sp>
        <p:nvSpPr>
          <p:cNvPr id="9" name="Shape 6"/>
          <p:cNvSpPr/>
          <p:nvPr/>
        </p:nvSpPr>
        <p:spPr>
          <a:xfrm>
            <a:off x="7087718" y="2527706"/>
            <a:ext cx="128016" cy="128016"/>
          </a:xfrm>
          <a:prstGeom prst="ellipse">
            <a:avLst/>
          </a:prstGeom>
          <a:solidFill>
            <a:srgbClr val="166534"/>
          </a:solidFill>
          <a:ln/>
        </p:spPr>
      </p:sp>
      <p:sp>
        <p:nvSpPr>
          <p:cNvPr id="10" name="Shape 7"/>
          <p:cNvSpPr/>
          <p:nvPr/>
        </p:nvSpPr>
        <p:spPr>
          <a:xfrm>
            <a:off x="7126122" y="2566111"/>
            <a:ext cx="51206" cy="51206"/>
          </a:xfrm>
          <a:prstGeom prst="ellipse">
            <a:avLst/>
          </a:prstGeom>
          <a:solidFill>
            <a:srgbClr val="FFFFFF"/>
          </a:solidFill>
          <a:ln/>
        </p:spPr>
      </p:sp>
      <p:sp>
        <p:nvSpPr>
          <p:cNvPr id="11" name="Text 8"/>
          <p:cNvSpPr/>
          <p:nvPr/>
        </p:nvSpPr>
        <p:spPr>
          <a:xfrm>
            <a:off x="7692644" y="2112264"/>
            <a:ext cx="2094992" cy="484835"/>
          </a:xfrm>
          <a:prstGeom prst="roundRect">
            <a:avLst>
              <a:gd name="adj" fmla="val 16974"/>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The system's conclusion, in one sentence.</a:t>
            </a:r>
            <a:endParaRPr lang="en-US" sz="1050" dirty="0"/>
          </a:p>
        </p:txBody>
      </p:sp>
      <p:sp>
        <p:nvSpPr>
          <p:cNvPr id="12" name="Shape 9"/>
          <p:cNvSpPr/>
          <p:nvPr/>
        </p:nvSpPr>
        <p:spPr>
          <a:xfrm flipH="1">
            <a:off x="7151726" y="2895600"/>
            <a:ext cx="540918" cy="839419"/>
          </a:xfrm>
          <a:prstGeom prst="line">
            <a:avLst/>
          </a:prstGeom>
          <a:noFill/>
          <a:ln w="12700">
            <a:solidFill>
              <a:srgbClr val="AEB4BC"/>
            </a:solidFill>
            <a:prstDash val="solid"/>
          </a:ln>
        </p:spPr>
      </p:sp>
      <p:sp>
        <p:nvSpPr>
          <p:cNvPr id="13" name="Shape 10"/>
          <p:cNvSpPr/>
          <p:nvPr/>
        </p:nvSpPr>
        <p:spPr>
          <a:xfrm>
            <a:off x="7087718" y="3671011"/>
            <a:ext cx="128016" cy="128016"/>
          </a:xfrm>
          <a:prstGeom prst="ellipse">
            <a:avLst/>
          </a:prstGeom>
          <a:solidFill>
            <a:srgbClr val="166534"/>
          </a:solidFill>
          <a:ln/>
        </p:spPr>
      </p:sp>
      <p:sp>
        <p:nvSpPr>
          <p:cNvPr id="14" name="Shape 11"/>
          <p:cNvSpPr/>
          <p:nvPr/>
        </p:nvSpPr>
        <p:spPr>
          <a:xfrm>
            <a:off x="7126122" y="3709416"/>
            <a:ext cx="51206" cy="51206"/>
          </a:xfrm>
          <a:prstGeom prst="ellipse">
            <a:avLst/>
          </a:prstGeom>
          <a:solidFill>
            <a:srgbClr val="FFFFFF"/>
          </a:solidFill>
          <a:ln/>
        </p:spPr>
      </p:sp>
      <p:sp>
        <p:nvSpPr>
          <p:cNvPr id="15" name="Text 12"/>
          <p:cNvSpPr/>
          <p:nvPr/>
        </p:nvSpPr>
        <p:spPr>
          <a:xfrm>
            <a:off x="7692644" y="2653182"/>
            <a:ext cx="2094992" cy="484835"/>
          </a:xfrm>
          <a:prstGeom prst="roundRect">
            <a:avLst>
              <a:gd name="adj" fmla="val 16974"/>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Every module's reading for this one farm.</a:t>
            </a:r>
            <a:endParaRPr lang="en-US" sz="1050" dirty="0"/>
          </a:p>
        </p:txBody>
      </p:sp>
      <p:sp>
        <p:nvSpPr>
          <p:cNvPr id="16" name="Shape 13"/>
          <p:cNvSpPr/>
          <p:nvPr/>
        </p:nvSpPr>
        <p:spPr>
          <a:xfrm flipH="1">
            <a:off x="7151726" y="3510280"/>
            <a:ext cx="540918" cy="1411072"/>
          </a:xfrm>
          <a:prstGeom prst="line">
            <a:avLst/>
          </a:prstGeom>
          <a:noFill/>
          <a:ln w="12700">
            <a:solidFill>
              <a:srgbClr val="AEB4BC"/>
            </a:solidFill>
            <a:prstDash val="solid"/>
          </a:ln>
        </p:spPr>
      </p:sp>
      <p:sp>
        <p:nvSpPr>
          <p:cNvPr id="17" name="Shape 14"/>
          <p:cNvSpPr/>
          <p:nvPr/>
        </p:nvSpPr>
        <p:spPr>
          <a:xfrm>
            <a:off x="7087718" y="4857344"/>
            <a:ext cx="128016" cy="128016"/>
          </a:xfrm>
          <a:prstGeom prst="ellipse">
            <a:avLst/>
          </a:prstGeom>
          <a:solidFill>
            <a:srgbClr val="166534"/>
          </a:solidFill>
          <a:ln/>
        </p:spPr>
      </p:sp>
      <p:sp>
        <p:nvSpPr>
          <p:cNvPr id="18" name="Shape 15"/>
          <p:cNvSpPr/>
          <p:nvPr/>
        </p:nvSpPr>
        <p:spPr>
          <a:xfrm>
            <a:off x="7126122" y="4895748"/>
            <a:ext cx="51206" cy="51206"/>
          </a:xfrm>
          <a:prstGeom prst="ellipse">
            <a:avLst/>
          </a:prstGeom>
          <a:solidFill>
            <a:srgbClr val="FFFFFF"/>
          </a:solidFill>
          <a:ln/>
        </p:spPr>
      </p:sp>
      <p:sp>
        <p:nvSpPr>
          <p:cNvPr id="19" name="Text 16"/>
          <p:cNvSpPr/>
          <p:nvPr/>
        </p:nvSpPr>
        <p:spPr>
          <a:xfrm>
            <a:off x="7692644" y="3194101"/>
            <a:ext cx="2094992" cy="632358"/>
          </a:xfrm>
          <a:prstGeom prst="roundRect">
            <a:avLst>
              <a:gd name="adj" fmla="val 13014"/>
            </a:avLst>
          </a:prstGeom>
          <a:solidFill>
            <a:srgbClr val="FFFFFF"/>
          </a:solidFill>
          <a:ln/>
          <a:effectLst>
            <a:outerShdw sx="100000" sy="100000" kx="0" ky="0" algn="bl" rotWithShape="0" blurRad="114300" dist="38100" dir="5400000">
              <a:srgbClr val="8A8F98">
                <a:alpha val="30000"/>
              </a:srgbClr>
            </a:outerShdw>
          </a:effectLst>
        </p:spPr>
        <p:txBody>
          <a:bodyPr wrap="square" lIns="889" tIns="889" rIns="889" bIns="889" rtlCol="0" anchor="ctr"/>
          <a:lstStyle/>
          <a:p>
            <a:pPr algn="l" indent="0" marL="0">
              <a:lnSpc>
                <a:spcPct val="104000"/>
              </a:lnSpc>
              <a:buNone/>
            </a:pPr>
            <a:r>
              <a:rPr lang="en-US" sz="1050" dirty="0">
                <a:solidFill>
                  <a:srgbClr val="1F2937"/>
                </a:solidFill>
                <a:latin typeface="Calibri" pitchFamily="34" charset="0"/>
                <a:ea typeface="Calibri" pitchFamily="34" charset="-122"/>
                <a:cs typeface="Calibri" pitchFamily="34" charset="-120"/>
              </a:rPr>
              <a:t>It ends in an action: export, or open the full analysis.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noFill/>
          <a:ln/>
        </p:spPr>
        <p:txBody>
          <a:bodyPr wrap="square" lIns="0" tIns="0" rIns="0" bIns="0" rtlCol="0" anchor="ctr"/>
          <a:lstStyle/>
          <a:p>
            <a:pPr indent="0" marL="0">
              <a:buNone/>
            </a:pPr>
            <a:r>
              <a:rPr lang="en-US" sz="2400" b="1" dirty="0">
                <a:solidFill>
                  <a:srgbClr val="1F2937"/>
                </a:solidFill>
                <a:latin typeface="Calibri" pitchFamily="34" charset="0"/>
                <a:ea typeface="Calibri" pitchFamily="34" charset="-122"/>
                <a:cs typeface="Calibri" pitchFamily="34" charset="-120"/>
              </a:rPr>
              <a:t>Depth 3 · Example</a:t>
            </a:r>
            <a:endParaRPr lang="en-US" sz="2400" dirty="0"/>
          </a:p>
        </p:txBody>
      </p:sp>
      <p:pic>
        <p:nvPicPr>
          <p:cNvPr id="3" name="Image 0" descr="/home/user/adafsa-mockup/presentation/assets/new/alt3-farm-dossier.jpg">    </p:cNvPr>
          <p:cNvPicPr>
            <a:picLocks noChangeAspect="1"/>
          </p:cNvPicPr>
          <p:nvPr/>
        </p:nvPicPr>
        <p:blipFill>
          <a:blip r:embed="rId1"/>
          <a:stretch>
            <a:fillRect/>
          </a:stretch>
        </p:blipFill>
        <p:spPr>
          <a:xfrm>
            <a:off x="457200" y="1391602"/>
            <a:ext cx="8138160" cy="4577715"/>
          </a:xfrm>
          <a:prstGeom prst="rect">
            <a:avLst/>
          </a:prstGeom>
        </p:spPr>
      </p:pic>
      <p:sp>
        <p:nvSpPr>
          <p:cNvPr id="4" name="Shape 1"/>
          <p:cNvSpPr/>
          <p:nvPr/>
        </p:nvSpPr>
        <p:spPr>
          <a:xfrm flipH="1">
            <a:off x="7618781" y="1783080"/>
            <a:ext cx="1388059" cy="203625"/>
          </a:xfrm>
          <a:prstGeom prst="line">
            <a:avLst/>
          </a:prstGeom>
          <a:noFill/>
          <a:ln w="12700">
            <a:solidFill>
              <a:srgbClr val="AEB4BC"/>
            </a:solidFill>
            <a:prstDash val="solid"/>
          </a:ln>
        </p:spPr>
      </p:sp>
      <p:sp>
        <p:nvSpPr>
          <p:cNvPr id="5" name="Shape 2"/>
          <p:cNvSpPr/>
          <p:nvPr/>
        </p:nvSpPr>
        <p:spPr>
          <a:xfrm>
            <a:off x="7554773" y="1922697"/>
            <a:ext cx="128016" cy="128016"/>
          </a:xfrm>
          <a:prstGeom prst="ellipse">
            <a:avLst/>
          </a:prstGeom>
          <a:solidFill>
            <a:srgbClr val="166534"/>
          </a:solidFill>
          <a:ln/>
        </p:spPr>
      </p:sp>
      <p:sp>
        <p:nvSpPr>
          <p:cNvPr id="6" name="Shape 3"/>
          <p:cNvSpPr/>
          <p:nvPr/>
        </p:nvSpPr>
        <p:spPr>
          <a:xfrm>
            <a:off x="7593178" y="1961102"/>
            <a:ext cx="51206" cy="51206"/>
          </a:xfrm>
          <a:prstGeom prst="ellipse">
            <a:avLst/>
          </a:prstGeom>
          <a:solidFill>
            <a:srgbClr val="FFFFFF"/>
          </a:solidFill>
          <a:ln/>
        </p:spPr>
      </p:sp>
      <p:sp>
        <p:nvSpPr>
          <p:cNvPr id="7" name="Text 4"/>
          <p:cNvSpPr/>
          <p:nvPr/>
        </p:nvSpPr>
        <p:spPr>
          <a:xfrm>
            <a:off x="9006840" y="1463040"/>
            <a:ext cx="2743200" cy="640080"/>
          </a:xfrm>
          <a:prstGeom prst="roundRect">
            <a:avLst>
              <a:gd name="adj" fmla="val 12857"/>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The conclusion, in one sentence.</a:t>
            </a:r>
            <a:endParaRPr lang="en-US" sz="1200" dirty="0"/>
          </a:p>
        </p:txBody>
      </p:sp>
      <p:sp>
        <p:nvSpPr>
          <p:cNvPr id="8" name="Shape 5"/>
          <p:cNvSpPr/>
          <p:nvPr/>
        </p:nvSpPr>
        <p:spPr>
          <a:xfrm flipH="1" flipV="1">
            <a:off x="7618781" y="3131134"/>
            <a:ext cx="1388059" cy="114986"/>
          </a:xfrm>
          <a:prstGeom prst="line">
            <a:avLst/>
          </a:prstGeom>
          <a:noFill/>
          <a:ln w="12700">
            <a:solidFill>
              <a:srgbClr val="AEB4BC"/>
            </a:solidFill>
            <a:prstDash val="solid"/>
          </a:ln>
        </p:spPr>
      </p:sp>
      <p:sp>
        <p:nvSpPr>
          <p:cNvPr id="9" name="Shape 6"/>
          <p:cNvSpPr/>
          <p:nvPr/>
        </p:nvSpPr>
        <p:spPr>
          <a:xfrm>
            <a:off x="7554773" y="3067126"/>
            <a:ext cx="128016" cy="128016"/>
          </a:xfrm>
          <a:prstGeom prst="ellipse">
            <a:avLst/>
          </a:prstGeom>
          <a:solidFill>
            <a:srgbClr val="166534"/>
          </a:solidFill>
          <a:ln/>
        </p:spPr>
      </p:sp>
      <p:sp>
        <p:nvSpPr>
          <p:cNvPr id="10" name="Shape 7"/>
          <p:cNvSpPr/>
          <p:nvPr/>
        </p:nvSpPr>
        <p:spPr>
          <a:xfrm>
            <a:off x="7593178" y="3105531"/>
            <a:ext cx="51206" cy="51206"/>
          </a:xfrm>
          <a:prstGeom prst="ellipse">
            <a:avLst/>
          </a:prstGeom>
          <a:solidFill>
            <a:srgbClr val="FFFFFF"/>
          </a:solidFill>
          <a:ln/>
        </p:spPr>
      </p:sp>
      <p:sp>
        <p:nvSpPr>
          <p:cNvPr id="11" name="Text 8"/>
          <p:cNvSpPr/>
          <p:nvPr/>
        </p:nvSpPr>
        <p:spPr>
          <a:xfrm>
            <a:off x="9006840" y="2926080"/>
            <a:ext cx="2743200" cy="640080"/>
          </a:xfrm>
          <a:prstGeom prst="roundRect">
            <a:avLst>
              <a:gd name="adj" fmla="val 12857"/>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All six modules, for this one farm.</a:t>
            </a:r>
            <a:endParaRPr lang="en-US" sz="1200" dirty="0"/>
          </a:p>
        </p:txBody>
      </p:sp>
      <p:sp>
        <p:nvSpPr>
          <p:cNvPr id="12" name="Shape 9"/>
          <p:cNvSpPr/>
          <p:nvPr/>
        </p:nvSpPr>
        <p:spPr>
          <a:xfrm flipH="1">
            <a:off x="7618781" y="4800600"/>
            <a:ext cx="1388059" cy="527837"/>
          </a:xfrm>
          <a:prstGeom prst="line">
            <a:avLst/>
          </a:prstGeom>
          <a:noFill/>
          <a:ln w="12700">
            <a:solidFill>
              <a:srgbClr val="AEB4BC"/>
            </a:solidFill>
            <a:prstDash val="solid"/>
          </a:ln>
        </p:spPr>
      </p:sp>
      <p:sp>
        <p:nvSpPr>
          <p:cNvPr id="13" name="Shape 10"/>
          <p:cNvSpPr/>
          <p:nvPr/>
        </p:nvSpPr>
        <p:spPr>
          <a:xfrm>
            <a:off x="7554773" y="5264429"/>
            <a:ext cx="128016" cy="128016"/>
          </a:xfrm>
          <a:prstGeom prst="ellipse">
            <a:avLst/>
          </a:prstGeom>
          <a:solidFill>
            <a:srgbClr val="166534"/>
          </a:solidFill>
          <a:ln/>
        </p:spPr>
      </p:sp>
      <p:sp>
        <p:nvSpPr>
          <p:cNvPr id="14" name="Shape 11"/>
          <p:cNvSpPr/>
          <p:nvPr/>
        </p:nvSpPr>
        <p:spPr>
          <a:xfrm>
            <a:off x="7593178" y="5302834"/>
            <a:ext cx="51206" cy="51206"/>
          </a:xfrm>
          <a:prstGeom prst="ellipse">
            <a:avLst/>
          </a:prstGeom>
          <a:solidFill>
            <a:srgbClr val="FFFFFF"/>
          </a:solidFill>
          <a:ln/>
        </p:spPr>
      </p:sp>
      <p:sp>
        <p:nvSpPr>
          <p:cNvPr id="15" name="Text 12"/>
          <p:cNvSpPr/>
          <p:nvPr/>
        </p:nvSpPr>
        <p:spPr>
          <a:xfrm>
            <a:off x="9006840" y="4480560"/>
            <a:ext cx="2743200" cy="640080"/>
          </a:xfrm>
          <a:prstGeom prst="roundRect">
            <a:avLst>
              <a:gd name="adj" fmla="val 12857"/>
            </a:avLst>
          </a:prstGeom>
          <a:solidFill>
            <a:srgbClr val="FFFFFF"/>
          </a:solidFill>
          <a:ln/>
          <a:effectLst>
            <a:outerShdw sx="100000" sy="100000" kx="0" ky="0" algn="bl" rotWithShape="0" blurRad="114300" dist="38100" dir="5400000">
              <a:srgbClr val="8A8F98">
                <a:alpha val="30000"/>
              </a:srgbClr>
            </a:outerShdw>
          </a:effectLst>
        </p:spPr>
        <p:txBody>
          <a:bodyPr wrap="square" lIns="1524" tIns="1524" rIns="1524" bIns="1524" rtlCol="0" anchor="ctr"/>
          <a:lstStyle/>
          <a:p>
            <a:pPr algn="l" indent="0" marL="0">
              <a:lnSpc>
                <a:spcPct val="104000"/>
              </a:lnSpc>
              <a:buNone/>
            </a:pPr>
            <a:r>
              <a:rPr lang="en-US" sz="1200" dirty="0">
                <a:solidFill>
                  <a:srgbClr val="1F2937"/>
                </a:solidFill>
                <a:latin typeface="Calibri" pitchFamily="34" charset="0"/>
                <a:ea typeface="Calibri" pitchFamily="34" charset="-122"/>
                <a:cs typeface="Calibri" pitchFamily="34" charset="-120"/>
              </a:rPr>
              <a:t>It ends with something to do.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Farm dashboard redesign</dc:title>
  <dc:subject>PptxGenJS Presentation</dc:subject>
  <dc:creator>Wafra design team</dc:creator>
  <cp:lastModifiedBy>Wafra design team</cp:lastModifiedBy>
  <cp:revision>1</cp:revision>
  <dcterms:created xsi:type="dcterms:W3CDTF">2026-07-23T13:14:32Z</dcterms:created>
  <dcterms:modified xsi:type="dcterms:W3CDTF">2026-07-23T13:14:32Z</dcterms:modified>
</cp:coreProperties>
</file>