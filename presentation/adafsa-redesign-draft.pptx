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romainbigare.github.io/adafsa-mockup/#/overview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adafsa-mockup/presentation/assets/new/alt1-situati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12">
              <a:alpha val="78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777240" y="640080"/>
            <a:ext cx="22860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</p:spPr>
      </p:sp>
      <p:pic>
        <p:nvPicPr>
          <p:cNvPr id="5" name="Image 1" descr="/home/user/adafsa-mockup/presentation/assets/brand/wafra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786384"/>
            <a:ext cx="1920240" cy="57607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22960" y="260604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ADAFSA Platform - UX / UI Review</a:t>
            </a:r>
            <a:endParaRPr lang="en-US" sz="3800" dirty="0"/>
          </a:p>
        </p:txBody>
      </p:sp>
      <p:sp>
        <p:nvSpPr>
          <p:cNvPr id="7" name="Text 3"/>
          <p:cNvSpPr/>
          <p:nvPr/>
        </p:nvSpPr>
        <p:spPr>
          <a:xfrm>
            <a:off x="822960" y="3520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CE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 the platform for six analysis modules.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822960" y="6126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of Current Solution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Confusing navigation</a:t>
            </a:r>
            <a:endParaRPr lang="en-US" sz="1500" dirty="0"/>
          </a:p>
        </p:txBody>
      </p:sp>
      <p:pic>
        <p:nvPicPr>
          <p:cNvPr id="4" name="Image 0" descr="/home/user/adafsa-mockup/presentation/assets/current/current-app-nav-focu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9710" y="1234440"/>
            <a:ext cx="9062099" cy="5029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585959" y="1335024"/>
            <a:ext cx="1286818" cy="4828032"/>
          </a:xfrm>
          <a:prstGeom prst="roundRect">
            <a:avLst>
              <a:gd name="adj" fmla="val 1421"/>
            </a:avLst>
          </a:prstGeom>
          <a:ln w="22225">
            <a:solidFill>
              <a:srgbClr val="4F6FD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H="1">
            <a:off x="2048126" y="2148840"/>
            <a:ext cx="832234" cy="91440"/>
          </a:xfrm>
          <a:prstGeom prst="line">
            <a:avLst/>
          </a:prstGeom>
          <a:noFill/>
          <a:ln w="12700">
            <a:solidFill>
              <a:srgbClr val="AEB4B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984118" y="2176272"/>
            <a:ext cx="128016" cy="128016"/>
          </a:xfrm>
          <a:prstGeom prst="ellipse">
            <a:avLst/>
          </a:prstGeom>
          <a:solidFill>
            <a:srgbClr val="166534"/>
          </a:solidFill>
          <a:ln/>
        </p:spPr>
      </p:sp>
      <p:sp>
        <p:nvSpPr>
          <p:cNvPr id="8" name="Shape 5"/>
          <p:cNvSpPr/>
          <p:nvPr/>
        </p:nvSpPr>
        <p:spPr>
          <a:xfrm>
            <a:off x="2022523" y="2214677"/>
            <a:ext cx="51206" cy="5120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2880360" y="1600200"/>
            <a:ext cx="35661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AE6"/>
            </a:solidFill>
          </a:ln>
          <a:effectLst>
            <a:outerShdw sx="100000" sy="100000" kx="0" ky="0" algn="bl" rotWithShape="0" blurRad="101600" dist="25400" dir="5400000">
              <a:srgbClr val="8A8F98">
                <a:alpha val="22000"/>
              </a:srgbClr>
            </a:outerShdw>
          </a:effectLst>
        </p:spPr>
        <p:txBody>
          <a:bodyPr wrap="square" lIns="1143" tIns="1143" rIns="1143" bIns="1143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Farms, Farm Monitoring, Enterprise Information. The navigation and categories are not clear yet. They could also do more to follow a natural user behaviour.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 flipH="1" flipV="1">
            <a:off x="1957505" y="3396996"/>
            <a:ext cx="922855" cy="329184"/>
          </a:xfrm>
          <a:prstGeom prst="line">
            <a:avLst/>
          </a:prstGeom>
          <a:noFill/>
          <a:ln w="12700">
            <a:solidFill>
              <a:srgbClr val="AEB4B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893497" y="3332988"/>
            <a:ext cx="128016" cy="128016"/>
          </a:xfrm>
          <a:prstGeom prst="ellipse">
            <a:avLst/>
          </a:prstGeom>
          <a:solidFill>
            <a:srgbClr val="166534"/>
          </a:solidFill>
          <a:ln/>
        </p:spPr>
      </p:sp>
      <p:sp>
        <p:nvSpPr>
          <p:cNvPr id="12" name="Shape 9"/>
          <p:cNvSpPr/>
          <p:nvPr/>
        </p:nvSpPr>
        <p:spPr>
          <a:xfrm>
            <a:off x="1931902" y="3371393"/>
            <a:ext cx="51206" cy="5120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2880360" y="3246120"/>
            <a:ext cx="35661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8EAE6"/>
            </a:solidFill>
          </a:ln>
          <a:effectLst>
            <a:outerShdw sx="100000" sy="100000" kx="0" ky="0" algn="bl" rotWithShape="0" blurRad="101600" dist="25400" dir="5400000">
              <a:srgbClr val="8A8F98">
                <a:alpha val="22000"/>
              </a:srgbClr>
            </a:outerShdw>
          </a:effectLst>
        </p:spPr>
        <p:txBody>
          <a:bodyPr wrap="square" lIns="1143" tIns="1143" rIns="1143" bIns="1143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of the ten entries are support and settings. Half the menu is about the tool, not the farms. This needs to be reduced.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 flipH="1" flipV="1">
            <a:off x="2093436" y="5257800"/>
            <a:ext cx="786924" cy="45720"/>
          </a:xfrm>
          <a:prstGeom prst="line">
            <a:avLst/>
          </a:prstGeom>
          <a:noFill/>
          <a:ln w="12700">
            <a:solidFill>
              <a:srgbClr val="AEB4B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029428" y="5193792"/>
            <a:ext cx="128016" cy="128016"/>
          </a:xfrm>
          <a:prstGeom prst="ellipse">
            <a:avLst/>
          </a:prstGeom>
          <a:solidFill>
            <a:srgbClr val="166534"/>
          </a:solidFill>
          <a:ln/>
        </p:spPr>
      </p:sp>
      <p:sp>
        <p:nvSpPr>
          <p:cNvPr id="16" name="Shape 13"/>
          <p:cNvSpPr/>
          <p:nvPr/>
        </p:nvSpPr>
        <p:spPr>
          <a:xfrm>
            <a:off x="2067833" y="5232197"/>
            <a:ext cx="51206" cy="5120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Text 14"/>
          <p:cNvSpPr/>
          <p:nvPr/>
        </p:nvSpPr>
        <p:spPr>
          <a:xfrm>
            <a:off x="2880360" y="4846320"/>
            <a:ext cx="35661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8EAE6"/>
            </a:solidFill>
          </a:ln>
          <a:effectLst>
            <a:outerShdw sx="100000" sy="100000" kx="0" ky="0" algn="bl" rotWithShape="0" blurRad="101600" dist="25400" dir="5400000">
              <a:srgbClr val="8A8F98">
                <a:alpha val="22000"/>
              </a:srgbClr>
            </a:outerShdw>
          </a:effectLst>
        </p:spPr>
        <p:txBody>
          <a:bodyPr wrap="square" lIns="1143" tIns="1143" rIns="1143" bIns="1143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six analyses the client is buying appear nowhere here. This will need to be integrated in a mindful way.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1143000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of Current Solution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morphology - very low density of information</a:t>
            </a:r>
            <a:endParaRPr lang="en-US" sz="1500" dirty="0"/>
          </a:p>
        </p:txBody>
      </p:sp>
      <p:pic>
        <p:nvPicPr>
          <p:cNvPr id="4" name="Image 0" descr="/home/user/adafsa-mockup/presentation/assets/current/current-app-overview-ma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1399380"/>
            <a:ext cx="8138160" cy="451644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344772" y="1489708"/>
            <a:ext cx="6982541" cy="4335783"/>
          </a:xfrm>
          <a:prstGeom prst="roundRect">
            <a:avLst>
              <a:gd name="adj" fmla="val 422"/>
            </a:avLst>
          </a:prstGeom>
          <a:ln w="22225">
            <a:solidFill>
              <a:srgbClr val="4F6FD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3017520" y="2257503"/>
            <a:ext cx="1978304" cy="142797"/>
          </a:xfrm>
          <a:prstGeom prst="line">
            <a:avLst/>
          </a:prstGeom>
          <a:noFill/>
          <a:ln w="12700">
            <a:solidFill>
              <a:srgbClr val="AEB4B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931816" y="2193495"/>
            <a:ext cx="128016" cy="128016"/>
          </a:xfrm>
          <a:prstGeom prst="ellipse">
            <a:avLst/>
          </a:prstGeom>
          <a:solidFill>
            <a:srgbClr val="166534"/>
          </a:solidFill>
          <a:ln/>
        </p:spPr>
      </p:sp>
      <p:sp>
        <p:nvSpPr>
          <p:cNvPr id="8" name="Shape 5"/>
          <p:cNvSpPr/>
          <p:nvPr/>
        </p:nvSpPr>
        <p:spPr>
          <a:xfrm>
            <a:off x="4970221" y="2231900"/>
            <a:ext cx="51206" cy="5120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365760" y="1783080"/>
            <a:ext cx="265176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8EAE6"/>
            </a:solidFill>
          </a:ln>
          <a:effectLst>
            <a:outerShdw sx="100000" sy="100000" kx="0" ky="0" algn="bl" rotWithShape="0" blurRad="101600" dist="25400" dir="5400000">
              <a:srgbClr val="8A8F98">
                <a:alpha val="22000"/>
              </a:srgbClr>
            </a:outerShdw>
          </a:effectLst>
        </p:spPr>
        <p:txBody>
          <a:bodyPr wrap="square" lIns="1143" tIns="1143" rIns="1143" bIns="1143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switches. No information is shown on the map by default. Why High Res Image is in that list ? What's the difference between Tree Type and Single Farm Tree Type ?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 flipV="1">
            <a:off x="3017520" y="3883422"/>
            <a:ext cx="2670048" cy="71358"/>
          </a:xfrm>
          <a:prstGeom prst="line">
            <a:avLst/>
          </a:prstGeom>
          <a:noFill/>
          <a:ln w="12700">
            <a:solidFill>
              <a:srgbClr val="AEB4B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623560" y="3819414"/>
            <a:ext cx="128016" cy="128016"/>
          </a:xfrm>
          <a:prstGeom prst="ellipse">
            <a:avLst/>
          </a:prstGeom>
          <a:solidFill>
            <a:srgbClr val="166534"/>
          </a:solidFill>
          <a:ln/>
        </p:spPr>
      </p:sp>
      <p:sp>
        <p:nvSpPr>
          <p:cNvPr id="12" name="Shape 9"/>
          <p:cNvSpPr/>
          <p:nvPr/>
        </p:nvSpPr>
        <p:spPr>
          <a:xfrm>
            <a:off x="5661965" y="3857819"/>
            <a:ext cx="51206" cy="5120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3429000"/>
            <a:ext cx="25146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8EAE6"/>
            </a:solidFill>
          </a:ln>
          <a:effectLst>
            <a:outerShdw sx="100000" sy="100000" kx="0" ky="0" algn="bl" rotWithShape="0" blurRad="101600" dist="25400" dir="5400000">
              <a:srgbClr val="8A8F98">
                <a:alpha val="22000"/>
              </a:srgbClr>
            </a:outerShdw>
          </a:effectLst>
        </p:spPr>
        <p:txBody>
          <a:bodyPr wrap="square" lIns="1143" tIns="1143" rIns="1143" bIns="1143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counters count the inventory. They never say whether things are fine. Little information is shown for a large area taken.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 flipV="1">
            <a:off x="3383280" y="5012532"/>
            <a:ext cx="1897380" cy="1022508"/>
          </a:xfrm>
          <a:prstGeom prst="line">
            <a:avLst/>
          </a:prstGeom>
          <a:noFill/>
          <a:ln w="12700">
            <a:solidFill>
              <a:srgbClr val="AEB4B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216652" y="4948524"/>
            <a:ext cx="128016" cy="128016"/>
          </a:xfrm>
          <a:prstGeom prst="ellipse">
            <a:avLst/>
          </a:prstGeom>
          <a:solidFill>
            <a:srgbClr val="166534"/>
          </a:solidFill>
          <a:ln/>
        </p:spPr>
      </p:sp>
      <p:sp>
        <p:nvSpPr>
          <p:cNvPr id="16" name="Shape 13"/>
          <p:cNvSpPr/>
          <p:nvPr/>
        </p:nvSpPr>
        <p:spPr>
          <a:xfrm>
            <a:off x="5255057" y="4986929"/>
            <a:ext cx="51206" cy="5120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Text 14"/>
          <p:cNvSpPr/>
          <p:nvPr/>
        </p:nvSpPr>
        <p:spPr>
          <a:xfrm>
            <a:off x="1371600" y="6035040"/>
            <a:ext cx="402336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AE6"/>
            </a:solidFill>
          </a:ln>
          <a:effectLst>
            <a:outerShdw sx="100000" sy="100000" kx="0" ky="0" algn="bl" rotWithShape="0" blurRad="101600" dist="25400" dir="5400000">
              <a:srgbClr val="8A8F98">
                <a:alpha val="22000"/>
              </a:srgbClr>
            </a:outerShdw>
          </a:effectLst>
        </p:spPr>
        <p:txBody>
          <a:bodyPr wrap="square" lIns="1143" tIns="1143" rIns="1143" bIns="1143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 by category. No ranking, no sense of what is being monitored or how well we are doing.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 flipH="1">
            <a:off x="8129016" y="1508760"/>
            <a:ext cx="2112264" cy="613250"/>
          </a:xfrm>
          <a:prstGeom prst="line">
            <a:avLst/>
          </a:prstGeom>
          <a:noFill/>
          <a:ln w="12700">
            <a:solidFill>
              <a:srgbClr val="AEB4B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065008" y="2058002"/>
            <a:ext cx="128016" cy="128016"/>
          </a:xfrm>
          <a:prstGeom prst="ellipse">
            <a:avLst/>
          </a:prstGeom>
          <a:solidFill>
            <a:srgbClr val="166534"/>
          </a:solidFill>
          <a:ln/>
        </p:spPr>
      </p:sp>
      <p:sp>
        <p:nvSpPr>
          <p:cNvPr id="20" name="Shape 17"/>
          <p:cNvSpPr/>
          <p:nvPr/>
        </p:nvSpPr>
        <p:spPr>
          <a:xfrm>
            <a:off x="8103413" y="2096407"/>
            <a:ext cx="51206" cy="5120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Text 18"/>
          <p:cNvSpPr/>
          <p:nvPr/>
        </p:nvSpPr>
        <p:spPr>
          <a:xfrm>
            <a:off x="8686800" y="411480"/>
            <a:ext cx="31089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AE6"/>
            </a:solidFill>
          </a:ln>
          <a:effectLst>
            <a:outerShdw sx="100000" sy="100000" kx="0" ky="0" algn="bl" rotWithShape="0" blurRad="101600" dist="25400" dir="5400000">
              <a:srgbClr val="8A8F98">
                <a:alpha val="22000"/>
              </a:srgbClr>
            </a:outerShdw>
          </a:effectLst>
        </p:spPr>
        <p:txBody>
          <a:bodyPr wrap="square" lIns="1143" tIns="1143" rIns="1143" bIns="1143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 only shows farm boundaries, which requires a high level of zoom, appearing empty at landing. We can encode more interesting information on a map.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1143000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: A better use of the navigation pane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the navigation pane into 3 technical levels</a:t>
            </a:r>
            <a:endParaRPr lang="en-US" sz="1500" dirty="0"/>
          </a:p>
        </p:txBody>
      </p:sp>
      <p:pic>
        <p:nvPicPr>
          <p:cNvPr id="4" name="Image 0" descr="/home/user/adafsa-mockup/presentation/assets/diagrams/navfra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7642" y="1463040"/>
            <a:ext cx="4299676" cy="3931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7642" y="5532120"/>
            <a:ext cx="42996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entry in the menu answers at one level.</a:t>
            </a:r>
            <a:endParaRPr lang="en-US" sz="1050" dirty="0"/>
          </a:p>
        </p:txBody>
      </p:sp>
      <p:pic>
        <p:nvPicPr>
          <p:cNvPr id="6" name="Image 1" descr="/home/user/adafsa-mockup/presentation/assets/diagrams/icon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1636776"/>
            <a:ext cx="566928" cy="53949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63640" y="1636776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: The general situation</a:t>
            </a:r>
            <a:endParaRPr lang="en-US" sz="13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Outlining the current situation in the region</a:t>
            </a:r>
            <a:endParaRPr lang="en-US" sz="1350" dirty="0"/>
          </a:p>
        </p:txBody>
      </p:sp>
      <p:sp>
        <p:nvSpPr>
          <p:cNvPr id="8" name="Shape 4"/>
          <p:cNvSpPr/>
          <p:nvPr/>
        </p:nvSpPr>
        <p:spPr>
          <a:xfrm flipV="1">
            <a:off x="1966535" y="1892808"/>
            <a:ext cx="3519865" cy="215067"/>
          </a:xfrm>
          <a:prstGeom prst="line">
            <a:avLst/>
          </a:prstGeom>
          <a:noFill/>
          <a:ln w="12700">
            <a:solidFill>
              <a:srgbClr val="AEB4BC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916243" y="2057583"/>
            <a:ext cx="100584" cy="100584"/>
          </a:xfrm>
          <a:prstGeom prst="ellipse">
            <a:avLst/>
          </a:prstGeom>
          <a:solidFill>
            <a:srgbClr val="166534"/>
          </a:solidFill>
          <a:ln/>
        </p:spPr>
      </p:sp>
      <p:pic>
        <p:nvPicPr>
          <p:cNvPr id="10" name="Image 2" descr="/home/user/adafsa-mockup/presentation/assets/diagrams/icon-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3209544"/>
            <a:ext cx="566928" cy="53949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263640" y="3209544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 : The modules</a:t>
            </a:r>
            <a:endParaRPr lang="en-US" sz="13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Responding to specific questions</a:t>
            </a:r>
            <a:endParaRPr lang="en-US" sz="1350" dirty="0"/>
          </a:p>
        </p:txBody>
      </p:sp>
      <p:sp>
        <p:nvSpPr>
          <p:cNvPr id="12" name="Shape 7"/>
          <p:cNvSpPr/>
          <p:nvPr/>
        </p:nvSpPr>
        <p:spPr>
          <a:xfrm>
            <a:off x="1966535" y="3330702"/>
            <a:ext cx="3519865" cy="134874"/>
          </a:xfrm>
          <a:prstGeom prst="line">
            <a:avLst/>
          </a:prstGeom>
          <a:noFill/>
          <a:ln w="12700">
            <a:solidFill>
              <a:srgbClr val="AEB4BC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1916243" y="3280410"/>
            <a:ext cx="100584" cy="100584"/>
          </a:xfrm>
          <a:prstGeom prst="ellipse">
            <a:avLst/>
          </a:prstGeom>
          <a:solidFill>
            <a:srgbClr val="166534"/>
          </a:solidFill>
          <a:ln/>
        </p:spPr>
      </p:sp>
      <p:pic>
        <p:nvPicPr>
          <p:cNvPr id="14" name="Image 3" descr="/home/user/adafsa-mockup/presentation/assets/diagrams/icon-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4782312"/>
            <a:ext cx="566928" cy="53949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263640" y="478231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: The farm</a:t>
            </a:r>
            <a:endParaRPr lang="en-US" sz="13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what happens on each farm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1966535" y="4447367"/>
            <a:ext cx="3519865" cy="590977"/>
          </a:xfrm>
          <a:prstGeom prst="line">
            <a:avLst/>
          </a:prstGeom>
          <a:noFill/>
          <a:ln w="12700">
            <a:solidFill>
              <a:srgbClr val="AEB4BC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1916243" y="4397075"/>
            <a:ext cx="100584" cy="100584"/>
          </a:xfrm>
          <a:prstGeom prst="ellipse">
            <a:avLst/>
          </a:prstGeom>
          <a:solidFill>
            <a:srgbClr val="166534"/>
          </a:solidFill>
          <a:ln/>
        </p:spPr>
      </p:sp>
      <p:sp>
        <p:nvSpPr>
          <p:cNvPr id="18" name="Text 12"/>
          <p:cNvSpPr/>
          <p:nvPr/>
        </p:nvSpPr>
        <p:spPr>
          <a:xfrm>
            <a:off x="9464040" y="8686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</a:t>
            </a:r>
            <a:endParaRPr lang="en-US" sz="2000" dirty="0"/>
          </a:p>
        </p:txBody>
      </p:sp>
      <p:sp>
        <p:nvSpPr>
          <p:cNvPr id="19" name="Text 13"/>
          <p:cNvSpPr/>
          <p:nvPr/>
        </p:nvSpPr>
        <p:spPr>
          <a:xfrm>
            <a:off x="9921240" y="89611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could look like</a:t>
            </a:r>
            <a:endParaRPr lang="en-US" sz="1300" dirty="0"/>
          </a:p>
        </p:txBody>
      </p:sp>
      <p:pic>
        <p:nvPicPr>
          <p:cNvPr id="20" name="Image 4" descr="/home/user/adafsa-mockup/presentation/assets/new/sidebar-real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61854" y="1371600"/>
            <a:ext cx="1273251" cy="475488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143000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: A thoughtful layout for each level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Maximising information per pixel and attention span</a:t>
            </a:r>
            <a:endParaRPr lang="en-US" sz="1500" dirty="0"/>
          </a:p>
        </p:txBody>
      </p:sp>
      <p:pic>
        <p:nvPicPr>
          <p:cNvPr id="4" name="Image 0" descr="/home/user/adafsa-mockup/presentation/assets/diagrams/navfra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744888"/>
            <a:ext cx="3383280" cy="3093905"/>
          </a:xfrm>
          <a:prstGeom prst="rect">
            <a:avLst/>
          </a:prstGeom>
        </p:spPr>
      </p:pic>
      <p:pic>
        <p:nvPicPr>
          <p:cNvPr id="5" name="Image 1" descr="/home/user/adafsa-mockup/presentation/assets/diagrams/icon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417320"/>
            <a:ext cx="530352" cy="5029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977640" y="19476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5440680" y="1399032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Composite health metric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Composite health heat map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Summary card for all 6 modules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 flipV="1">
            <a:off x="1436522" y="1673352"/>
            <a:ext cx="2861158" cy="578936"/>
          </a:xfrm>
          <a:prstGeom prst="line">
            <a:avLst/>
          </a:prstGeom>
          <a:noFill/>
          <a:ln w="12700">
            <a:solidFill>
              <a:srgbClr val="AEB4BC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386230" y="2201996"/>
            <a:ext cx="100584" cy="100584"/>
          </a:xfrm>
          <a:prstGeom prst="ellipse">
            <a:avLst/>
          </a:prstGeom>
          <a:solidFill>
            <a:srgbClr val="166534"/>
          </a:solidFill>
          <a:ln/>
        </p:spPr>
      </p:sp>
      <p:pic>
        <p:nvPicPr>
          <p:cNvPr id="10" name="Image 2" descr="/home/user/adafsa-mockup/presentation/assets/diagrams/mini-overvie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1252728"/>
            <a:ext cx="1554480" cy="1554480"/>
          </a:xfrm>
          <a:prstGeom prst="rect">
            <a:avLst/>
          </a:prstGeom>
        </p:spPr>
      </p:pic>
      <p:pic>
        <p:nvPicPr>
          <p:cNvPr id="11" name="Image 3" descr="/home/user/adafsa-mockup/presentation/assets/diagrams/icon-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3108960"/>
            <a:ext cx="530352" cy="50292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977640" y="36393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module</a:t>
            </a:r>
            <a:endParaRPr lang="en-US" sz="1150" dirty="0"/>
          </a:p>
        </p:txBody>
      </p:sp>
      <p:sp>
        <p:nvSpPr>
          <p:cNvPr id="13" name="Text 7"/>
          <p:cNvSpPr/>
          <p:nvPr/>
        </p:nvSpPr>
        <p:spPr>
          <a:xfrm>
            <a:off x="5440680" y="3090672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Per module summary scores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Per module health map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Per module ranked table of farms</a:t>
            </a:r>
            <a:endParaRPr lang="en-US" sz="1200" dirty="0"/>
          </a:p>
        </p:txBody>
      </p:sp>
      <p:sp>
        <p:nvSpPr>
          <p:cNvPr id="14" name="Shape 8"/>
          <p:cNvSpPr/>
          <p:nvPr/>
        </p:nvSpPr>
        <p:spPr>
          <a:xfrm>
            <a:off x="1436522" y="3214492"/>
            <a:ext cx="2861158" cy="150500"/>
          </a:xfrm>
          <a:prstGeom prst="line">
            <a:avLst/>
          </a:prstGeom>
          <a:noFill/>
          <a:ln w="12700">
            <a:solidFill>
              <a:srgbClr val="AEB4BC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1386230" y="3164200"/>
            <a:ext cx="100584" cy="100584"/>
          </a:xfrm>
          <a:prstGeom prst="ellipse">
            <a:avLst/>
          </a:prstGeom>
          <a:solidFill>
            <a:srgbClr val="166534"/>
          </a:solidFill>
          <a:ln/>
        </p:spPr>
      </p:sp>
      <p:pic>
        <p:nvPicPr>
          <p:cNvPr id="16" name="Image 4" descr="/home/user/adafsa-mockup/presentation/assets/diagrams/mini-modu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0" y="2944368"/>
            <a:ext cx="1554480" cy="1554480"/>
          </a:xfrm>
          <a:prstGeom prst="rect">
            <a:avLst/>
          </a:prstGeom>
        </p:spPr>
      </p:pic>
      <p:pic>
        <p:nvPicPr>
          <p:cNvPr id="17" name="Image 5" descr="/home/user/adafsa-mockup/presentation/assets/diagrams/icon-3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3400" y="4800600"/>
            <a:ext cx="530352" cy="50292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3977640" y="5330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Analysis</a:t>
            </a:r>
            <a:endParaRPr lang="en-US" sz="1150" dirty="0"/>
          </a:p>
        </p:txBody>
      </p:sp>
      <p:sp>
        <p:nvSpPr>
          <p:cNvPr id="19" name="Text 11"/>
          <p:cNvSpPr/>
          <p:nvPr/>
        </p:nvSpPr>
        <p:spPr>
          <a:xfrm>
            <a:off x="5440680" y="4782312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Per farm scores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Per farm analytics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Per farm suggestions</a:t>
            </a:r>
            <a:endParaRPr lang="en-US" sz="1200" dirty="0"/>
          </a:p>
        </p:txBody>
      </p:sp>
      <p:sp>
        <p:nvSpPr>
          <p:cNvPr id="20" name="Shape 12"/>
          <p:cNvSpPr/>
          <p:nvPr/>
        </p:nvSpPr>
        <p:spPr>
          <a:xfrm>
            <a:off x="1436522" y="4093161"/>
            <a:ext cx="2861158" cy="963471"/>
          </a:xfrm>
          <a:prstGeom prst="line">
            <a:avLst/>
          </a:prstGeom>
          <a:noFill/>
          <a:ln w="12700">
            <a:solidFill>
              <a:srgbClr val="AEB4BC"/>
            </a:solidFill>
            <a:prstDash val="solid"/>
          </a:ln>
        </p:spPr>
      </p:sp>
      <p:sp>
        <p:nvSpPr>
          <p:cNvPr id="21" name="Shape 13"/>
          <p:cNvSpPr/>
          <p:nvPr/>
        </p:nvSpPr>
        <p:spPr>
          <a:xfrm>
            <a:off x="1386230" y="4042869"/>
            <a:ext cx="100584" cy="100584"/>
          </a:xfrm>
          <a:prstGeom prst="ellipse">
            <a:avLst/>
          </a:prstGeom>
          <a:solidFill>
            <a:srgbClr val="166534"/>
          </a:solidFill>
          <a:ln/>
        </p:spPr>
      </p:sp>
      <p:pic>
        <p:nvPicPr>
          <p:cNvPr id="22" name="Image 6" descr="/home/user/adafsa-mockup/presentation/assets/diagrams/mini-farm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69680" y="4636008"/>
            <a:ext cx="1554480" cy="155448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1143000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layout : Overview page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composite health metric on the map, 6 verdict cards for the 6 modules</a:t>
            </a:r>
            <a:endParaRPr lang="en-US" sz="1500" dirty="0"/>
          </a:p>
        </p:txBody>
      </p:sp>
      <p:pic>
        <p:nvPicPr>
          <p:cNvPr id="4" name="Image 0" descr="/home/user/adafsa-mockup/presentation/assets/new/alt1-situati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4462"/>
            <a:ext cx="8138160" cy="457771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 flipH="1">
            <a:off x="2451049" y="1805940"/>
            <a:ext cx="6327191" cy="226514"/>
          </a:xfrm>
          <a:prstGeom prst="line">
            <a:avLst/>
          </a:prstGeom>
          <a:noFill/>
          <a:ln w="12700">
            <a:solidFill>
              <a:srgbClr val="AEB4B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387041" y="1968446"/>
            <a:ext cx="128016" cy="128016"/>
          </a:xfrm>
          <a:prstGeom prst="ellipse">
            <a:avLst/>
          </a:prstGeom>
          <a:solidFill>
            <a:srgbClr val="166534"/>
          </a:solidFill>
          <a:ln/>
        </p:spPr>
      </p:sp>
      <p:sp>
        <p:nvSpPr>
          <p:cNvPr id="7" name="Shape 4"/>
          <p:cNvSpPr/>
          <p:nvPr/>
        </p:nvSpPr>
        <p:spPr>
          <a:xfrm>
            <a:off x="2425446" y="2006851"/>
            <a:ext cx="51206" cy="5120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8778240" y="1463040"/>
            <a:ext cx="30632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AE6"/>
            </a:solidFill>
          </a:ln>
          <a:effectLst>
            <a:outerShdw sx="100000" sy="100000" kx="0" ky="0" algn="bl" rotWithShape="0" blurRad="101600" dist="25400" dir="5400000">
              <a:srgbClr val="8A8F98">
                <a:alpha val="22000"/>
              </a:srgbClr>
            </a:outerShdw>
          </a:effectLst>
        </p:spPr>
        <p:txBody>
          <a:bodyPr wrap="square" lIns="1143" tIns="1143" rIns="1143" bIns="1143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region's numbers and a composite health metric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 flipH="1">
            <a:off x="6316675" y="2720340"/>
            <a:ext cx="2461565" cy="67437"/>
          </a:xfrm>
          <a:prstGeom prst="line">
            <a:avLst/>
          </a:prstGeom>
          <a:noFill/>
          <a:ln w="12700">
            <a:solidFill>
              <a:srgbClr val="AEB4B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252667" y="2723769"/>
            <a:ext cx="128016" cy="128016"/>
          </a:xfrm>
          <a:prstGeom prst="ellipse">
            <a:avLst/>
          </a:prstGeom>
          <a:solidFill>
            <a:srgbClr val="166534"/>
          </a:solidFill>
          <a:ln/>
        </p:spPr>
      </p:sp>
      <p:sp>
        <p:nvSpPr>
          <p:cNvPr id="11" name="Shape 8"/>
          <p:cNvSpPr/>
          <p:nvPr/>
        </p:nvSpPr>
        <p:spPr>
          <a:xfrm>
            <a:off x="6291072" y="2762174"/>
            <a:ext cx="51206" cy="5120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8778240" y="2377440"/>
            <a:ext cx="30632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AE6"/>
            </a:solidFill>
          </a:ln>
          <a:effectLst>
            <a:outerShdw sx="100000" sy="100000" kx="0" ky="0" algn="bl" rotWithShape="0" blurRad="101600" dist="25400" dir="5400000">
              <a:srgbClr val="8A8F98">
                <a:alpha val="22000"/>
              </a:srgbClr>
            </a:outerShdw>
          </a:effectLst>
        </p:spPr>
        <p:txBody>
          <a:bodyPr wrap="square" lIns="1143" tIns="1143" rIns="1143" bIns="1143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shows critical health areas through heat map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 flipH="1" flipV="1">
            <a:off x="2817266" y="3085328"/>
            <a:ext cx="5960974" cy="686572"/>
          </a:xfrm>
          <a:prstGeom prst="line">
            <a:avLst/>
          </a:prstGeom>
          <a:noFill/>
          <a:ln w="12700">
            <a:solidFill>
              <a:srgbClr val="AEB4B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753258" y="3021320"/>
            <a:ext cx="128016" cy="128016"/>
          </a:xfrm>
          <a:prstGeom prst="ellipse">
            <a:avLst/>
          </a:prstGeom>
          <a:solidFill>
            <a:srgbClr val="166534"/>
          </a:solidFill>
          <a:ln/>
        </p:spPr>
      </p:sp>
      <p:sp>
        <p:nvSpPr>
          <p:cNvPr id="15" name="Shape 12"/>
          <p:cNvSpPr/>
          <p:nvPr/>
        </p:nvSpPr>
        <p:spPr>
          <a:xfrm>
            <a:off x="2791663" y="3059725"/>
            <a:ext cx="51206" cy="5120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8778240" y="3291840"/>
            <a:ext cx="30632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8EAE6"/>
            </a:solidFill>
          </a:ln>
          <a:effectLst>
            <a:outerShdw sx="100000" sy="100000" kx="0" ky="0" algn="bl" rotWithShape="0" blurRad="101600" dist="25400" dir="5400000">
              <a:srgbClr val="8A8F98">
                <a:alpha val="22000"/>
              </a:srgbClr>
            </a:outerShdw>
          </a:effectLst>
        </p:spPr>
        <p:txBody>
          <a:bodyPr wrap="square" lIns="1143" tIns="1143" rIns="1143" bIns="1143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taxonomy becomes alive : filtering through the different taxonomy surfaces updated metrics.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 flipH="1">
            <a:off x="5584241" y="4892040"/>
            <a:ext cx="3193999" cy="642366"/>
          </a:xfrm>
          <a:prstGeom prst="line">
            <a:avLst/>
          </a:prstGeom>
          <a:noFill/>
          <a:ln w="12700">
            <a:solidFill>
              <a:srgbClr val="AEB4B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520233" y="5470398"/>
            <a:ext cx="128016" cy="128016"/>
          </a:xfrm>
          <a:prstGeom prst="ellipse">
            <a:avLst/>
          </a:prstGeom>
          <a:solidFill>
            <a:srgbClr val="166534"/>
          </a:solidFill>
          <a:ln/>
        </p:spPr>
      </p:sp>
      <p:sp>
        <p:nvSpPr>
          <p:cNvPr id="19" name="Shape 16"/>
          <p:cNvSpPr/>
          <p:nvPr/>
        </p:nvSpPr>
        <p:spPr>
          <a:xfrm>
            <a:off x="5558638" y="5508803"/>
            <a:ext cx="51206" cy="5120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7"/>
          <p:cNvSpPr/>
          <p:nvPr/>
        </p:nvSpPr>
        <p:spPr>
          <a:xfrm>
            <a:off x="8778240" y="4526280"/>
            <a:ext cx="30632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8EAE6"/>
            </a:solidFill>
          </a:ln>
          <a:effectLst>
            <a:outerShdw sx="100000" sy="100000" kx="0" ky="0" algn="bl" rotWithShape="0" blurRad="101600" dist="25400" dir="5400000">
              <a:srgbClr val="8A8F98">
                <a:alpha val="22000"/>
              </a:srgbClr>
            </a:outerShdw>
          </a:effectLst>
        </p:spPr>
        <p:txBody>
          <a:bodyPr wrap="square" lIns="1143" tIns="1143" rIns="1143" bIns="1143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cards, one status word each. Each opens its module.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1143000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 layout : The module view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sorted data table, high-level metrics and taxonomy as filter</a:t>
            </a:r>
            <a:endParaRPr lang="en-US" sz="1500" dirty="0"/>
          </a:p>
        </p:txBody>
      </p:sp>
      <p:pic>
        <p:nvPicPr>
          <p:cNvPr id="4" name="Image 0" descr="/home/user/adafsa-mockup/presentation/assets/new/alt2-module-i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91615"/>
            <a:ext cx="7863840" cy="442341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 flipH="1">
            <a:off x="5175504" y="1623060"/>
            <a:ext cx="3374136" cy="67608"/>
          </a:xfrm>
          <a:prstGeom prst="line">
            <a:avLst/>
          </a:prstGeom>
          <a:noFill/>
          <a:ln w="12700">
            <a:solidFill>
              <a:srgbClr val="AEB4B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111496" y="1626660"/>
            <a:ext cx="128016" cy="128016"/>
          </a:xfrm>
          <a:prstGeom prst="ellipse">
            <a:avLst/>
          </a:prstGeom>
          <a:solidFill>
            <a:srgbClr val="166534"/>
          </a:solidFill>
          <a:ln/>
        </p:spPr>
      </p:sp>
      <p:sp>
        <p:nvSpPr>
          <p:cNvPr id="7" name="Shape 4"/>
          <p:cNvSpPr/>
          <p:nvPr/>
        </p:nvSpPr>
        <p:spPr>
          <a:xfrm>
            <a:off x="5149901" y="1665065"/>
            <a:ext cx="51206" cy="5120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8549640" y="1371600"/>
            <a:ext cx="32918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8EAE6"/>
            </a:solidFill>
          </a:ln>
          <a:effectLst>
            <a:outerShdw sx="100000" sy="100000" kx="0" ky="0" algn="bl" rotWithShape="0" blurRad="101600" dist="25400" dir="5400000">
              <a:srgbClr val="8A8F98">
                <a:alpha val="22000"/>
              </a:srgbClr>
            </a:outerShdw>
          </a:effectLst>
        </p:spPr>
        <p:txBody>
          <a:bodyPr wrap="square" lIns="1143" tIns="1143" rIns="1143" bIns="1143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 for this module.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 flipH="1">
            <a:off x="2383841" y="2423160"/>
            <a:ext cx="6165799" cy="107956"/>
          </a:xfrm>
          <a:prstGeom prst="line">
            <a:avLst/>
          </a:prstGeom>
          <a:noFill/>
          <a:ln w="12700">
            <a:solidFill>
              <a:srgbClr val="AEB4B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19833" y="2467108"/>
            <a:ext cx="128016" cy="128016"/>
          </a:xfrm>
          <a:prstGeom prst="ellipse">
            <a:avLst/>
          </a:prstGeom>
          <a:solidFill>
            <a:srgbClr val="166534"/>
          </a:solidFill>
          <a:ln/>
        </p:spPr>
      </p:sp>
      <p:sp>
        <p:nvSpPr>
          <p:cNvPr id="11" name="Shape 8"/>
          <p:cNvSpPr/>
          <p:nvPr/>
        </p:nvSpPr>
        <p:spPr>
          <a:xfrm>
            <a:off x="2358238" y="2505513"/>
            <a:ext cx="51206" cy="5120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8549640" y="2011680"/>
            <a:ext cx="329184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8EAE6"/>
            </a:solidFill>
          </a:ln>
          <a:effectLst>
            <a:outerShdw sx="100000" sy="100000" kx="0" ky="0" algn="bl" rotWithShape="0" blurRad="101600" dist="25400" dir="5400000">
              <a:srgbClr val="8A8F98">
                <a:alpha val="22000"/>
              </a:srgbClr>
            </a:outerShdw>
          </a:effectLst>
        </p:spPr>
        <p:txBody>
          <a:bodyPr wrap="square" lIns="1143" tIns="1143" rIns="1143" bIns="1143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legend and one chart at a glance, to quickly understand numbers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 flipH="1" flipV="1">
            <a:off x="2383841" y="3115006"/>
            <a:ext cx="6165799" cy="222554"/>
          </a:xfrm>
          <a:prstGeom prst="line">
            <a:avLst/>
          </a:prstGeom>
          <a:noFill/>
          <a:ln w="12700">
            <a:solidFill>
              <a:srgbClr val="AEB4B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319833" y="3050998"/>
            <a:ext cx="128016" cy="128016"/>
          </a:xfrm>
          <a:prstGeom prst="ellipse">
            <a:avLst/>
          </a:prstGeom>
          <a:solidFill>
            <a:srgbClr val="166534"/>
          </a:solidFill>
          <a:ln/>
        </p:spPr>
      </p:sp>
      <p:sp>
        <p:nvSpPr>
          <p:cNvPr id="15" name="Shape 12"/>
          <p:cNvSpPr/>
          <p:nvPr/>
        </p:nvSpPr>
        <p:spPr>
          <a:xfrm>
            <a:off x="2358238" y="3089403"/>
            <a:ext cx="51206" cy="5120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8549640" y="2971800"/>
            <a:ext cx="32918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8EAE6"/>
            </a:solidFill>
          </a:ln>
          <a:effectLst>
            <a:outerShdw sx="100000" sy="100000" kx="0" ky="0" algn="bl" rotWithShape="0" blurRad="101600" dist="25400" dir="5400000">
              <a:srgbClr val="8A8F98">
                <a:alpha val="22000"/>
              </a:srgbClr>
            </a:outerShdw>
          </a:effectLst>
        </p:spPr>
        <p:txBody>
          <a:bodyPr wrap="square" lIns="1143" tIns="1143" rIns="1143" bIns="1143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 a crop or a tree type. The map and every number update together.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 flipH="1" flipV="1">
            <a:off x="5175504" y="3482150"/>
            <a:ext cx="3374136" cy="655511"/>
          </a:xfrm>
          <a:prstGeom prst="line">
            <a:avLst/>
          </a:prstGeom>
          <a:noFill/>
          <a:ln w="12700">
            <a:solidFill>
              <a:srgbClr val="AEB4B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111496" y="3418142"/>
            <a:ext cx="128016" cy="128016"/>
          </a:xfrm>
          <a:prstGeom prst="ellipse">
            <a:avLst/>
          </a:prstGeom>
          <a:solidFill>
            <a:srgbClr val="166534"/>
          </a:solidFill>
          <a:ln/>
        </p:spPr>
      </p:sp>
      <p:sp>
        <p:nvSpPr>
          <p:cNvPr id="19" name="Shape 16"/>
          <p:cNvSpPr/>
          <p:nvPr/>
        </p:nvSpPr>
        <p:spPr>
          <a:xfrm>
            <a:off x="5149901" y="3456546"/>
            <a:ext cx="51206" cy="5120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7"/>
          <p:cNvSpPr/>
          <p:nvPr/>
        </p:nvSpPr>
        <p:spPr>
          <a:xfrm>
            <a:off x="8549640" y="3840480"/>
            <a:ext cx="329184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8EAE6"/>
            </a:solidFill>
          </a:ln>
          <a:effectLst>
            <a:outerShdw sx="100000" sy="100000" kx="0" ky="0" algn="bl" rotWithShape="0" blurRad="101600" dist="25400" dir="5400000">
              <a:srgbClr val="8A8F98">
                <a:alpha val="22000"/>
              </a:srgbClr>
            </a:outerShdw>
          </a:effectLst>
        </p:spPr>
        <p:txBody>
          <a:bodyPr wrap="square" lIns="1143" tIns="1143" rIns="1143" bIns="1143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of farm boundaries + heatmap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 flipH="1" flipV="1">
            <a:off x="7794163" y="4512804"/>
            <a:ext cx="755477" cy="379236"/>
          </a:xfrm>
          <a:prstGeom prst="line">
            <a:avLst/>
          </a:prstGeom>
          <a:noFill/>
          <a:ln w="12700">
            <a:solidFill>
              <a:srgbClr val="AEB4B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730155" y="4448796"/>
            <a:ext cx="128016" cy="128016"/>
          </a:xfrm>
          <a:prstGeom prst="ellipse">
            <a:avLst/>
          </a:prstGeom>
          <a:solidFill>
            <a:srgbClr val="166534"/>
          </a:solidFill>
          <a:ln/>
        </p:spPr>
      </p:sp>
      <p:sp>
        <p:nvSpPr>
          <p:cNvPr id="23" name="Shape 20"/>
          <p:cNvSpPr/>
          <p:nvPr/>
        </p:nvSpPr>
        <p:spPr>
          <a:xfrm>
            <a:off x="7768560" y="4487201"/>
            <a:ext cx="51206" cy="5120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Text 21"/>
          <p:cNvSpPr/>
          <p:nvPr/>
        </p:nvSpPr>
        <p:spPr>
          <a:xfrm>
            <a:off x="8549640" y="4572000"/>
            <a:ext cx="329184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8EAE6"/>
            </a:solidFill>
          </a:ln>
          <a:effectLst>
            <a:outerShdw sx="100000" sy="100000" kx="0" ky="0" algn="bl" rotWithShape="0" blurRad="101600" dist="25400" dir="5400000">
              <a:srgbClr val="8A8F98">
                <a:alpha val="22000"/>
              </a:srgbClr>
            </a:outerShdw>
          </a:effectLst>
        </p:spPr>
        <p:txBody>
          <a:bodyPr wrap="square" lIns="1143" tIns="1143" rIns="1143" bIns="1143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Export, customise columns, sort, reorder, etc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 flipH="1" flipV="1">
            <a:off x="3846515" y="5127658"/>
            <a:ext cx="4703125" cy="495902"/>
          </a:xfrm>
          <a:prstGeom prst="line">
            <a:avLst/>
          </a:prstGeom>
          <a:noFill/>
          <a:ln w="12700">
            <a:solidFill>
              <a:srgbClr val="AEB4B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782507" y="5063650"/>
            <a:ext cx="128016" cy="128016"/>
          </a:xfrm>
          <a:prstGeom prst="ellipse">
            <a:avLst/>
          </a:prstGeom>
          <a:solidFill>
            <a:srgbClr val="166534"/>
          </a:solidFill>
          <a:ln/>
        </p:spPr>
      </p:sp>
      <p:sp>
        <p:nvSpPr>
          <p:cNvPr id="27" name="Shape 24"/>
          <p:cNvSpPr/>
          <p:nvPr/>
        </p:nvSpPr>
        <p:spPr>
          <a:xfrm>
            <a:off x="3820912" y="5102055"/>
            <a:ext cx="51206" cy="5120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8" name="Text 25"/>
          <p:cNvSpPr/>
          <p:nvPr/>
        </p:nvSpPr>
        <p:spPr>
          <a:xfrm>
            <a:off x="8549640" y="5349240"/>
            <a:ext cx="32918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EAE6"/>
            </a:solidFill>
          </a:ln>
          <a:effectLst>
            <a:outerShdw sx="100000" sy="100000" kx="0" ky="0" algn="bl" rotWithShape="0" blurRad="101600" dist="25400" dir="5400000">
              <a:srgbClr val="8A8F98">
                <a:alpha val="22000"/>
              </a:srgbClr>
            </a:outerShdw>
          </a:effectLst>
        </p:spPr>
        <p:txBody>
          <a:bodyPr wrap="square" lIns="1143" tIns="1143" rIns="1143" bIns="1143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with farms ranked worst first.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1143000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 layout : Zooming in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farm metrics included</a:t>
            </a:r>
            <a:endParaRPr lang="en-US" sz="1500" dirty="0"/>
          </a:p>
        </p:txBody>
      </p:sp>
      <p:pic>
        <p:nvPicPr>
          <p:cNvPr id="4" name="Image 0" descr="/home/user/adafsa-mockup/presentation/assets/new/alt3-farm-dossi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91615"/>
            <a:ext cx="7863840" cy="442341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 rot="18300000">
            <a:off x="2816352" y="3791788"/>
            <a:ext cx="777240" cy="411480"/>
          </a:xfrm>
          <a:prstGeom prst="rightArrow">
            <a:avLst/>
          </a:prstGeom>
          <a:solidFill>
            <a:srgbClr val="F0B03C"/>
          </a:solidFill>
          <a:ln/>
        </p:spPr>
      </p:sp>
      <p:sp>
        <p:nvSpPr>
          <p:cNvPr id="6" name="Shape 3"/>
          <p:cNvSpPr/>
          <p:nvPr/>
        </p:nvSpPr>
        <p:spPr>
          <a:xfrm>
            <a:off x="4860950" y="3791788"/>
            <a:ext cx="777240" cy="411480"/>
          </a:xfrm>
          <a:prstGeom prst="rightArrow">
            <a:avLst/>
          </a:prstGeom>
          <a:solidFill>
            <a:srgbClr val="F0B03C"/>
          </a:solidFill>
          <a:ln/>
        </p:spPr>
      </p:sp>
      <p:sp>
        <p:nvSpPr>
          <p:cNvPr id="7" name="Shape 4"/>
          <p:cNvSpPr/>
          <p:nvPr/>
        </p:nvSpPr>
        <p:spPr>
          <a:xfrm rot="11700000">
            <a:off x="2501798" y="5030343"/>
            <a:ext cx="777240" cy="411480"/>
          </a:xfrm>
          <a:prstGeom prst="rightArrow">
            <a:avLst/>
          </a:prstGeom>
          <a:solidFill>
            <a:srgbClr val="F0B03C"/>
          </a:solidFill>
          <a:ln/>
        </p:spPr>
      </p:sp>
      <p:sp>
        <p:nvSpPr>
          <p:cNvPr id="8" name="Shape 5"/>
          <p:cNvSpPr/>
          <p:nvPr/>
        </p:nvSpPr>
        <p:spPr>
          <a:xfrm flipH="1">
            <a:off x="7102145" y="1668780"/>
            <a:ext cx="1447495" cy="641166"/>
          </a:xfrm>
          <a:prstGeom prst="line">
            <a:avLst/>
          </a:prstGeom>
          <a:noFill/>
          <a:ln w="12700">
            <a:solidFill>
              <a:srgbClr val="AEB4B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038137" y="2245938"/>
            <a:ext cx="128016" cy="128016"/>
          </a:xfrm>
          <a:prstGeom prst="ellipse">
            <a:avLst/>
          </a:prstGeom>
          <a:solidFill>
            <a:srgbClr val="166534"/>
          </a:solidFill>
          <a:ln/>
        </p:spPr>
      </p:sp>
      <p:sp>
        <p:nvSpPr>
          <p:cNvPr id="10" name="Shape 7"/>
          <p:cNvSpPr/>
          <p:nvPr/>
        </p:nvSpPr>
        <p:spPr>
          <a:xfrm>
            <a:off x="7076542" y="2284343"/>
            <a:ext cx="51206" cy="5120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8549640" y="1417320"/>
            <a:ext cx="32918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8EAE6"/>
            </a:solidFill>
          </a:ln>
          <a:effectLst>
            <a:outerShdw sx="100000" sy="100000" kx="0" ky="0" algn="bl" rotWithShape="0" blurRad="101600" dist="25400" dir="5400000">
              <a:srgbClr val="8A8F98">
                <a:alpha val="22000"/>
              </a:srgbClr>
            </a:outerShdw>
          </a:effectLst>
        </p:spPr>
        <p:txBody>
          <a:bodyPr wrap="square" lIns="1143" tIns="1143" rIns="1143" bIns="1143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 point summary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 flipH="1">
            <a:off x="7102145" y="2514600"/>
            <a:ext cx="1447495" cy="259804"/>
          </a:xfrm>
          <a:prstGeom prst="line">
            <a:avLst/>
          </a:prstGeom>
          <a:noFill/>
          <a:ln w="12700">
            <a:solidFill>
              <a:srgbClr val="AEB4B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038137" y="2710396"/>
            <a:ext cx="128016" cy="128016"/>
          </a:xfrm>
          <a:prstGeom prst="ellipse">
            <a:avLst/>
          </a:prstGeom>
          <a:solidFill>
            <a:srgbClr val="166534"/>
          </a:solidFill>
          <a:ln/>
        </p:spPr>
      </p:sp>
      <p:sp>
        <p:nvSpPr>
          <p:cNvPr id="14" name="Shape 11"/>
          <p:cNvSpPr/>
          <p:nvPr/>
        </p:nvSpPr>
        <p:spPr>
          <a:xfrm>
            <a:off x="7076542" y="2748801"/>
            <a:ext cx="51206" cy="5120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12"/>
          <p:cNvSpPr/>
          <p:nvPr/>
        </p:nvSpPr>
        <p:spPr>
          <a:xfrm>
            <a:off x="8549640" y="2240280"/>
            <a:ext cx="32918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EAE6"/>
            </a:solidFill>
          </a:ln>
          <a:effectLst>
            <a:outerShdw sx="100000" sy="100000" kx="0" ky="0" algn="bl" rotWithShape="0" blurRad="101600" dist="25400" dir="5400000">
              <a:srgbClr val="8A8F98">
                <a:alpha val="22000"/>
              </a:srgbClr>
            </a:outerShdw>
          </a:effectLst>
        </p:spPr>
        <p:txBody>
          <a:bodyPr wrap="square" lIns="1143" tIns="1143" rIns="1143" bIns="1143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module metrics for this farm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 flipH="1" flipV="1">
            <a:off x="4389120" y="2818638"/>
            <a:ext cx="4160520" cy="564642"/>
          </a:xfrm>
          <a:prstGeom prst="line">
            <a:avLst/>
          </a:prstGeom>
          <a:noFill/>
          <a:ln w="12700">
            <a:solidFill>
              <a:srgbClr val="AEB4B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325112" y="2754630"/>
            <a:ext cx="128016" cy="128016"/>
          </a:xfrm>
          <a:prstGeom prst="ellipse">
            <a:avLst/>
          </a:prstGeom>
          <a:solidFill>
            <a:srgbClr val="166534"/>
          </a:solidFill>
          <a:ln/>
        </p:spPr>
      </p:sp>
      <p:sp>
        <p:nvSpPr>
          <p:cNvPr id="18" name="Shape 15"/>
          <p:cNvSpPr/>
          <p:nvPr/>
        </p:nvSpPr>
        <p:spPr>
          <a:xfrm>
            <a:off x="4363517" y="2793035"/>
            <a:ext cx="51206" cy="5120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6"/>
          <p:cNvSpPr/>
          <p:nvPr/>
        </p:nvSpPr>
        <p:spPr>
          <a:xfrm>
            <a:off x="8549640" y="3108960"/>
            <a:ext cx="32918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EAE6"/>
            </a:solidFill>
          </a:ln>
          <a:effectLst>
            <a:outerShdw sx="100000" sy="100000" kx="0" ky="0" algn="bl" rotWithShape="0" blurRad="101600" dist="25400" dir="5400000">
              <a:srgbClr val="8A8F98">
                <a:alpha val="22000"/>
              </a:srgbClr>
            </a:outerShdw>
          </a:effectLst>
        </p:spPr>
        <p:txBody>
          <a:bodyPr wrap="square" lIns="1143" tIns="1143" rIns="1143" bIns="1143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farm is highlighted in the view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 flipH="1">
            <a:off x="7102145" y="4480560"/>
            <a:ext cx="1447495" cy="859422"/>
          </a:xfrm>
          <a:prstGeom prst="line">
            <a:avLst/>
          </a:prstGeom>
          <a:noFill/>
          <a:ln w="12700">
            <a:solidFill>
              <a:srgbClr val="AEB4B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038137" y="5275974"/>
            <a:ext cx="128016" cy="128016"/>
          </a:xfrm>
          <a:prstGeom prst="ellipse">
            <a:avLst/>
          </a:prstGeom>
          <a:solidFill>
            <a:srgbClr val="166534"/>
          </a:solidFill>
          <a:ln/>
        </p:spPr>
      </p:sp>
      <p:sp>
        <p:nvSpPr>
          <p:cNvPr id="22" name="Shape 19"/>
          <p:cNvSpPr/>
          <p:nvPr/>
        </p:nvSpPr>
        <p:spPr>
          <a:xfrm>
            <a:off x="7076542" y="5314379"/>
            <a:ext cx="51206" cy="5120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Text 20"/>
          <p:cNvSpPr/>
          <p:nvPr/>
        </p:nvSpPr>
        <p:spPr>
          <a:xfrm>
            <a:off x="8549640" y="4206240"/>
            <a:ext cx="32918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EAE6"/>
            </a:solidFill>
          </a:ln>
          <a:effectLst>
            <a:outerShdw sx="100000" sy="100000" kx="0" ky="0" algn="bl" rotWithShape="0" blurRad="101600" dist="25400" dir="5400000">
              <a:srgbClr val="8A8F98">
                <a:alpha val="22000"/>
              </a:srgbClr>
            </a:outerShdw>
          </a:effectLst>
        </p:spPr>
        <p:txBody>
          <a:bodyPr wrap="square" lIns="1143" tIns="1143" rIns="1143" bIns="1143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Level 3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1143000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layout : The full farm analytics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metrics and scans accessible per farm</a:t>
            </a:r>
            <a:endParaRPr lang="en-US" sz="1500" dirty="0"/>
          </a:p>
        </p:txBody>
      </p:sp>
      <p:pic>
        <p:nvPicPr>
          <p:cNvPr id="4" name="Image 0" descr="/home/user/adafsa-mockup/presentation/assets/new/farm-analysis-wat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6788" y="1371600"/>
            <a:ext cx="9227945" cy="4937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follow the user's journey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the app into three distinct technical levels</a:t>
            </a:r>
            <a:endParaRPr lang="en-US" sz="1500" dirty="0"/>
          </a:p>
        </p:txBody>
      </p:sp>
      <p:pic>
        <p:nvPicPr>
          <p:cNvPr id="4" name="Image 0" descr="/home/user/adafsa-mockup/presentation/assets/diagrams/icon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1600200"/>
            <a:ext cx="603504" cy="5760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846320" y="1563624"/>
            <a:ext cx="5852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: The general overview</a:t>
            </a:r>
            <a:endParaRPr lang="en-US" sz="14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i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anything wrong today?”</a:t>
            </a:r>
            <a:endParaRPr lang="en-US" sz="14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look, first thing in the morning. Or engagement from high-level officials.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123944" y="2350008"/>
            <a:ext cx="310896" cy="713232"/>
          </a:xfrm>
          <a:prstGeom prst="downArrow">
            <a:avLst/>
          </a:prstGeom>
          <a:solidFill>
            <a:srgbClr val="4E7C2F"/>
          </a:solidFill>
          <a:ln/>
        </p:spPr>
      </p:sp>
      <p:sp>
        <p:nvSpPr>
          <p:cNvPr id="7" name="Text 4"/>
          <p:cNvSpPr/>
          <p:nvPr/>
        </p:nvSpPr>
        <p:spPr>
          <a:xfrm>
            <a:off x="4599432" y="2560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level deeper</a:t>
            </a:r>
            <a:endParaRPr lang="en-US" sz="950" dirty="0"/>
          </a:p>
        </p:txBody>
      </p:sp>
      <p:pic>
        <p:nvPicPr>
          <p:cNvPr id="8" name="Image 1" descr="/home/user/adafsa-mockup/presentation/assets/diagrams/icon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40" y="3200400"/>
            <a:ext cx="603504" cy="5760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846320" y="3163824"/>
            <a:ext cx="5852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 : The modules</a:t>
            </a:r>
            <a:endParaRPr lang="en-US" sz="14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i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farms need attention in terms of irrigation?”</a:t>
            </a:r>
            <a:endParaRPr lang="en-US" sz="14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ranked list to work through during the week.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123944" y="3950208"/>
            <a:ext cx="310896" cy="713232"/>
          </a:xfrm>
          <a:prstGeom prst="downArrow">
            <a:avLst/>
          </a:prstGeom>
          <a:solidFill>
            <a:srgbClr val="4E7C2F"/>
          </a:solidFill>
          <a:ln/>
        </p:spPr>
      </p:sp>
      <p:sp>
        <p:nvSpPr>
          <p:cNvPr id="11" name="Text 7"/>
          <p:cNvSpPr/>
          <p:nvPr/>
        </p:nvSpPr>
        <p:spPr>
          <a:xfrm>
            <a:off x="4599432" y="4160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level deeper</a:t>
            </a:r>
            <a:endParaRPr lang="en-US" sz="950" dirty="0"/>
          </a:p>
        </p:txBody>
      </p:sp>
      <p:pic>
        <p:nvPicPr>
          <p:cNvPr id="12" name="Image 2" descr="/home/user/adafsa-mockup/presentation/assets/diagrams/icon-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4800600"/>
            <a:ext cx="603504" cy="5760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846320" y="4764024"/>
            <a:ext cx="5852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: The farm</a:t>
            </a:r>
            <a:endParaRPr lang="en-US" sz="14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i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is happening on this farm?”</a:t>
            </a:r>
            <a:endParaRPr lang="en-US" sz="14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picture, all the metrics and scans.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1143000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03320" y="288036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</a:t>
            </a:r>
            <a:endParaRPr lang="en-US" sz="4000" dirty="0"/>
          </a:p>
        </p:txBody>
      </p:sp>
      <p:sp>
        <p:nvSpPr>
          <p:cNvPr id="3" name="Text 1">
            <a:hlinkClick r:id="rId1" tooltip=""/>
          </p:cNvPr>
          <p:cNvSpPr/>
          <p:nvPr/>
        </p:nvSpPr>
        <p:spPr>
          <a:xfrm>
            <a:off x="4709160" y="292608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u="sng" dirty="0">
                <a:solidFill>
                  <a:srgbClr val="1155C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See live demo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143000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80560" y="27432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0" y="27432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286000" y="33832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for the New Proposal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43000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Diagrams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1 - Overview</a:t>
            </a:r>
            <a:endParaRPr lang="en-US" sz="1500" dirty="0"/>
          </a:p>
        </p:txBody>
      </p:sp>
      <p:pic>
        <p:nvPicPr>
          <p:cNvPr id="4" name="Image 0" descr="/home/user/adafsa-mockup/presentation/assets/diagrams/nav-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720023"/>
            <a:ext cx="1417320" cy="360083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82346" y="2149613"/>
            <a:ext cx="1275588" cy="336581"/>
          </a:xfrm>
          <a:prstGeom prst="roundRect">
            <a:avLst>
              <a:gd name="adj" fmla="val 32601"/>
            </a:avLst>
          </a:prstGeom>
          <a:ln w="19050">
            <a:solidFill>
              <a:srgbClr val="166534"/>
            </a:solidFill>
            <a:prstDash val="solid"/>
          </a:ln>
        </p:spPr>
      </p:sp>
      <p:pic>
        <p:nvPicPr>
          <p:cNvPr id="6" name="Image 1" descr="/home/user/adafsa-mockup/presentation/assets/diagrams/wireframe-overvie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840" y="1097280"/>
            <a:ext cx="9509760" cy="53492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772107" y="2308759"/>
            <a:ext cx="1755648" cy="1035202"/>
          </a:xfrm>
          <a:prstGeom prst="line">
            <a:avLst/>
          </a:prstGeom>
          <a:noFill/>
          <a:ln w="12700">
            <a:solidFill>
              <a:srgbClr val="AEB4BC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1721815" y="2258467"/>
            <a:ext cx="100584" cy="100584"/>
          </a:xfrm>
          <a:prstGeom prst="ellipse">
            <a:avLst/>
          </a:prstGeom>
          <a:solidFill>
            <a:srgbClr val="166534"/>
          </a:solidFill>
          <a:ln/>
        </p:spPr>
      </p:sp>
      <p:sp>
        <p:nvSpPr>
          <p:cNvPr id="9" name="Shape 5"/>
          <p:cNvSpPr/>
          <p:nvPr/>
        </p:nvSpPr>
        <p:spPr>
          <a:xfrm flipH="1">
            <a:off x="4561942" y="2227936"/>
            <a:ext cx="3530498" cy="236372"/>
          </a:xfrm>
          <a:prstGeom prst="line">
            <a:avLst/>
          </a:prstGeom>
          <a:noFill/>
          <a:ln w="12700">
            <a:solidFill>
              <a:srgbClr val="AEB4BC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497934" y="2400300"/>
            <a:ext cx="128016" cy="128016"/>
          </a:xfrm>
          <a:prstGeom prst="ellipse">
            <a:avLst/>
          </a:prstGeom>
          <a:solidFill>
            <a:srgbClr val="166534"/>
          </a:solidFill>
          <a:ln/>
        </p:spPr>
      </p:sp>
      <p:sp>
        <p:nvSpPr>
          <p:cNvPr id="11" name="Shape 7"/>
          <p:cNvSpPr/>
          <p:nvPr/>
        </p:nvSpPr>
        <p:spPr>
          <a:xfrm>
            <a:off x="4536338" y="2438705"/>
            <a:ext cx="51206" cy="5120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8"/>
          <p:cNvSpPr/>
          <p:nvPr/>
        </p:nvSpPr>
        <p:spPr>
          <a:xfrm>
            <a:off x="8092440" y="1988820"/>
            <a:ext cx="2089404" cy="478231"/>
          </a:xfrm>
          <a:prstGeom prst="roundRect">
            <a:avLst>
              <a:gd name="adj" fmla="val 11472"/>
            </a:avLst>
          </a:prstGeom>
          <a:solidFill>
            <a:srgbClr val="FFFFFF"/>
          </a:solidFill>
          <a:ln w="12700">
            <a:solidFill>
              <a:srgbClr val="E8EAE6"/>
            </a:solidFill>
          </a:ln>
          <a:effectLst>
            <a:outerShdw sx="100000" sy="100000" kx="0" ky="0" algn="bl" rotWithShape="0" blurRad="101600" dist="25400" dir="5400000">
              <a:srgbClr val="8A8F98">
                <a:alpha val="22000"/>
              </a:srgbClr>
            </a:outerShdw>
          </a:effectLst>
        </p:spPr>
        <p:txBody>
          <a:bodyPr wrap="square" lIns="889" tIns="889" rIns="889" bIns="889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region's numbers and a composite health metric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 flipH="1">
            <a:off x="6725412" y="3000604"/>
            <a:ext cx="1367028" cy="176936"/>
          </a:xfrm>
          <a:prstGeom prst="line">
            <a:avLst/>
          </a:prstGeom>
          <a:noFill/>
          <a:ln w="12700">
            <a:solidFill>
              <a:srgbClr val="AEB4BC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661404" y="3113532"/>
            <a:ext cx="128016" cy="128016"/>
          </a:xfrm>
          <a:prstGeom prst="ellipse">
            <a:avLst/>
          </a:prstGeom>
          <a:solidFill>
            <a:srgbClr val="166534"/>
          </a:solidFill>
          <a:ln/>
        </p:spPr>
      </p:sp>
      <p:sp>
        <p:nvSpPr>
          <p:cNvPr id="15" name="Shape 11"/>
          <p:cNvSpPr/>
          <p:nvPr/>
        </p:nvSpPr>
        <p:spPr>
          <a:xfrm>
            <a:off x="6699809" y="3151937"/>
            <a:ext cx="51206" cy="5120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2"/>
          <p:cNvSpPr/>
          <p:nvPr/>
        </p:nvSpPr>
        <p:spPr>
          <a:xfrm>
            <a:off x="8092440" y="2761488"/>
            <a:ext cx="2148840" cy="478231"/>
          </a:xfrm>
          <a:prstGeom prst="roundRect">
            <a:avLst>
              <a:gd name="adj" fmla="val 11472"/>
            </a:avLst>
          </a:prstGeom>
          <a:solidFill>
            <a:srgbClr val="FFFFFF"/>
          </a:solidFill>
          <a:ln w="12700">
            <a:solidFill>
              <a:srgbClr val="E8EAE6"/>
            </a:solidFill>
          </a:ln>
          <a:effectLst>
            <a:outerShdw sx="100000" sy="100000" kx="0" ky="0" algn="bl" rotWithShape="0" blurRad="101600" dist="25400" dir="5400000">
              <a:srgbClr val="8A8F98">
                <a:alpha val="22000"/>
              </a:srgbClr>
            </a:outerShdw>
          </a:effectLst>
        </p:spPr>
        <p:txBody>
          <a:bodyPr wrap="square" lIns="889" tIns="889" rIns="889" bIns="889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shows critical health areas through heat map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 flipH="1">
            <a:off x="4561942" y="3844595"/>
            <a:ext cx="3530498" cy="527609"/>
          </a:xfrm>
          <a:prstGeom prst="line">
            <a:avLst/>
          </a:prstGeom>
          <a:noFill/>
          <a:ln w="12700">
            <a:solidFill>
              <a:srgbClr val="AEB4BC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497934" y="4308196"/>
            <a:ext cx="128016" cy="128016"/>
          </a:xfrm>
          <a:prstGeom prst="ellipse">
            <a:avLst/>
          </a:prstGeom>
          <a:solidFill>
            <a:srgbClr val="166534"/>
          </a:solidFill>
          <a:ln/>
        </p:spPr>
      </p:sp>
      <p:sp>
        <p:nvSpPr>
          <p:cNvPr id="19" name="Shape 15"/>
          <p:cNvSpPr/>
          <p:nvPr/>
        </p:nvSpPr>
        <p:spPr>
          <a:xfrm>
            <a:off x="4536338" y="4346600"/>
            <a:ext cx="51206" cy="5120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6"/>
          <p:cNvSpPr/>
          <p:nvPr/>
        </p:nvSpPr>
        <p:spPr>
          <a:xfrm>
            <a:off x="8092440" y="3534156"/>
            <a:ext cx="2267712" cy="620878"/>
          </a:xfrm>
          <a:prstGeom prst="roundRect">
            <a:avLst>
              <a:gd name="adj" fmla="val 8837"/>
            </a:avLst>
          </a:prstGeom>
          <a:solidFill>
            <a:srgbClr val="FFFFFF"/>
          </a:solidFill>
          <a:ln w="12700">
            <a:solidFill>
              <a:srgbClr val="E8EAE6"/>
            </a:solidFill>
          </a:ln>
          <a:effectLst>
            <a:outerShdw sx="100000" sy="100000" kx="0" ky="0" algn="bl" rotWithShape="0" blurRad="101600" dist="25400" dir="5400000">
              <a:srgbClr val="8A8F98">
                <a:alpha val="22000"/>
              </a:srgbClr>
            </a:outerShdw>
          </a:effectLst>
        </p:spPr>
        <p:txBody>
          <a:bodyPr wrap="square" lIns="889" tIns="889" rIns="889" bIns="889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taxonomy becomes alive : filtering through the different taxonomy surfaces updated metrics.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 flipH="1" flipV="1">
            <a:off x="5566410" y="4817974"/>
            <a:ext cx="2526030" cy="25146"/>
          </a:xfrm>
          <a:prstGeom prst="line">
            <a:avLst/>
          </a:prstGeom>
          <a:noFill/>
          <a:ln w="12700">
            <a:solidFill>
              <a:srgbClr val="AEB4BC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502402" y="4753966"/>
            <a:ext cx="128016" cy="128016"/>
          </a:xfrm>
          <a:prstGeom prst="ellipse">
            <a:avLst/>
          </a:prstGeom>
          <a:solidFill>
            <a:srgbClr val="166534"/>
          </a:solidFill>
          <a:ln/>
        </p:spPr>
      </p:sp>
      <p:sp>
        <p:nvSpPr>
          <p:cNvPr id="23" name="Shape 19"/>
          <p:cNvSpPr/>
          <p:nvPr/>
        </p:nvSpPr>
        <p:spPr>
          <a:xfrm>
            <a:off x="5540807" y="4792370"/>
            <a:ext cx="51206" cy="5120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Text 20"/>
          <p:cNvSpPr/>
          <p:nvPr/>
        </p:nvSpPr>
        <p:spPr>
          <a:xfrm>
            <a:off x="8092440" y="4604004"/>
            <a:ext cx="2148840" cy="478231"/>
          </a:xfrm>
          <a:prstGeom prst="roundRect">
            <a:avLst>
              <a:gd name="adj" fmla="val 11472"/>
            </a:avLst>
          </a:prstGeom>
          <a:solidFill>
            <a:srgbClr val="FFFFFF"/>
          </a:solidFill>
          <a:ln w="12700">
            <a:solidFill>
              <a:srgbClr val="E8EAE6"/>
            </a:solidFill>
          </a:ln>
          <a:effectLst>
            <a:outerShdw sx="100000" sy="100000" kx="0" ky="0" algn="bl" rotWithShape="0" blurRad="101600" dist="25400" dir="5400000">
              <a:srgbClr val="8A8F98">
                <a:alpha val="22000"/>
              </a:srgbClr>
            </a:outerShdw>
          </a:effectLst>
        </p:spPr>
        <p:txBody>
          <a:bodyPr wrap="square" lIns="889" tIns="889" rIns="889" bIns="889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cards, one status word each. Each opens its module.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1143000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Diagrams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2 - Module View</a:t>
            </a:r>
            <a:endParaRPr lang="en-US" sz="1500" dirty="0"/>
          </a:p>
        </p:txBody>
      </p:sp>
      <p:pic>
        <p:nvPicPr>
          <p:cNvPr id="4" name="Image 0" descr="/home/user/adafsa-mockup/presentation/assets/diagrams/nav-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720023"/>
            <a:ext cx="1417320" cy="360083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82346" y="2812166"/>
            <a:ext cx="1275588" cy="1254793"/>
          </a:xfrm>
          <a:prstGeom prst="roundRect">
            <a:avLst>
              <a:gd name="adj" fmla="val 8745"/>
            </a:avLst>
          </a:prstGeom>
          <a:ln w="19050">
            <a:solidFill>
              <a:srgbClr val="166534"/>
            </a:solidFill>
            <a:prstDash val="solid"/>
          </a:ln>
        </p:spPr>
      </p:sp>
      <p:pic>
        <p:nvPicPr>
          <p:cNvPr id="6" name="Image 1" descr="/home/user/adafsa-mockup/presentation/assets/diagrams/wireframe-modu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840" y="1097280"/>
            <a:ext cx="9509760" cy="53492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 flipV="1">
            <a:off x="1772107" y="3343961"/>
            <a:ext cx="1755648" cy="86458"/>
          </a:xfrm>
          <a:prstGeom prst="line">
            <a:avLst/>
          </a:prstGeom>
          <a:noFill/>
          <a:ln w="12700">
            <a:solidFill>
              <a:srgbClr val="AEB4BC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1721815" y="3380127"/>
            <a:ext cx="100584" cy="100584"/>
          </a:xfrm>
          <a:prstGeom prst="ellipse">
            <a:avLst/>
          </a:prstGeom>
          <a:solidFill>
            <a:srgbClr val="166534"/>
          </a:solidFill>
          <a:ln/>
        </p:spPr>
      </p:sp>
      <p:sp>
        <p:nvSpPr>
          <p:cNvPr id="9" name="Shape 5"/>
          <p:cNvSpPr/>
          <p:nvPr/>
        </p:nvSpPr>
        <p:spPr>
          <a:xfrm flipH="1">
            <a:off x="7605065" y="2162556"/>
            <a:ext cx="487375" cy="117500"/>
          </a:xfrm>
          <a:prstGeom prst="line">
            <a:avLst/>
          </a:prstGeom>
          <a:noFill/>
          <a:ln w="12700">
            <a:solidFill>
              <a:srgbClr val="AEB4BC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541057" y="2216048"/>
            <a:ext cx="128016" cy="128016"/>
          </a:xfrm>
          <a:prstGeom prst="ellipse">
            <a:avLst/>
          </a:prstGeom>
          <a:solidFill>
            <a:srgbClr val="166534"/>
          </a:solidFill>
          <a:ln/>
        </p:spPr>
      </p:sp>
      <p:sp>
        <p:nvSpPr>
          <p:cNvPr id="11" name="Shape 7"/>
          <p:cNvSpPr/>
          <p:nvPr/>
        </p:nvSpPr>
        <p:spPr>
          <a:xfrm>
            <a:off x="7579462" y="2254453"/>
            <a:ext cx="51206" cy="5120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8"/>
          <p:cNvSpPr/>
          <p:nvPr/>
        </p:nvSpPr>
        <p:spPr>
          <a:xfrm>
            <a:off x="8092440" y="1982876"/>
            <a:ext cx="1911096" cy="359359"/>
          </a:xfrm>
          <a:prstGeom prst="roundRect">
            <a:avLst>
              <a:gd name="adj" fmla="val 15267"/>
            </a:avLst>
          </a:prstGeom>
          <a:solidFill>
            <a:srgbClr val="FFFFFF"/>
          </a:solidFill>
          <a:ln w="12700">
            <a:solidFill>
              <a:srgbClr val="E8EAE6"/>
            </a:solidFill>
          </a:ln>
          <a:effectLst>
            <a:outerShdw sx="100000" sy="100000" kx="0" ky="0" algn="bl" rotWithShape="0" blurRad="101600" dist="25400" dir="5400000">
              <a:srgbClr val="8A8F98">
                <a:alpha val="22000"/>
              </a:srgbClr>
            </a:outerShdw>
          </a:effectLst>
        </p:spPr>
        <p:txBody>
          <a:bodyPr wrap="square" lIns="889" tIns="889" rIns="889" bIns="889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numbers for this module.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 flipH="1">
            <a:off x="5215738" y="2869844"/>
            <a:ext cx="2876702" cy="188824"/>
          </a:xfrm>
          <a:prstGeom prst="line">
            <a:avLst/>
          </a:prstGeom>
          <a:noFill/>
          <a:ln w="12700">
            <a:solidFill>
              <a:srgbClr val="AEB4BC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151730" y="2994660"/>
            <a:ext cx="128016" cy="128016"/>
          </a:xfrm>
          <a:prstGeom prst="ellipse">
            <a:avLst/>
          </a:prstGeom>
          <a:solidFill>
            <a:srgbClr val="166534"/>
          </a:solidFill>
          <a:ln/>
        </p:spPr>
      </p:sp>
      <p:sp>
        <p:nvSpPr>
          <p:cNvPr id="15" name="Shape 11"/>
          <p:cNvSpPr/>
          <p:nvPr/>
        </p:nvSpPr>
        <p:spPr>
          <a:xfrm>
            <a:off x="5190134" y="3033065"/>
            <a:ext cx="51206" cy="5120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2"/>
          <p:cNvSpPr/>
          <p:nvPr/>
        </p:nvSpPr>
        <p:spPr>
          <a:xfrm>
            <a:off x="8092440" y="2624785"/>
            <a:ext cx="1911096" cy="490118"/>
          </a:xfrm>
          <a:prstGeom prst="roundRect">
            <a:avLst>
              <a:gd name="adj" fmla="val 11194"/>
            </a:avLst>
          </a:prstGeom>
          <a:solidFill>
            <a:srgbClr val="FFFFFF"/>
          </a:solidFill>
          <a:ln w="12700">
            <a:solidFill>
              <a:srgbClr val="E8EAE6"/>
            </a:solidFill>
          </a:ln>
          <a:effectLst>
            <a:outerShdw sx="100000" sy="100000" kx="0" ky="0" algn="bl" rotWithShape="0" blurRad="101600" dist="25400" dir="5400000">
              <a:srgbClr val="8A8F98">
                <a:alpha val="22000"/>
              </a:srgbClr>
            </a:outerShdw>
          </a:effectLst>
        </p:spPr>
        <p:txBody>
          <a:bodyPr wrap="square" lIns="889" tIns="889" rIns="889" bIns="889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legend and one chart at a glance, to quickly understand numbers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 flipH="1">
            <a:off x="5215738" y="3594964"/>
            <a:ext cx="2876702" cy="283921"/>
          </a:xfrm>
          <a:prstGeom prst="line">
            <a:avLst/>
          </a:prstGeom>
          <a:noFill/>
          <a:ln w="12700">
            <a:solidFill>
              <a:srgbClr val="AEB4BC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151730" y="3814877"/>
            <a:ext cx="128016" cy="128016"/>
          </a:xfrm>
          <a:prstGeom prst="ellipse">
            <a:avLst/>
          </a:prstGeom>
          <a:solidFill>
            <a:srgbClr val="166534"/>
          </a:solidFill>
          <a:ln/>
        </p:spPr>
      </p:sp>
      <p:sp>
        <p:nvSpPr>
          <p:cNvPr id="19" name="Shape 15"/>
          <p:cNvSpPr/>
          <p:nvPr/>
        </p:nvSpPr>
        <p:spPr>
          <a:xfrm>
            <a:off x="5190134" y="3853282"/>
            <a:ext cx="51206" cy="5120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6"/>
          <p:cNvSpPr/>
          <p:nvPr/>
        </p:nvSpPr>
        <p:spPr>
          <a:xfrm>
            <a:off x="8092440" y="3278581"/>
            <a:ext cx="2029968" cy="632765"/>
          </a:xfrm>
          <a:prstGeom prst="roundRect">
            <a:avLst>
              <a:gd name="adj" fmla="val 8671"/>
            </a:avLst>
          </a:prstGeom>
          <a:solidFill>
            <a:srgbClr val="FFFFFF"/>
          </a:solidFill>
          <a:ln w="12700">
            <a:solidFill>
              <a:srgbClr val="E8EAE6"/>
            </a:solidFill>
          </a:ln>
          <a:effectLst>
            <a:outerShdw sx="100000" sy="100000" kx="0" ky="0" algn="bl" rotWithShape="0" blurRad="101600" dist="25400" dir="5400000">
              <a:srgbClr val="8A8F98">
                <a:alpha val="22000"/>
              </a:srgbClr>
            </a:outerShdw>
          </a:effectLst>
        </p:spPr>
        <p:txBody>
          <a:bodyPr wrap="square" lIns="889" tIns="889" rIns="889" bIns="889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 a crop or a tree type. The map and every number update together.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 flipH="1" flipV="1">
            <a:off x="7141464" y="4199839"/>
            <a:ext cx="950976" cy="48920"/>
          </a:xfrm>
          <a:prstGeom prst="line">
            <a:avLst/>
          </a:prstGeom>
          <a:noFill/>
          <a:ln w="12700">
            <a:solidFill>
              <a:srgbClr val="AEB4BC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7077456" y="4135831"/>
            <a:ext cx="128016" cy="128016"/>
          </a:xfrm>
          <a:prstGeom prst="ellipse">
            <a:avLst/>
          </a:prstGeom>
          <a:solidFill>
            <a:srgbClr val="166534"/>
          </a:solidFill>
          <a:ln/>
        </p:spPr>
      </p:sp>
      <p:sp>
        <p:nvSpPr>
          <p:cNvPr id="23" name="Shape 19"/>
          <p:cNvSpPr/>
          <p:nvPr/>
        </p:nvSpPr>
        <p:spPr>
          <a:xfrm>
            <a:off x="7115861" y="4174236"/>
            <a:ext cx="51206" cy="5120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Text 20"/>
          <p:cNvSpPr/>
          <p:nvPr/>
        </p:nvSpPr>
        <p:spPr>
          <a:xfrm>
            <a:off x="8092440" y="4003700"/>
            <a:ext cx="1792224" cy="490118"/>
          </a:xfrm>
          <a:prstGeom prst="roundRect">
            <a:avLst>
              <a:gd name="adj" fmla="val 11194"/>
            </a:avLst>
          </a:prstGeom>
          <a:solidFill>
            <a:srgbClr val="FFFFFF"/>
          </a:solidFill>
          <a:ln w="12700">
            <a:solidFill>
              <a:srgbClr val="E8EAE6"/>
            </a:solidFill>
          </a:ln>
          <a:effectLst>
            <a:outerShdw sx="100000" sy="100000" kx="0" ky="0" algn="bl" rotWithShape="0" blurRad="101600" dist="25400" dir="5400000">
              <a:srgbClr val="8A8F98">
                <a:alpha val="22000"/>
              </a:srgbClr>
            </a:outerShdw>
          </a:effectLst>
        </p:spPr>
        <p:txBody>
          <a:bodyPr wrap="square" lIns="889" tIns="889" rIns="889" bIns="889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of farm boundaries + heatmap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 flipH="1" flipV="1">
            <a:off x="7521854" y="4746650"/>
            <a:ext cx="570586" cy="120244"/>
          </a:xfrm>
          <a:prstGeom prst="line">
            <a:avLst/>
          </a:prstGeom>
          <a:noFill/>
          <a:ln w="12700">
            <a:solidFill>
              <a:srgbClr val="AEB4BC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7457846" y="4682642"/>
            <a:ext cx="128016" cy="128016"/>
          </a:xfrm>
          <a:prstGeom prst="ellipse">
            <a:avLst/>
          </a:prstGeom>
          <a:solidFill>
            <a:srgbClr val="166534"/>
          </a:solidFill>
          <a:ln/>
        </p:spPr>
      </p:sp>
      <p:sp>
        <p:nvSpPr>
          <p:cNvPr id="27" name="Shape 23"/>
          <p:cNvSpPr/>
          <p:nvPr/>
        </p:nvSpPr>
        <p:spPr>
          <a:xfrm>
            <a:off x="7496251" y="4721047"/>
            <a:ext cx="51206" cy="5120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8" name="Text 24"/>
          <p:cNvSpPr/>
          <p:nvPr/>
        </p:nvSpPr>
        <p:spPr>
          <a:xfrm>
            <a:off x="8092440" y="4621835"/>
            <a:ext cx="1792224" cy="490118"/>
          </a:xfrm>
          <a:prstGeom prst="roundRect">
            <a:avLst>
              <a:gd name="adj" fmla="val 11194"/>
            </a:avLst>
          </a:prstGeom>
          <a:solidFill>
            <a:srgbClr val="FFFFFF"/>
          </a:solidFill>
          <a:ln w="12700">
            <a:solidFill>
              <a:srgbClr val="E8EAE6"/>
            </a:solidFill>
          </a:ln>
          <a:effectLst>
            <a:outerShdw sx="100000" sy="100000" kx="0" ky="0" algn="bl" rotWithShape="0" blurRad="101600" dist="25400" dir="5400000">
              <a:srgbClr val="8A8F98">
                <a:alpha val="22000"/>
              </a:srgbClr>
            </a:outerShdw>
          </a:effectLst>
        </p:spPr>
        <p:txBody>
          <a:bodyPr wrap="square" lIns="889" tIns="889" rIns="889" bIns="889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Export, customise columns, sort, reorder, etc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 flipH="1" flipV="1">
            <a:off x="7616952" y="5174590"/>
            <a:ext cx="475488" cy="334213"/>
          </a:xfrm>
          <a:prstGeom prst="line">
            <a:avLst/>
          </a:prstGeom>
          <a:noFill/>
          <a:ln w="12700">
            <a:solidFill>
              <a:srgbClr val="AEB4BC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7552944" y="5110582"/>
            <a:ext cx="128016" cy="128016"/>
          </a:xfrm>
          <a:prstGeom prst="ellipse">
            <a:avLst/>
          </a:prstGeom>
          <a:solidFill>
            <a:srgbClr val="166534"/>
          </a:solidFill>
          <a:ln/>
        </p:spPr>
      </p:sp>
      <p:sp>
        <p:nvSpPr>
          <p:cNvPr id="31" name="Shape 27"/>
          <p:cNvSpPr/>
          <p:nvPr/>
        </p:nvSpPr>
        <p:spPr>
          <a:xfrm>
            <a:off x="7591349" y="5148986"/>
            <a:ext cx="51206" cy="5120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2" name="Text 28"/>
          <p:cNvSpPr/>
          <p:nvPr/>
        </p:nvSpPr>
        <p:spPr>
          <a:xfrm>
            <a:off x="8092440" y="5329123"/>
            <a:ext cx="1911096" cy="359359"/>
          </a:xfrm>
          <a:prstGeom prst="roundRect">
            <a:avLst>
              <a:gd name="adj" fmla="val 15267"/>
            </a:avLst>
          </a:prstGeom>
          <a:solidFill>
            <a:srgbClr val="FFFFFF"/>
          </a:solidFill>
          <a:ln w="12700">
            <a:solidFill>
              <a:srgbClr val="E8EAE6"/>
            </a:solidFill>
          </a:ln>
          <a:effectLst>
            <a:outerShdw sx="100000" sy="100000" kx="0" ky="0" algn="bl" rotWithShape="0" blurRad="101600" dist="25400" dir="5400000">
              <a:srgbClr val="8A8F98">
                <a:alpha val="22000"/>
              </a:srgbClr>
            </a:outerShdw>
          </a:effectLst>
        </p:spPr>
        <p:txBody>
          <a:bodyPr wrap="square" lIns="889" tIns="889" rIns="889" bIns="889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with farms ranked worst first.</a:t>
            </a:r>
            <a:endParaRPr lang="en-US" sz="1050" dirty="0"/>
          </a:p>
        </p:txBody>
      </p:sp>
      <p:sp>
        <p:nvSpPr>
          <p:cNvPr id="33" name="Text 29"/>
          <p:cNvSpPr/>
          <p:nvPr/>
        </p:nvSpPr>
        <p:spPr>
          <a:xfrm>
            <a:off x="1143000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Diagrams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2b - Farm Analysis</a:t>
            </a:r>
            <a:endParaRPr lang="en-US" sz="1500" dirty="0"/>
          </a:p>
        </p:txBody>
      </p:sp>
      <p:pic>
        <p:nvPicPr>
          <p:cNvPr id="4" name="Image 0" descr="/home/user/adafsa-mockup/presentation/assets/diagrams/nav-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720023"/>
            <a:ext cx="1417320" cy="360083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82346" y="4338920"/>
            <a:ext cx="1275588" cy="246560"/>
          </a:xfrm>
          <a:prstGeom prst="roundRect">
            <a:avLst>
              <a:gd name="adj" fmla="val 44504"/>
            </a:avLst>
          </a:prstGeom>
          <a:ln w="19050">
            <a:solidFill>
              <a:srgbClr val="166534"/>
            </a:solidFill>
            <a:prstDash val="solid"/>
          </a:ln>
        </p:spPr>
      </p:sp>
      <p:pic>
        <p:nvPicPr>
          <p:cNvPr id="6" name="Image 1" descr="/home/user/adafsa-mockup/presentation/assets/diagrams/wireframe-far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840" y="1097280"/>
            <a:ext cx="9509760" cy="53492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 flipV="1">
            <a:off x="1772107" y="3343961"/>
            <a:ext cx="1755648" cy="1109095"/>
          </a:xfrm>
          <a:prstGeom prst="line">
            <a:avLst/>
          </a:prstGeom>
          <a:noFill/>
          <a:ln w="12700">
            <a:solidFill>
              <a:srgbClr val="AEB4BC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1721815" y="4402764"/>
            <a:ext cx="100584" cy="100584"/>
          </a:xfrm>
          <a:prstGeom prst="ellipse">
            <a:avLst/>
          </a:prstGeom>
          <a:solidFill>
            <a:srgbClr val="166534"/>
          </a:solidFill>
          <a:ln/>
        </p:spPr>
      </p:sp>
      <p:sp>
        <p:nvSpPr>
          <p:cNvPr id="9" name="Shape 5"/>
          <p:cNvSpPr/>
          <p:nvPr/>
        </p:nvSpPr>
        <p:spPr>
          <a:xfrm flipH="1">
            <a:off x="4740250" y="1724101"/>
            <a:ext cx="206654" cy="1453439"/>
          </a:xfrm>
          <a:prstGeom prst="line">
            <a:avLst/>
          </a:prstGeom>
          <a:noFill/>
          <a:ln w="12700">
            <a:solidFill>
              <a:srgbClr val="AEB4BC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676242" y="3113532"/>
            <a:ext cx="128016" cy="128016"/>
          </a:xfrm>
          <a:prstGeom prst="ellipse">
            <a:avLst/>
          </a:prstGeom>
          <a:solidFill>
            <a:srgbClr val="166534"/>
          </a:solidFill>
          <a:ln/>
        </p:spPr>
      </p:sp>
      <p:sp>
        <p:nvSpPr>
          <p:cNvPr id="11" name="Shape 7"/>
          <p:cNvSpPr/>
          <p:nvPr/>
        </p:nvSpPr>
        <p:spPr>
          <a:xfrm>
            <a:off x="4714646" y="3151937"/>
            <a:ext cx="51206" cy="5120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8"/>
          <p:cNvSpPr/>
          <p:nvPr/>
        </p:nvSpPr>
        <p:spPr>
          <a:xfrm>
            <a:off x="3813048" y="1364742"/>
            <a:ext cx="2267712" cy="359359"/>
          </a:xfrm>
          <a:prstGeom prst="roundRect">
            <a:avLst>
              <a:gd name="adj" fmla="val 15267"/>
            </a:avLst>
          </a:prstGeom>
          <a:solidFill>
            <a:srgbClr val="FFFFFF"/>
          </a:solidFill>
          <a:ln w="12700">
            <a:solidFill>
              <a:srgbClr val="E8EAE6"/>
            </a:solidFill>
          </a:ln>
          <a:effectLst>
            <a:outerShdw sx="100000" sy="100000" kx="0" ky="0" algn="bl" rotWithShape="0" blurRad="101600" dist="25400" dir="5400000">
              <a:srgbClr val="8A8F98">
                <a:alpha val="22000"/>
              </a:srgbClr>
            </a:outerShdw>
          </a:effectLst>
        </p:spPr>
        <p:txBody>
          <a:bodyPr wrap="square" lIns="889" tIns="889" rIns="889" bIns="889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farm, highlighted on the map.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 flipH="1">
            <a:off x="7926019" y="2412187"/>
            <a:ext cx="523037" cy="218542"/>
          </a:xfrm>
          <a:prstGeom prst="line">
            <a:avLst/>
          </a:prstGeom>
          <a:noFill/>
          <a:ln w="12700">
            <a:solidFill>
              <a:srgbClr val="AEB4BC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862011" y="2566721"/>
            <a:ext cx="128016" cy="128016"/>
          </a:xfrm>
          <a:prstGeom prst="ellipse">
            <a:avLst/>
          </a:prstGeom>
          <a:solidFill>
            <a:srgbClr val="166534"/>
          </a:solidFill>
          <a:ln/>
        </p:spPr>
      </p:sp>
      <p:sp>
        <p:nvSpPr>
          <p:cNvPr id="15" name="Shape 11"/>
          <p:cNvSpPr/>
          <p:nvPr/>
        </p:nvSpPr>
        <p:spPr>
          <a:xfrm>
            <a:off x="7900416" y="2605126"/>
            <a:ext cx="51206" cy="5120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2"/>
          <p:cNvSpPr/>
          <p:nvPr/>
        </p:nvSpPr>
        <p:spPr>
          <a:xfrm>
            <a:off x="8449056" y="2167128"/>
            <a:ext cx="2029968" cy="490118"/>
          </a:xfrm>
          <a:prstGeom prst="roundRect">
            <a:avLst>
              <a:gd name="adj" fmla="val 11194"/>
            </a:avLst>
          </a:prstGeom>
          <a:solidFill>
            <a:srgbClr val="FFFFFF"/>
          </a:solidFill>
          <a:ln w="12700">
            <a:solidFill>
              <a:srgbClr val="E8EAE6"/>
            </a:solidFill>
          </a:ln>
          <a:effectLst>
            <a:outerShdw sx="100000" sy="100000" kx="0" ky="0" algn="bl" rotWithShape="0" blurRad="101600" dist="25400" dir="5400000">
              <a:srgbClr val="8A8F98">
                <a:alpha val="22000"/>
              </a:srgbClr>
            </a:outerShdw>
          </a:effectLst>
        </p:spPr>
        <p:txBody>
          <a:bodyPr wrap="square" lIns="889" tIns="889" rIns="889" bIns="889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system's conclusion, in one sentence.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 flipH="1">
            <a:off x="7926019" y="2935224"/>
            <a:ext cx="523037" cy="801014"/>
          </a:xfrm>
          <a:prstGeom prst="line">
            <a:avLst/>
          </a:prstGeom>
          <a:noFill/>
          <a:ln w="12700">
            <a:solidFill>
              <a:srgbClr val="AEB4BC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862011" y="3672230"/>
            <a:ext cx="128016" cy="128016"/>
          </a:xfrm>
          <a:prstGeom prst="ellipse">
            <a:avLst/>
          </a:prstGeom>
          <a:solidFill>
            <a:srgbClr val="166534"/>
          </a:solidFill>
          <a:ln/>
        </p:spPr>
      </p:sp>
      <p:sp>
        <p:nvSpPr>
          <p:cNvPr id="19" name="Shape 15"/>
          <p:cNvSpPr/>
          <p:nvPr/>
        </p:nvSpPr>
        <p:spPr>
          <a:xfrm>
            <a:off x="7900416" y="3710635"/>
            <a:ext cx="51206" cy="5120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6"/>
          <p:cNvSpPr/>
          <p:nvPr/>
        </p:nvSpPr>
        <p:spPr>
          <a:xfrm>
            <a:off x="8449056" y="2690165"/>
            <a:ext cx="2029968" cy="490118"/>
          </a:xfrm>
          <a:prstGeom prst="roundRect">
            <a:avLst>
              <a:gd name="adj" fmla="val 11194"/>
            </a:avLst>
          </a:prstGeom>
          <a:solidFill>
            <a:srgbClr val="FFFFFF"/>
          </a:solidFill>
          <a:ln w="12700">
            <a:solidFill>
              <a:srgbClr val="E8EAE6"/>
            </a:solidFill>
          </a:ln>
          <a:effectLst>
            <a:outerShdw sx="100000" sy="100000" kx="0" ky="0" algn="bl" rotWithShape="0" blurRad="101600" dist="25400" dir="5400000">
              <a:srgbClr val="8A8F98">
                <a:alpha val="22000"/>
              </a:srgbClr>
            </a:outerShdw>
          </a:effectLst>
        </p:spPr>
        <p:txBody>
          <a:bodyPr wrap="square" lIns="889" tIns="889" rIns="889" bIns="889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module's reading for this one farm.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 flipH="1">
            <a:off x="7926019" y="3529584"/>
            <a:ext cx="523037" cy="1353769"/>
          </a:xfrm>
          <a:prstGeom prst="line">
            <a:avLst/>
          </a:prstGeom>
          <a:noFill/>
          <a:ln w="12700">
            <a:solidFill>
              <a:srgbClr val="AEB4BC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7862011" y="4819345"/>
            <a:ext cx="128016" cy="128016"/>
          </a:xfrm>
          <a:prstGeom prst="ellipse">
            <a:avLst/>
          </a:prstGeom>
          <a:solidFill>
            <a:srgbClr val="166534"/>
          </a:solidFill>
          <a:ln/>
        </p:spPr>
      </p:sp>
      <p:sp>
        <p:nvSpPr>
          <p:cNvPr id="23" name="Shape 19"/>
          <p:cNvSpPr/>
          <p:nvPr/>
        </p:nvSpPr>
        <p:spPr>
          <a:xfrm>
            <a:off x="7900416" y="4857750"/>
            <a:ext cx="51206" cy="5120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Text 20"/>
          <p:cNvSpPr/>
          <p:nvPr/>
        </p:nvSpPr>
        <p:spPr>
          <a:xfrm>
            <a:off x="8449056" y="3213202"/>
            <a:ext cx="2029968" cy="632765"/>
          </a:xfrm>
          <a:prstGeom prst="roundRect">
            <a:avLst>
              <a:gd name="adj" fmla="val 8671"/>
            </a:avLst>
          </a:prstGeom>
          <a:solidFill>
            <a:srgbClr val="FFFFFF"/>
          </a:solidFill>
          <a:ln w="12700">
            <a:solidFill>
              <a:srgbClr val="E8EAE6"/>
            </a:solidFill>
          </a:ln>
          <a:effectLst>
            <a:outerShdw sx="100000" sy="100000" kx="0" ky="0" algn="bl" rotWithShape="0" blurRad="101600" dist="25400" dir="5400000">
              <a:srgbClr val="8A8F98">
                <a:alpha val="22000"/>
              </a:srgbClr>
            </a:outerShdw>
          </a:effectLst>
        </p:spPr>
        <p:txBody>
          <a:bodyPr wrap="square" lIns="889" tIns="889" rIns="889" bIns="889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ends in an action: export, or open the full analysis.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1143000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ADAFSA Platform - UX / UI Review</dc:title>
  <dc:subject>PptxGenJS Presentation</dc:subject>
  <dc:creator>Wafra</dc:creator>
  <cp:lastModifiedBy>Wafra</cp:lastModifiedBy>
  <cp:revision>1</cp:revision>
  <dcterms:created xsi:type="dcterms:W3CDTF">2026-09-04T21:23:23Z</dcterms:created>
  <dcterms:modified xsi:type="dcterms:W3CDTF">2026-09-04T21:23:23Z</dcterms:modified>
</cp:coreProperties>
</file>